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8"/>
  </p:notesMasterIdLst>
  <p:sldIdLst>
    <p:sldId id="256" r:id="rId2"/>
    <p:sldId id="257" r:id="rId3"/>
    <p:sldId id="271" r:id="rId4"/>
    <p:sldId id="272" r:id="rId5"/>
    <p:sldId id="258" r:id="rId6"/>
    <p:sldId id="267" r:id="rId7"/>
    <p:sldId id="259" r:id="rId8"/>
    <p:sldId id="260" r:id="rId9"/>
    <p:sldId id="261" r:id="rId10"/>
    <p:sldId id="262" r:id="rId11"/>
    <p:sldId id="263" r:id="rId12"/>
    <p:sldId id="264" r:id="rId13"/>
    <p:sldId id="265" r:id="rId14"/>
    <p:sldId id="268" r:id="rId15"/>
    <p:sldId id="269" r:id="rId16"/>
    <p:sldId id="266" r:id="rId17"/>
  </p:sldIdLst>
  <p:sldSz cx="9144000" cy="5143500" type="screen16x9"/>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1A2E4A"/>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0AE99200-FDE9-D6A4-3F3B-9281B93A5432}" v="332" dt="2026-07-05T16:06:13.474"/>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notesMaster" Target="notesMasters/notesMaster1.xml"/><Relationship Id="rId3" Type="http://schemas.openxmlformats.org/officeDocument/2006/relationships/slide" Target="slides/slide2.xml"/><Relationship Id="rId21" Type="http://schemas.openxmlformats.org/officeDocument/2006/relationships/theme" Target="theme/theme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23" Type="http://schemas.microsoft.com/office/2015/10/relationships/revisionInfo" Target="revisionInfo.xml"/><Relationship Id="rId10" Type="http://schemas.openxmlformats.org/officeDocument/2006/relationships/slide" Target="slides/slide9.xml"/><Relationship Id="rId19"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22885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2913063" y="0"/>
            <a:ext cx="2228850" cy="458788"/>
          </a:xfrm>
          <a:prstGeom prst="rect">
            <a:avLst/>
          </a:prstGeom>
        </p:spPr>
        <p:txBody>
          <a:bodyPr vert="horz" lIns="91440" tIns="45720" rIns="91440" bIns="45720" rtlCol="0"/>
          <a:lstStyle>
            <a:lvl1pPr algn="r">
              <a:defRPr sz="1200"/>
            </a:lvl1pPr>
          </a:lstStyle>
          <a:p>
            <a:fld id="{2A99C68C-E8E6-4AA6-8A14-5CD1EAB28DFF}" type="datetimeFigureOut">
              <a:t>7/5/2026</a:t>
            </a:fld>
            <a:endParaRPr lang="en-US"/>
          </a:p>
        </p:txBody>
      </p:sp>
      <p:sp>
        <p:nvSpPr>
          <p:cNvPr id="4" name="Slide Image Placeholder 3"/>
          <p:cNvSpPr>
            <a:spLocks noGrp="1" noRot="1" noChangeAspect="1"/>
          </p:cNvSpPr>
          <p:nvPr>
            <p:ph type="sldImg" idx="2"/>
          </p:nvPr>
        </p:nvSpPr>
        <p:spPr>
          <a:xfrm>
            <a:off x="-17145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514350" y="4400550"/>
            <a:ext cx="41148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22885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2913063" y="8685213"/>
            <a:ext cx="2228850" cy="458787"/>
          </a:xfrm>
          <a:prstGeom prst="rect">
            <a:avLst/>
          </a:prstGeom>
        </p:spPr>
        <p:txBody>
          <a:bodyPr vert="horz" lIns="91440" tIns="45720" rIns="91440" bIns="45720" rtlCol="0" anchor="b"/>
          <a:lstStyle>
            <a:lvl1pPr algn="r">
              <a:defRPr sz="1200"/>
            </a:lvl1pPr>
          </a:lstStyle>
          <a:p>
            <a:fld id="{FDB6EC80-B32D-4D77-9DAD-B1246C1561A0}" type="slidenum">
              <a:t>‹#›</a:t>
            </a:fld>
            <a:endParaRPr lang="en-US"/>
          </a:p>
        </p:txBody>
      </p:sp>
    </p:spTree>
    <p:extLst>
      <p:ext uri="{BB962C8B-B14F-4D97-AF65-F5344CB8AC3E}">
        <p14:creationId xmlns:p14="http://schemas.microsoft.com/office/powerpoint/2010/main" val="428638265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1.xml"/><Relationship Id="rId6" Type="http://schemas.openxmlformats.org/officeDocument/2006/relationships/image" Target="../media/image5.png"/><Relationship Id="rId5" Type="http://schemas.openxmlformats.org/officeDocument/2006/relationships/image" Target="../media/image4.png"/><Relationship Id="rId4" Type="http://schemas.openxmlformats.org/officeDocument/2006/relationships/image" Target="../media/image3.png"/></Relationships>
</file>

<file path=ppt/slides/_rels/slide4.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6.png"/><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7.xml"/><Relationship Id="rId1" Type="http://schemas.openxmlformats.org/officeDocument/2006/relationships/slideLayout" Target="../slideLayouts/slideLayout1.xml"/><Relationship Id="rId5" Type="http://schemas.openxmlformats.org/officeDocument/2006/relationships/image" Target="../media/image12.png"/><Relationship Id="rId4" Type="http://schemas.openxmlformats.org/officeDocument/2006/relationships/image" Target="../media/image11.png"/></Relationships>
</file>

<file path=ppt/slides/_rels/slide11.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8.xml"/><Relationship Id="rId1" Type="http://schemas.openxmlformats.org/officeDocument/2006/relationships/slideLayout" Target="../slideLayouts/slideLayout1.xml"/><Relationship Id="rId4" Type="http://schemas.openxmlformats.org/officeDocument/2006/relationships/image" Target="../media/image14.png"/></Relationships>
</file>

<file path=ppt/slides/_rels/slide12.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141514"/>
            <a:ext cx="9144000" cy="1097280"/>
          </a:xfrm>
          <a:prstGeom prst="rect">
            <a:avLst/>
          </a:prstGeom>
          <a:solidFill>
            <a:srgbClr val="1A2E4A"/>
          </a:solidFill>
          <a:ln w="12700">
            <a:solidFill>
              <a:srgbClr val="1A2E4A"/>
            </a:solidFill>
            <a:prstDash val="solid"/>
          </a:ln>
        </p:spPr>
      </p:sp>
      <p:sp>
        <p:nvSpPr>
          <p:cNvPr id="3" name="Text 1"/>
          <p:cNvSpPr/>
          <p:nvPr/>
        </p:nvSpPr>
        <p:spPr>
          <a:xfrm>
            <a:off x="212271" y="1089"/>
            <a:ext cx="8719457" cy="822960"/>
          </a:xfrm>
          <a:prstGeom prst="rect">
            <a:avLst/>
          </a:prstGeom>
          <a:noFill/>
          <a:ln/>
        </p:spPr>
        <p:txBody>
          <a:bodyPr wrap="square" lIns="0" tIns="0" rIns="0" bIns="0" rtlCol="0" anchor="ctr"/>
          <a:lstStyle/>
          <a:p>
            <a:pPr algn="ctr"/>
            <a:r>
              <a:rPr lang="en-US" sz="3600" b="1" dirty="0">
                <a:solidFill>
                  <a:srgbClr val="FFFFFF"/>
                </a:solidFill>
                <a:latin typeface="Cambria"/>
                <a:ea typeface="Cambria"/>
              </a:rPr>
              <a:t>Proposed Methodology: KAN-</a:t>
            </a:r>
            <a:r>
              <a:rPr lang="en-US" sz="3600" b="1" dirty="0" err="1">
                <a:solidFill>
                  <a:srgbClr val="FFFFFF"/>
                </a:solidFill>
                <a:latin typeface="Cambria"/>
                <a:ea typeface="Cambria"/>
              </a:rPr>
              <a:t>DiffCausal</a:t>
            </a:r>
            <a:endParaRPr lang="en-US" sz="3600" dirty="0" err="1"/>
          </a:p>
        </p:txBody>
      </p:sp>
      <p:sp>
        <p:nvSpPr>
          <p:cNvPr id="4" name="Text 2"/>
          <p:cNvSpPr/>
          <p:nvPr/>
        </p:nvSpPr>
        <p:spPr>
          <a:xfrm>
            <a:off x="731520" y="1371600"/>
            <a:ext cx="7680960" cy="1097280"/>
          </a:xfrm>
          <a:prstGeom prst="rect">
            <a:avLst/>
          </a:prstGeom>
          <a:noFill/>
          <a:ln/>
        </p:spPr>
        <p:txBody>
          <a:bodyPr wrap="square" lIns="91440" tIns="45720" rIns="91440" bIns="45720" rtlCol="0" anchor="ctr"/>
          <a:lstStyle/>
          <a:p>
            <a:pPr marL="0" indent="0" algn="ctr">
              <a:buNone/>
            </a:pPr>
            <a:r>
              <a:rPr lang="en-US" sz="2800" dirty="0">
                <a:solidFill>
                  <a:srgbClr val="1A2E4A"/>
                </a:solidFill>
                <a:latin typeface="Cambria"/>
                <a:ea typeface="Cambria"/>
                <a:cs typeface="Cambria" pitchFamily="34" charset="-120"/>
              </a:rPr>
              <a:t>KAN-Based Diffusion with Causal Discovery</a:t>
            </a:r>
            <a:endParaRPr lang="en-US" sz="2800">
              <a:latin typeface="Cambria"/>
              <a:ea typeface="Cambria"/>
              <a:cs typeface="Calibri"/>
            </a:endParaRPr>
          </a:p>
          <a:p>
            <a:pPr marL="0" indent="0" algn="ctr">
              <a:buNone/>
            </a:pPr>
            <a:r>
              <a:rPr lang="en-US" sz="2800" dirty="0">
                <a:solidFill>
                  <a:srgbClr val="1A2E4A"/>
                </a:solidFill>
                <a:latin typeface="Cambria"/>
                <a:ea typeface="Cambria"/>
                <a:cs typeface="Cambria" pitchFamily="34" charset="-120"/>
              </a:rPr>
              <a:t>for Explainable Hyperspectral Image Super-Resolution</a:t>
            </a:r>
            <a:endParaRPr lang="en-US" sz="2800">
              <a:latin typeface="Cambria"/>
              <a:ea typeface="Cambria"/>
              <a:cs typeface="Calibri"/>
            </a:endParaRPr>
          </a:p>
        </p:txBody>
      </p:sp>
      <p:sp>
        <p:nvSpPr>
          <p:cNvPr id="5" name="Shape 3"/>
          <p:cNvSpPr/>
          <p:nvPr/>
        </p:nvSpPr>
        <p:spPr>
          <a:xfrm>
            <a:off x="733697" y="2754086"/>
            <a:ext cx="1920240" cy="822960"/>
          </a:xfrm>
          <a:prstGeom prst="roundRect">
            <a:avLst>
              <a:gd name="adj" fmla="val 8889"/>
            </a:avLst>
          </a:prstGeom>
          <a:solidFill>
            <a:srgbClr val="EFF6FF"/>
          </a:solidFill>
          <a:ln w="12700">
            <a:solidFill>
              <a:srgbClr val="1A2E4A"/>
            </a:solidFill>
            <a:prstDash val="solid"/>
          </a:ln>
        </p:spPr>
      </p:sp>
      <p:sp>
        <p:nvSpPr>
          <p:cNvPr id="6" name="Text 4"/>
          <p:cNvSpPr/>
          <p:nvPr/>
        </p:nvSpPr>
        <p:spPr>
          <a:xfrm>
            <a:off x="779417" y="2756481"/>
            <a:ext cx="1828800" cy="685800"/>
          </a:xfrm>
          <a:prstGeom prst="rect">
            <a:avLst/>
          </a:prstGeom>
          <a:noFill/>
          <a:ln/>
        </p:spPr>
        <p:txBody>
          <a:bodyPr wrap="square" lIns="91440" tIns="45720" rIns="91440" bIns="45720" rtlCol="0" anchor="ctr"/>
          <a:lstStyle/>
          <a:p>
            <a:pPr marL="0" indent="0" algn="ctr">
              <a:buNone/>
            </a:pPr>
            <a:r>
              <a:rPr lang="en-US" sz="1400" dirty="0">
                <a:solidFill>
                  <a:srgbClr val="002060"/>
                </a:solidFill>
                <a:latin typeface="Calibri"/>
                <a:ea typeface="Calibri"/>
                <a:cs typeface="Calibri"/>
              </a:rPr>
              <a:t>Dataset</a:t>
            </a:r>
            <a:r>
              <a:rPr lang="en-US" sz="1400" dirty="0">
                <a:solidFill>
                  <a:srgbClr val="6B7280"/>
                </a:solidFill>
                <a:latin typeface="Calibri"/>
                <a:ea typeface="Calibri"/>
                <a:cs typeface="Calibri"/>
              </a:rPr>
              <a:t>
</a:t>
            </a:r>
            <a:r>
              <a:rPr lang="en-US" sz="1400" b="1" dirty="0">
                <a:solidFill>
                  <a:srgbClr val="1A2E4A"/>
                </a:solidFill>
                <a:latin typeface="Calibri"/>
                <a:ea typeface="Calibri"/>
                <a:cs typeface="Calibri"/>
              </a:rPr>
              <a:t>Pavia University</a:t>
            </a:r>
            <a:endParaRPr lang="en-US" sz="1400">
              <a:latin typeface="Calibri"/>
              <a:ea typeface="Calibri"/>
              <a:cs typeface="Calibri"/>
            </a:endParaRPr>
          </a:p>
        </p:txBody>
      </p:sp>
      <p:sp>
        <p:nvSpPr>
          <p:cNvPr id="7" name="Shape 5"/>
          <p:cNvSpPr/>
          <p:nvPr/>
        </p:nvSpPr>
        <p:spPr>
          <a:xfrm>
            <a:off x="3484517" y="2743200"/>
            <a:ext cx="1920240" cy="833846"/>
          </a:xfrm>
          <a:prstGeom prst="roundRect">
            <a:avLst>
              <a:gd name="adj" fmla="val 8889"/>
            </a:avLst>
          </a:prstGeom>
          <a:solidFill>
            <a:srgbClr val="EFF6FF"/>
          </a:solidFill>
          <a:ln w="12700">
            <a:solidFill>
              <a:srgbClr val="1A2E4A"/>
            </a:solidFill>
            <a:prstDash val="solid"/>
          </a:ln>
        </p:spPr>
      </p:sp>
      <p:sp>
        <p:nvSpPr>
          <p:cNvPr id="8" name="Text 6"/>
          <p:cNvSpPr/>
          <p:nvPr/>
        </p:nvSpPr>
        <p:spPr>
          <a:xfrm>
            <a:off x="3486694" y="2810909"/>
            <a:ext cx="1828800" cy="685800"/>
          </a:xfrm>
          <a:prstGeom prst="rect">
            <a:avLst/>
          </a:prstGeom>
          <a:noFill/>
          <a:ln/>
        </p:spPr>
        <p:txBody>
          <a:bodyPr wrap="square" lIns="91440" tIns="45720" rIns="91440" bIns="45720" rtlCol="0" anchor="ctr"/>
          <a:lstStyle/>
          <a:p>
            <a:pPr marL="0" indent="0" algn="ctr">
              <a:buNone/>
            </a:pPr>
            <a:r>
              <a:rPr lang="en-US" sz="1400" dirty="0">
                <a:solidFill>
                  <a:srgbClr val="002060"/>
                </a:solidFill>
                <a:latin typeface="Calibri"/>
                <a:ea typeface="Calibri"/>
                <a:cs typeface="Calibri"/>
              </a:rPr>
              <a:t>Scale Factor</a:t>
            </a:r>
            <a:r>
              <a:rPr lang="en-US" sz="1400" dirty="0">
                <a:solidFill>
                  <a:srgbClr val="6B7280"/>
                </a:solidFill>
                <a:latin typeface="Calibri"/>
                <a:ea typeface="Calibri"/>
                <a:cs typeface="Calibri"/>
              </a:rPr>
              <a:t>
</a:t>
            </a:r>
            <a:r>
              <a:rPr lang="en-US" sz="1400" b="1" dirty="0">
                <a:solidFill>
                  <a:srgbClr val="1A2E4A"/>
                </a:solidFill>
                <a:latin typeface="Calibri"/>
                <a:ea typeface="Calibri"/>
                <a:cs typeface="Calibri"/>
              </a:rPr>
              <a:t>×2 Super-Resolution</a:t>
            </a:r>
            <a:endParaRPr lang="en-US" sz="1400">
              <a:latin typeface="Calibri"/>
              <a:ea typeface="Calibri"/>
              <a:cs typeface="Calibri"/>
            </a:endParaRPr>
          </a:p>
        </p:txBody>
      </p:sp>
      <p:sp>
        <p:nvSpPr>
          <p:cNvPr id="9" name="Shape 7"/>
          <p:cNvSpPr/>
          <p:nvPr/>
        </p:nvSpPr>
        <p:spPr>
          <a:xfrm>
            <a:off x="6148251" y="2743200"/>
            <a:ext cx="1920240" cy="822960"/>
          </a:xfrm>
          <a:prstGeom prst="roundRect">
            <a:avLst>
              <a:gd name="adj" fmla="val 8889"/>
            </a:avLst>
          </a:prstGeom>
          <a:solidFill>
            <a:srgbClr val="EFF6FF"/>
          </a:solidFill>
          <a:ln w="12700">
            <a:solidFill>
              <a:srgbClr val="1A2E4A"/>
            </a:solidFill>
            <a:prstDash val="solid"/>
          </a:ln>
        </p:spPr>
      </p:sp>
      <p:sp>
        <p:nvSpPr>
          <p:cNvPr id="10" name="Text 8"/>
          <p:cNvSpPr/>
          <p:nvPr/>
        </p:nvSpPr>
        <p:spPr>
          <a:xfrm>
            <a:off x="6150429" y="2821795"/>
            <a:ext cx="1828800" cy="685800"/>
          </a:xfrm>
          <a:prstGeom prst="rect">
            <a:avLst/>
          </a:prstGeom>
          <a:noFill/>
          <a:ln/>
        </p:spPr>
        <p:txBody>
          <a:bodyPr wrap="square" lIns="91440" tIns="45720" rIns="91440" bIns="45720" rtlCol="0" anchor="ctr"/>
          <a:lstStyle/>
          <a:p>
            <a:pPr marL="0" indent="0" algn="ctr">
              <a:buNone/>
            </a:pPr>
            <a:r>
              <a:rPr lang="en-US" sz="1400">
                <a:solidFill>
                  <a:srgbClr val="002060"/>
                </a:solidFill>
                <a:latin typeface="Calibri"/>
                <a:ea typeface="Calibri"/>
                <a:cs typeface="Calibri"/>
              </a:rPr>
              <a:t>Spectral Bands</a:t>
            </a:r>
            <a:r>
              <a:rPr lang="en-US" sz="900" dirty="0">
                <a:solidFill>
                  <a:srgbClr val="6B7280"/>
                </a:solidFill>
                <a:latin typeface="Calibri"/>
                <a:ea typeface="Calibri"/>
                <a:cs typeface="Calibri"/>
              </a:rPr>
              <a:t>
</a:t>
            </a:r>
            <a:r>
              <a:rPr lang="en-US" sz="1400" b="1">
                <a:solidFill>
                  <a:srgbClr val="1A2E4A"/>
                </a:solidFill>
                <a:latin typeface="Calibri"/>
                <a:ea typeface="Calibri"/>
                <a:cs typeface="Calibri"/>
              </a:rPr>
              <a:t>103 Bands</a:t>
            </a:r>
            <a:endParaRPr lang="en-US" sz="900">
              <a:latin typeface="Calibri"/>
              <a:ea typeface="Calibri"/>
              <a:cs typeface="Calibri"/>
            </a:endParaRPr>
          </a:p>
        </p:txBody>
      </p:sp>
      <p:sp>
        <p:nvSpPr>
          <p:cNvPr id="13" name="Text 11"/>
          <p:cNvSpPr/>
          <p:nvPr/>
        </p:nvSpPr>
        <p:spPr>
          <a:xfrm>
            <a:off x="457200" y="3749040"/>
            <a:ext cx="8229600" cy="365760"/>
          </a:xfrm>
          <a:prstGeom prst="rect">
            <a:avLst/>
          </a:prstGeom>
          <a:noFill/>
          <a:ln/>
        </p:spPr>
        <p:txBody>
          <a:bodyPr wrap="square" lIns="91440" tIns="45720" rIns="91440" bIns="45720" rtlCol="0" anchor="ctr"/>
          <a:lstStyle/>
          <a:p>
            <a:pPr marL="0" indent="0" algn="ctr">
              <a:buNone/>
            </a:pPr>
            <a:r>
              <a:rPr lang="en-US" sz="1400" i="1" dirty="0">
                <a:solidFill>
                  <a:schemeClr val="tx2">
                    <a:lumMod val="76000"/>
                  </a:schemeClr>
                </a:solidFill>
                <a:latin typeface="Calibri"/>
                <a:ea typeface="Calibri"/>
                <a:cs typeface="Calibri"/>
              </a:rPr>
              <a:t>Built on </a:t>
            </a:r>
            <a:r>
              <a:rPr lang="en-US" sz="1400" i="1" dirty="0" err="1">
                <a:solidFill>
                  <a:schemeClr val="tx2">
                    <a:lumMod val="76000"/>
                  </a:schemeClr>
                </a:solidFill>
                <a:latin typeface="Calibri"/>
                <a:ea typeface="Calibri"/>
                <a:cs typeface="Calibri"/>
              </a:rPr>
              <a:t>KAEXNet</a:t>
            </a:r>
            <a:r>
              <a:rPr lang="en-US" sz="1400" i="1" dirty="0">
                <a:solidFill>
                  <a:schemeClr val="tx2">
                    <a:lumMod val="76000"/>
                  </a:schemeClr>
                </a:solidFill>
                <a:latin typeface="Calibri"/>
                <a:ea typeface="Calibri"/>
                <a:cs typeface="Calibri"/>
              </a:rPr>
              <a:t> &amp; KAN-GAN — Extended with Diffusion, Causality &amp; Adaptive Rank</a:t>
            </a:r>
            <a:endParaRPr lang="en-US" sz="1400">
              <a:solidFill>
                <a:schemeClr val="tx2">
                  <a:lumMod val="76000"/>
                </a:schemeClr>
              </a:solidFill>
              <a:latin typeface="Calibri"/>
              <a:ea typeface="Calibri"/>
              <a:cs typeface="Calibri"/>
            </a:endParaRPr>
          </a:p>
        </p:txBody>
      </p:sp>
      <p:sp>
        <p:nvSpPr>
          <p:cNvPr id="15" name="Text 13"/>
          <p:cNvSpPr/>
          <p:nvPr/>
        </p:nvSpPr>
        <p:spPr>
          <a:xfrm>
            <a:off x="5758543" y="4295721"/>
            <a:ext cx="3657600" cy="658368"/>
          </a:xfrm>
          <a:prstGeom prst="rect">
            <a:avLst/>
          </a:prstGeom>
          <a:noFill/>
          <a:ln/>
        </p:spPr>
        <p:txBody>
          <a:bodyPr wrap="square" lIns="91440" tIns="45720" rIns="91440" bIns="45720" rtlCol="0" anchor="ctr"/>
          <a:lstStyle/>
          <a:p>
            <a:pPr algn="ctr"/>
            <a:r>
              <a:rPr lang="en-US" sz="1600" b="1" dirty="0">
                <a:solidFill>
                  <a:schemeClr val="tx2"/>
                </a:solidFill>
                <a:latin typeface="Calibri"/>
                <a:ea typeface="Calibri"/>
                <a:cs typeface="Calibri"/>
              </a:rPr>
              <a:t>P. Venkata Sriharika
</a:t>
            </a:r>
            <a:r>
              <a:rPr lang="en-US" sz="1100" dirty="0">
                <a:solidFill>
                  <a:schemeClr val="tx2"/>
                </a:solidFill>
                <a:latin typeface="Calibri"/>
                <a:ea typeface="Calibri"/>
                <a:cs typeface="Calibri"/>
              </a:rPr>
              <a:t>Research Intern @ IIIT </a:t>
            </a:r>
            <a:r>
              <a:rPr lang="en-US" sz="1100" dirty="0" err="1">
                <a:solidFill>
                  <a:schemeClr val="tx2"/>
                </a:solidFill>
                <a:latin typeface="Calibri"/>
                <a:ea typeface="Calibri"/>
                <a:cs typeface="Calibri"/>
              </a:rPr>
              <a:t>Sricity</a:t>
            </a:r>
            <a:endParaRPr lang="en-US" sz="1050" dirty="0">
              <a:solidFill>
                <a:schemeClr val="tx2"/>
              </a:solidFill>
              <a:latin typeface="Calibri"/>
              <a:ea typeface="Calibri"/>
              <a:cs typeface="Calibri"/>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9144000" cy="594360"/>
          </a:xfrm>
          <a:prstGeom prst="rect">
            <a:avLst/>
          </a:prstGeom>
          <a:solidFill>
            <a:srgbClr val="1A2E4A"/>
          </a:solidFill>
          <a:ln w="12700">
            <a:solidFill>
              <a:srgbClr val="1A2E4A"/>
            </a:solidFill>
            <a:prstDash val="solid"/>
          </a:ln>
        </p:spPr>
      </p:sp>
      <p:sp>
        <p:nvSpPr>
          <p:cNvPr id="3" name="Text 1"/>
          <p:cNvSpPr/>
          <p:nvPr/>
        </p:nvSpPr>
        <p:spPr>
          <a:xfrm>
            <a:off x="457200" y="45720"/>
            <a:ext cx="8229600" cy="502920"/>
          </a:xfrm>
          <a:prstGeom prst="rect">
            <a:avLst/>
          </a:prstGeom>
          <a:noFill/>
          <a:ln/>
        </p:spPr>
        <p:txBody>
          <a:bodyPr wrap="square" lIns="0" tIns="0" rIns="0" bIns="0" rtlCol="0" anchor="ctr"/>
          <a:lstStyle/>
          <a:p>
            <a:pPr marL="0" indent="0" algn="l">
              <a:buNone/>
            </a:pPr>
            <a:r>
              <a:rPr lang="en-US" sz="2600" b="1" dirty="0">
                <a:solidFill>
                  <a:srgbClr val="FFFFFF"/>
                </a:solidFill>
                <a:latin typeface="Cambria" pitchFamily="34" charset="0"/>
                <a:ea typeface="Cambria" pitchFamily="34" charset="-122"/>
                <a:cs typeface="Cambria" pitchFamily="34" charset="-120"/>
              </a:rPr>
              <a:t>Introduction</a:t>
            </a:r>
            <a:endParaRPr lang="en-US" sz="2600" dirty="0"/>
          </a:p>
        </p:txBody>
      </p:sp>
      <p:sp>
        <p:nvSpPr>
          <p:cNvPr id="4" name="Text 2"/>
          <p:cNvSpPr/>
          <p:nvPr/>
        </p:nvSpPr>
        <p:spPr>
          <a:xfrm>
            <a:off x="318951" y="838200"/>
            <a:ext cx="8321040" cy="640080"/>
          </a:xfrm>
          <a:prstGeom prst="rect">
            <a:avLst/>
          </a:prstGeom>
          <a:noFill/>
          <a:ln/>
        </p:spPr>
        <p:txBody>
          <a:bodyPr wrap="square" lIns="91440" tIns="45720" rIns="91440" bIns="45720" rtlCol="0" anchor="ctr"/>
          <a:lstStyle/>
          <a:p>
            <a:r>
              <a:rPr lang="en-US" sz="1200">
                <a:solidFill>
                  <a:srgbClr val="111111"/>
                </a:solidFill>
                <a:latin typeface="Calibri"/>
                <a:ea typeface="Calibri"/>
                <a:cs typeface="Calibri"/>
              </a:rPr>
              <a:t>Hyperspectral Image (HSI) Super-Resolution is the process of reconstructing a high-resolution (HR) hyperspectral image from a low-resolution (LR) </a:t>
            </a:r>
            <a:r>
              <a:rPr lang="en-US" sz="1200" dirty="0">
                <a:solidFill>
                  <a:srgbClr val="111111"/>
                </a:solidFill>
                <a:latin typeface="Calibri"/>
                <a:ea typeface="Calibri"/>
                <a:cs typeface="Calibri"/>
              </a:rPr>
              <a:t>observation — recovering both fine spatial detail and faithful spectral signatures across hundreds of bands. This is critical in remote sensing for land-cover classification, urban mapping, and material identification.</a:t>
            </a:r>
            <a:endParaRPr lang="en-US" sz="1400" dirty="0">
              <a:latin typeface="Calibri"/>
              <a:ea typeface="Calibri"/>
              <a:cs typeface="Calibri"/>
            </a:endParaRPr>
          </a:p>
        </p:txBody>
      </p:sp>
      <p:sp>
        <p:nvSpPr>
          <p:cNvPr id="5" name="Text 3"/>
          <p:cNvSpPr/>
          <p:nvPr/>
        </p:nvSpPr>
        <p:spPr>
          <a:xfrm>
            <a:off x="318951" y="1652669"/>
            <a:ext cx="8321040" cy="320040"/>
          </a:xfrm>
          <a:prstGeom prst="rect">
            <a:avLst/>
          </a:prstGeom>
          <a:noFill/>
          <a:ln/>
        </p:spPr>
        <p:txBody>
          <a:bodyPr wrap="square" lIns="91440" tIns="45720" rIns="91440" bIns="45720" rtlCol="0" anchor="ctr"/>
          <a:lstStyle/>
          <a:p>
            <a:pPr marL="114300" indent="-114300">
              <a:buFont typeface="Arial"/>
              <a:buChar char="•"/>
            </a:pPr>
            <a:r>
              <a:rPr lang="en-US" sz="1400" b="1" dirty="0">
                <a:solidFill>
                  <a:srgbClr val="1A2E4A"/>
                </a:solidFill>
                <a:latin typeface="Cambria"/>
                <a:ea typeface="Cambria"/>
                <a:cs typeface="Cambria" pitchFamily="34" charset="-120"/>
              </a:rPr>
              <a:t>Challenges Identified in Prior Implementations (</a:t>
            </a:r>
            <a:r>
              <a:rPr lang="en-US" sz="1400" b="1" dirty="0" err="1">
                <a:solidFill>
                  <a:srgbClr val="1A2E4A"/>
                </a:solidFill>
                <a:latin typeface="Cambria"/>
                <a:ea typeface="Cambria"/>
                <a:cs typeface="Cambria" pitchFamily="34" charset="-120"/>
              </a:rPr>
              <a:t>KAEXNet</a:t>
            </a:r>
            <a:r>
              <a:rPr lang="en-US" sz="1400" b="1" dirty="0">
                <a:solidFill>
                  <a:srgbClr val="1A2E4A"/>
                </a:solidFill>
                <a:latin typeface="Cambria"/>
                <a:ea typeface="Cambria"/>
                <a:cs typeface="Cambria" pitchFamily="34" charset="-120"/>
              </a:rPr>
              <a:t> &amp; KAN-GAN / FBD-KAN)</a:t>
            </a:r>
            <a:endParaRPr lang="en-US" sz="1400" b="1">
              <a:latin typeface="Cambria"/>
              <a:ea typeface="Cambria"/>
            </a:endParaRPr>
          </a:p>
        </p:txBody>
      </p:sp>
      <p:sp>
        <p:nvSpPr>
          <p:cNvPr id="6" name="Shape 4"/>
          <p:cNvSpPr/>
          <p:nvPr/>
        </p:nvSpPr>
        <p:spPr>
          <a:xfrm>
            <a:off x="385352" y="2074818"/>
            <a:ext cx="4014654" cy="1232262"/>
          </a:xfrm>
          <a:prstGeom prst="roundRect">
            <a:avLst>
              <a:gd name="adj" fmla="val 6667"/>
            </a:avLst>
          </a:prstGeom>
          <a:solidFill>
            <a:srgbClr val="FFFFFF"/>
          </a:solidFill>
          <a:ln w="19050">
            <a:solidFill>
              <a:srgbClr val="DC2626"/>
            </a:solidFill>
            <a:prstDash val="solid"/>
          </a:ln>
          <a:effectLst>
            <a:outerShdw blurRad="101600" dist="25400" dir="2700000" algn="bl" rotWithShape="0">
              <a:srgbClr val="000000">
                <a:alpha val="10000"/>
              </a:srgbClr>
            </a:outerShdw>
          </a:effectLst>
        </p:spPr>
      </p:sp>
      <p:sp>
        <p:nvSpPr>
          <p:cNvPr id="8" name="Text 6"/>
          <p:cNvSpPr/>
          <p:nvPr/>
        </p:nvSpPr>
        <p:spPr>
          <a:xfrm>
            <a:off x="1112303" y="2073510"/>
            <a:ext cx="3593592" cy="256032"/>
          </a:xfrm>
          <a:prstGeom prst="rect">
            <a:avLst/>
          </a:prstGeom>
          <a:noFill/>
          <a:ln/>
        </p:spPr>
        <p:txBody>
          <a:bodyPr wrap="square" lIns="0" tIns="0" rIns="0" bIns="0" rtlCol="0" anchor="ctr"/>
          <a:lstStyle/>
          <a:p>
            <a:pPr marL="0" indent="0">
              <a:buNone/>
            </a:pPr>
            <a:r>
              <a:rPr lang="en-US" sz="1400" b="1" dirty="0">
                <a:solidFill>
                  <a:srgbClr val="DC2626"/>
                </a:solidFill>
                <a:latin typeface="Cambria"/>
                <a:ea typeface="Cambria"/>
                <a:cs typeface="Cambria" pitchFamily="34" charset="-120"/>
              </a:rPr>
              <a:t>Fixed Bilinear </a:t>
            </a:r>
            <a:r>
              <a:rPr lang="en-US" sz="1400" b="1" dirty="0" err="1">
                <a:solidFill>
                  <a:srgbClr val="DC2626"/>
                </a:solidFill>
                <a:latin typeface="Cambria"/>
                <a:ea typeface="Cambria"/>
                <a:cs typeface="Cambria" pitchFamily="34" charset="-120"/>
              </a:rPr>
              <a:t>Upsample</a:t>
            </a:r>
            <a:endParaRPr lang="en-US" sz="1400" b="1">
              <a:solidFill>
                <a:srgbClr val="DC2626"/>
              </a:solidFill>
              <a:latin typeface="Cambria"/>
              <a:ea typeface="Cambria"/>
            </a:endParaRPr>
          </a:p>
        </p:txBody>
      </p:sp>
      <p:sp>
        <p:nvSpPr>
          <p:cNvPr id="9" name="Text 7"/>
          <p:cNvSpPr/>
          <p:nvPr/>
        </p:nvSpPr>
        <p:spPr>
          <a:xfrm>
            <a:off x="456983" y="2501973"/>
            <a:ext cx="3867912" cy="557784"/>
          </a:xfrm>
          <a:prstGeom prst="rect">
            <a:avLst/>
          </a:prstGeom>
          <a:noFill/>
          <a:ln/>
        </p:spPr>
        <p:txBody>
          <a:bodyPr wrap="square" lIns="91440" tIns="45720" rIns="91440" bIns="45720" rtlCol="0" anchor="ctr"/>
          <a:lstStyle/>
          <a:p>
            <a:pPr marL="0" indent="0">
              <a:buNone/>
            </a:pPr>
            <a:r>
              <a:rPr lang="en-US" sz="1200" dirty="0" err="1">
                <a:solidFill>
                  <a:srgbClr val="111111"/>
                </a:solidFill>
                <a:latin typeface="Calibri"/>
                <a:ea typeface="Calibri"/>
                <a:cs typeface="Calibri"/>
              </a:rPr>
              <a:t>KAEXNet</a:t>
            </a:r>
            <a:r>
              <a:rPr lang="en-US" sz="1200" dirty="0">
                <a:solidFill>
                  <a:srgbClr val="111111"/>
                </a:solidFill>
                <a:latin typeface="Calibri"/>
                <a:ea typeface="Calibri"/>
                <a:cs typeface="Calibri"/>
              </a:rPr>
              <a:t> relies on fixed bilinear interpolation for spatial </a:t>
            </a:r>
            <a:r>
              <a:rPr lang="en-US" sz="1200" dirty="0" err="1">
                <a:solidFill>
                  <a:srgbClr val="111111"/>
                </a:solidFill>
                <a:latin typeface="Calibri"/>
                <a:ea typeface="Calibri"/>
                <a:cs typeface="Calibri"/>
              </a:rPr>
              <a:t>upsampling</a:t>
            </a:r>
            <a:r>
              <a:rPr lang="en-US" sz="1200" dirty="0">
                <a:solidFill>
                  <a:srgbClr val="111111"/>
                </a:solidFill>
                <a:latin typeface="Calibri"/>
                <a:ea typeface="Calibri"/>
                <a:cs typeface="Calibri"/>
              </a:rPr>
              <a:t>. No learning happens in this stage — pixels are simply stretched. The model cannot adapt its </a:t>
            </a:r>
            <a:r>
              <a:rPr lang="en-US" sz="1200" dirty="0" err="1">
                <a:solidFill>
                  <a:srgbClr val="111111"/>
                </a:solidFill>
                <a:latin typeface="Calibri"/>
                <a:ea typeface="Calibri"/>
                <a:cs typeface="Calibri"/>
              </a:rPr>
              <a:t>upsampling</a:t>
            </a:r>
            <a:r>
              <a:rPr lang="en-US" sz="1200" dirty="0">
                <a:solidFill>
                  <a:srgbClr val="111111"/>
                </a:solidFill>
                <a:latin typeface="Calibri"/>
                <a:ea typeface="Calibri"/>
                <a:cs typeface="Calibri"/>
              </a:rPr>
              <a:t> strategy to local content, causing blurring and ringing around edges and fine structures.</a:t>
            </a:r>
            <a:endParaRPr lang="en-US" sz="1200">
              <a:latin typeface="Calibri"/>
              <a:ea typeface="Calibri"/>
              <a:cs typeface="Calibri"/>
            </a:endParaRPr>
          </a:p>
        </p:txBody>
      </p:sp>
      <p:sp>
        <p:nvSpPr>
          <p:cNvPr id="10" name="Shape 8"/>
          <p:cNvSpPr/>
          <p:nvPr/>
        </p:nvSpPr>
        <p:spPr>
          <a:xfrm>
            <a:off x="4583975" y="2074817"/>
            <a:ext cx="4079965" cy="1226820"/>
          </a:xfrm>
          <a:prstGeom prst="roundRect">
            <a:avLst>
              <a:gd name="adj" fmla="val 6667"/>
            </a:avLst>
          </a:prstGeom>
          <a:solidFill>
            <a:srgbClr val="FFFFFF"/>
          </a:solidFill>
          <a:ln w="19050">
            <a:solidFill>
              <a:srgbClr val="EA580C"/>
            </a:solidFill>
            <a:prstDash val="solid"/>
          </a:ln>
          <a:effectLst>
            <a:outerShdw blurRad="101600" dist="25400" dir="2700000" algn="bl" rotWithShape="0">
              <a:srgbClr val="000000">
                <a:alpha val="10000"/>
              </a:srgbClr>
            </a:outerShdw>
          </a:effectLst>
        </p:spPr>
      </p:sp>
      <p:sp>
        <p:nvSpPr>
          <p:cNvPr id="11" name="Text 9"/>
          <p:cNvSpPr/>
          <p:nvPr/>
        </p:nvSpPr>
        <p:spPr>
          <a:xfrm>
            <a:off x="4626429" y="2779341"/>
            <a:ext cx="274320" cy="274320"/>
          </a:xfrm>
          <a:prstGeom prst="rect">
            <a:avLst/>
          </a:prstGeom>
          <a:noFill/>
          <a:ln/>
        </p:spPr>
        <p:txBody>
          <a:bodyPr wrap="square" lIns="0" tIns="0" rIns="0" bIns="0" rtlCol="0" anchor="ctr"/>
          <a:lstStyle/>
          <a:p>
            <a:pPr marL="0" indent="0">
              <a:buNone/>
            </a:pPr>
            <a:endParaRPr lang="en-US" sz="1400" b="1" dirty="0">
              <a:solidFill>
                <a:srgbClr val="EA580C"/>
              </a:solidFill>
              <a:ea typeface="Calibri"/>
              <a:cs typeface="Calibri"/>
            </a:endParaRPr>
          </a:p>
        </p:txBody>
      </p:sp>
      <p:sp>
        <p:nvSpPr>
          <p:cNvPr id="12" name="Text 10"/>
          <p:cNvSpPr/>
          <p:nvPr/>
        </p:nvSpPr>
        <p:spPr>
          <a:xfrm>
            <a:off x="5332694" y="2073510"/>
            <a:ext cx="3593592" cy="256032"/>
          </a:xfrm>
          <a:prstGeom prst="rect">
            <a:avLst/>
          </a:prstGeom>
          <a:noFill/>
          <a:ln/>
        </p:spPr>
        <p:txBody>
          <a:bodyPr wrap="square" lIns="0" tIns="0" rIns="0" bIns="0" rtlCol="0" anchor="ctr"/>
          <a:lstStyle/>
          <a:p>
            <a:pPr marL="0" indent="0">
              <a:buNone/>
            </a:pPr>
            <a:r>
              <a:rPr lang="en-US" sz="1400" b="1" dirty="0">
                <a:solidFill>
                  <a:srgbClr val="EA580C"/>
                </a:solidFill>
                <a:latin typeface="Cambria"/>
                <a:ea typeface="Cambria"/>
                <a:cs typeface="Cambria" pitchFamily="34" charset="-120"/>
              </a:rPr>
              <a:t>No Iterative Spectral Refinement</a:t>
            </a:r>
            <a:endParaRPr lang="en-US" sz="1400">
              <a:latin typeface="Calibri"/>
              <a:ea typeface="Calibri"/>
              <a:cs typeface="Calibri"/>
            </a:endParaRPr>
          </a:p>
        </p:txBody>
      </p:sp>
      <p:sp>
        <p:nvSpPr>
          <p:cNvPr id="13" name="Text 11"/>
          <p:cNvSpPr/>
          <p:nvPr/>
        </p:nvSpPr>
        <p:spPr>
          <a:xfrm>
            <a:off x="4688259" y="2501973"/>
            <a:ext cx="3867912" cy="557784"/>
          </a:xfrm>
          <a:prstGeom prst="rect">
            <a:avLst/>
          </a:prstGeom>
          <a:noFill/>
          <a:ln/>
        </p:spPr>
        <p:txBody>
          <a:bodyPr wrap="square" lIns="91440" tIns="45720" rIns="91440" bIns="45720" rtlCol="0" anchor="ctr"/>
          <a:lstStyle/>
          <a:p>
            <a:pPr marL="0" indent="0">
              <a:buNone/>
            </a:pPr>
            <a:r>
              <a:rPr lang="en-US" sz="1200" dirty="0">
                <a:solidFill>
                  <a:srgbClr val="111111"/>
                </a:solidFill>
                <a:latin typeface="Calibri"/>
                <a:ea typeface="Calibri"/>
                <a:cs typeface="Calibri"/>
              </a:rPr>
              <a:t>Neither </a:t>
            </a:r>
            <a:r>
              <a:rPr lang="en-US" sz="1200" dirty="0" err="1">
                <a:solidFill>
                  <a:srgbClr val="111111"/>
                </a:solidFill>
                <a:latin typeface="Calibri"/>
                <a:ea typeface="Calibri"/>
                <a:cs typeface="Calibri"/>
              </a:rPr>
              <a:t>KAEXNet</a:t>
            </a:r>
            <a:r>
              <a:rPr lang="en-US" sz="1200" dirty="0">
                <a:solidFill>
                  <a:srgbClr val="111111"/>
                </a:solidFill>
                <a:latin typeface="Calibri"/>
                <a:ea typeface="Calibri"/>
                <a:cs typeface="Calibri"/>
              </a:rPr>
              <a:t> nor KAN-GAN refines the SR output after </a:t>
            </a:r>
            <a:r>
              <a:rPr lang="en-US" sz="1200" dirty="0" err="1">
                <a:solidFill>
                  <a:srgbClr val="111111"/>
                </a:solidFill>
                <a:latin typeface="Calibri"/>
                <a:ea typeface="Calibri"/>
                <a:cs typeface="Calibri"/>
              </a:rPr>
              <a:t>upsampling</a:t>
            </a:r>
            <a:r>
              <a:rPr lang="en-US" sz="1200" dirty="0">
                <a:solidFill>
                  <a:srgbClr val="111111"/>
                </a:solidFill>
                <a:latin typeface="Calibri"/>
                <a:ea typeface="Calibri"/>
                <a:cs typeface="Calibri"/>
              </a:rPr>
              <a:t>. This one-shot reconstruction fails to recover fine spectral detail, especially in complex mixed-material pixels. Iterative refinement via diffusion could progressively improve quality.</a:t>
            </a:r>
            <a:endParaRPr lang="en-US" sz="1200">
              <a:latin typeface="Calibri"/>
              <a:ea typeface="Calibri"/>
              <a:cs typeface="Calibri"/>
            </a:endParaRPr>
          </a:p>
        </p:txBody>
      </p:sp>
      <p:sp>
        <p:nvSpPr>
          <p:cNvPr id="14" name="Shape 12"/>
          <p:cNvSpPr/>
          <p:nvPr/>
        </p:nvSpPr>
        <p:spPr>
          <a:xfrm>
            <a:off x="369025" y="3558758"/>
            <a:ext cx="4025537" cy="1275805"/>
          </a:xfrm>
          <a:prstGeom prst="roundRect">
            <a:avLst>
              <a:gd name="adj" fmla="val 6667"/>
            </a:avLst>
          </a:prstGeom>
          <a:solidFill>
            <a:srgbClr val="FFFFFF"/>
          </a:solidFill>
          <a:ln w="19050">
            <a:solidFill>
              <a:srgbClr val="7C3AED"/>
            </a:solidFill>
            <a:prstDash val="solid"/>
          </a:ln>
          <a:effectLst>
            <a:outerShdw blurRad="101600" dist="25400" dir="2700000" algn="bl" rotWithShape="0">
              <a:srgbClr val="000000">
                <a:alpha val="10000"/>
              </a:srgbClr>
            </a:outerShdw>
          </a:effectLst>
        </p:spPr>
      </p:sp>
      <p:sp>
        <p:nvSpPr>
          <p:cNvPr id="15" name="Text 13"/>
          <p:cNvSpPr/>
          <p:nvPr/>
        </p:nvSpPr>
        <p:spPr>
          <a:xfrm>
            <a:off x="318951" y="3833295"/>
            <a:ext cx="274320" cy="274320"/>
          </a:xfrm>
          <a:prstGeom prst="rect">
            <a:avLst/>
          </a:prstGeom>
          <a:noFill/>
          <a:ln/>
        </p:spPr>
        <p:txBody>
          <a:bodyPr wrap="square" lIns="0" tIns="0" rIns="0" bIns="0" rtlCol="0" anchor="ctr"/>
          <a:lstStyle/>
          <a:p>
            <a:pPr marL="0" indent="0">
              <a:buNone/>
            </a:pPr>
            <a:endParaRPr lang="en-US" sz="1400" b="1" dirty="0">
              <a:solidFill>
                <a:srgbClr val="7C3AED"/>
              </a:solidFill>
              <a:ea typeface="Calibri"/>
              <a:cs typeface="Calibri"/>
            </a:endParaRPr>
          </a:p>
        </p:txBody>
      </p:sp>
      <p:sp>
        <p:nvSpPr>
          <p:cNvPr id="16" name="Text 14"/>
          <p:cNvSpPr/>
          <p:nvPr/>
        </p:nvSpPr>
        <p:spPr>
          <a:xfrm>
            <a:off x="851045" y="3557451"/>
            <a:ext cx="4045349" cy="256032"/>
          </a:xfrm>
          <a:prstGeom prst="rect">
            <a:avLst/>
          </a:prstGeom>
          <a:noFill/>
          <a:ln/>
        </p:spPr>
        <p:txBody>
          <a:bodyPr wrap="square" lIns="0" tIns="0" rIns="0" bIns="0" rtlCol="0" anchor="ctr"/>
          <a:lstStyle/>
          <a:p>
            <a:r>
              <a:rPr lang="en-US" sz="1400" b="1" dirty="0">
                <a:solidFill>
                  <a:srgbClr val="7C3AED"/>
                </a:solidFill>
                <a:latin typeface="Cambria"/>
                <a:ea typeface="Cambria"/>
                <a:cs typeface="Cambria" pitchFamily="34" charset="-120"/>
              </a:rPr>
              <a:t>Spectral Bands </a:t>
            </a:r>
            <a:r>
              <a:rPr lang="en-US" sz="1400" b="1">
                <a:solidFill>
                  <a:srgbClr val="7C3AED"/>
                </a:solidFill>
                <a:latin typeface="Cambria"/>
                <a:ea typeface="Cambria"/>
                <a:cs typeface="Cambria" pitchFamily="34" charset="-120"/>
              </a:rPr>
              <a:t>treated as Independent </a:t>
            </a:r>
            <a:endParaRPr lang="en-US" sz="1400">
              <a:latin typeface="Cambria"/>
              <a:ea typeface="Cambria"/>
              <a:cs typeface="Calibri"/>
            </a:endParaRPr>
          </a:p>
        </p:txBody>
      </p:sp>
      <p:sp>
        <p:nvSpPr>
          <p:cNvPr id="17" name="Text 15"/>
          <p:cNvSpPr/>
          <p:nvPr/>
        </p:nvSpPr>
        <p:spPr>
          <a:xfrm>
            <a:off x="456982" y="4018570"/>
            <a:ext cx="3867912" cy="557784"/>
          </a:xfrm>
          <a:prstGeom prst="rect">
            <a:avLst/>
          </a:prstGeom>
          <a:noFill/>
          <a:ln/>
        </p:spPr>
        <p:txBody>
          <a:bodyPr wrap="square" lIns="91440" tIns="45720" rIns="91440" bIns="45720" rtlCol="0" anchor="ctr"/>
          <a:lstStyle/>
          <a:p>
            <a:pPr marL="0" indent="0">
              <a:buNone/>
            </a:pPr>
            <a:r>
              <a:rPr lang="en-US" sz="1200" dirty="0">
                <a:solidFill>
                  <a:srgbClr val="111111"/>
                </a:solidFill>
                <a:latin typeface="Calibri"/>
                <a:ea typeface="Calibri"/>
                <a:cs typeface="Calibri"/>
              </a:rPr>
              <a:t>All 103 spectral bands are processed as unrelated channels — no model captures how bands causally influence each other's reconstruction. In reality, adjacent and correlated bands (e.g. near-IR regions) co-determine pixel reflectance, and ignoring this leaves structural information unexploited.</a:t>
            </a:r>
            <a:endParaRPr lang="en-US" sz="1200">
              <a:latin typeface="Calibri"/>
              <a:ea typeface="Calibri"/>
              <a:cs typeface="Calibri"/>
            </a:endParaRPr>
          </a:p>
        </p:txBody>
      </p:sp>
      <p:sp>
        <p:nvSpPr>
          <p:cNvPr id="18" name="Shape 16"/>
          <p:cNvSpPr/>
          <p:nvPr/>
        </p:nvSpPr>
        <p:spPr>
          <a:xfrm>
            <a:off x="4692833" y="3553315"/>
            <a:ext cx="4085407" cy="1281247"/>
          </a:xfrm>
          <a:prstGeom prst="roundRect">
            <a:avLst>
              <a:gd name="adj" fmla="val 6667"/>
            </a:avLst>
          </a:prstGeom>
          <a:solidFill>
            <a:srgbClr val="FFFFFF"/>
          </a:solidFill>
          <a:ln w="19050">
            <a:solidFill>
              <a:srgbClr val="0D9488"/>
            </a:solidFill>
            <a:prstDash val="solid"/>
          </a:ln>
          <a:effectLst>
            <a:outerShdw blurRad="101600" dist="25400" dir="2700000" algn="bl" rotWithShape="0">
              <a:srgbClr val="000000">
                <a:alpha val="10000"/>
              </a:srgbClr>
            </a:outerShdw>
          </a:effectLst>
        </p:spPr>
      </p:sp>
      <p:sp>
        <p:nvSpPr>
          <p:cNvPr id="19" name="Text 17"/>
          <p:cNvSpPr/>
          <p:nvPr/>
        </p:nvSpPr>
        <p:spPr>
          <a:xfrm>
            <a:off x="4800600" y="3833295"/>
            <a:ext cx="274320" cy="274320"/>
          </a:xfrm>
          <a:prstGeom prst="rect">
            <a:avLst/>
          </a:prstGeom>
          <a:noFill/>
          <a:ln/>
        </p:spPr>
        <p:txBody>
          <a:bodyPr wrap="square" lIns="0" tIns="0" rIns="0" bIns="0" rtlCol="0" anchor="ctr"/>
          <a:lstStyle/>
          <a:p>
            <a:pPr marL="0" indent="0">
              <a:buNone/>
            </a:pPr>
            <a:endParaRPr lang="en-US" sz="1400" b="1" dirty="0">
              <a:solidFill>
                <a:srgbClr val="0D9488"/>
              </a:solidFill>
              <a:ea typeface="Calibri"/>
              <a:cs typeface="Calibri"/>
            </a:endParaRPr>
          </a:p>
        </p:txBody>
      </p:sp>
      <p:sp>
        <p:nvSpPr>
          <p:cNvPr id="20" name="Text 18"/>
          <p:cNvSpPr/>
          <p:nvPr/>
        </p:nvSpPr>
        <p:spPr>
          <a:xfrm>
            <a:off x="5332694" y="3557452"/>
            <a:ext cx="3593592" cy="256032"/>
          </a:xfrm>
          <a:prstGeom prst="rect">
            <a:avLst/>
          </a:prstGeom>
          <a:noFill/>
          <a:ln/>
        </p:spPr>
        <p:txBody>
          <a:bodyPr wrap="square" lIns="0" tIns="0" rIns="0" bIns="0" rtlCol="0" anchor="ctr"/>
          <a:lstStyle/>
          <a:p>
            <a:pPr marL="0" indent="0">
              <a:buNone/>
            </a:pPr>
            <a:r>
              <a:rPr lang="en-US" sz="1400" b="1" dirty="0">
                <a:solidFill>
                  <a:srgbClr val="0D9488"/>
                </a:solidFill>
                <a:latin typeface="Cambria"/>
                <a:ea typeface="Cambria"/>
                <a:cs typeface="Cambria" pitchFamily="34" charset="-120"/>
              </a:rPr>
              <a:t>Fixed Spectral Rank for All Pixels</a:t>
            </a:r>
            <a:endParaRPr lang="en-US" sz="1400">
              <a:latin typeface="Cambria"/>
              <a:ea typeface="Cambria"/>
              <a:cs typeface="Calibri"/>
            </a:endParaRPr>
          </a:p>
        </p:txBody>
      </p:sp>
      <p:sp>
        <p:nvSpPr>
          <p:cNvPr id="21" name="Text 19"/>
          <p:cNvSpPr/>
          <p:nvPr/>
        </p:nvSpPr>
        <p:spPr>
          <a:xfrm>
            <a:off x="4824332" y="4013126"/>
            <a:ext cx="3824367" cy="563228"/>
          </a:xfrm>
          <a:prstGeom prst="rect">
            <a:avLst/>
          </a:prstGeom>
          <a:noFill/>
          <a:ln/>
        </p:spPr>
        <p:txBody>
          <a:bodyPr wrap="square" lIns="91440" tIns="45720" rIns="91440" bIns="45720" rtlCol="0" anchor="ctr"/>
          <a:lstStyle/>
          <a:p>
            <a:pPr marL="0" indent="0">
              <a:buNone/>
            </a:pPr>
            <a:r>
              <a:rPr lang="en-US" sz="1200" dirty="0">
                <a:solidFill>
                  <a:srgbClr val="111111"/>
                </a:solidFill>
                <a:latin typeface="Calibri"/>
                <a:ea typeface="Calibri"/>
                <a:cs typeface="Calibri"/>
              </a:rPr>
              <a:t>Both FBD-KAN and </a:t>
            </a:r>
            <a:r>
              <a:rPr lang="en-US" sz="1200" dirty="0" err="1">
                <a:solidFill>
                  <a:srgbClr val="111111"/>
                </a:solidFill>
                <a:latin typeface="Calibri"/>
                <a:ea typeface="Calibri"/>
                <a:cs typeface="Calibri"/>
              </a:rPr>
              <a:t>KAEXNet</a:t>
            </a:r>
            <a:r>
              <a:rPr lang="en-US" sz="1200" dirty="0">
                <a:solidFill>
                  <a:srgbClr val="111111"/>
                </a:solidFill>
                <a:latin typeface="Calibri"/>
                <a:ea typeface="Calibri"/>
                <a:cs typeface="Calibri"/>
              </a:rPr>
              <a:t> compress the full 103-band signature to a fixed rank (e.g. 32) for every pixel uniformly. A homogeneous road pixel and a complex mixed-material boundary are treated identically, wasting capacity on simple regions and under-representing complex ones.</a:t>
            </a:r>
            <a:endParaRPr lang="en-US" sz="1200">
              <a:latin typeface="Calibri"/>
              <a:ea typeface="Calibri"/>
              <a:cs typeface="Calibri"/>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16">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9144000" cy="594360"/>
          </a:xfrm>
          <a:prstGeom prst="rect">
            <a:avLst/>
          </a:prstGeom>
          <a:solidFill>
            <a:srgbClr val="1A2E4A"/>
          </a:solidFill>
          <a:ln w="12700">
            <a:solidFill>
              <a:srgbClr val="1A2E4A"/>
            </a:solidFill>
            <a:prstDash val="solid"/>
          </a:ln>
        </p:spPr>
      </p:sp>
      <p:sp>
        <p:nvSpPr>
          <p:cNvPr id="3" name="Text 1"/>
          <p:cNvSpPr/>
          <p:nvPr/>
        </p:nvSpPr>
        <p:spPr>
          <a:xfrm>
            <a:off x="457200" y="45720"/>
            <a:ext cx="8229600" cy="502920"/>
          </a:xfrm>
          <a:prstGeom prst="rect">
            <a:avLst/>
          </a:prstGeom>
          <a:noFill/>
          <a:ln/>
        </p:spPr>
        <p:txBody>
          <a:bodyPr wrap="square" lIns="0" tIns="0" rIns="0" bIns="0" rtlCol="0" anchor="ctr"/>
          <a:lstStyle/>
          <a:p>
            <a:pPr marL="0" indent="0" algn="l">
              <a:buNone/>
            </a:pPr>
            <a:r>
              <a:rPr lang="en-US" sz="2600" b="1" dirty="0">
                <a:solidFill>
                  <a:srgbClr val="FFFFFF"/>
                </a:solidFill>
                <a:latin typeface="Cambria" pitchFamily="34" charset="0"/>
                <a:ea typeface="Cambria" pitchFamily="34" charset="-122"/>
                <a:cs typeface="Cambria" pitchFamily="34" charset="-120"/>
              </a:rPr>
              <a:t>Image Types in Remote Sensing</a:t>
            </a:r>
            <a:endParaRPr lang="en-US" sz="2600" dirty="0"/>
          </a:p>
        </p:txBody>
      </p:sp>
      <p:sp>
        <p:nvSpPr>
          <p:cNvPr id="101" name="Text 101"/>
          <p:cNvSpPr/>
          <p:nvPr/>
        </p:nvSpPr>
        <p:spPr>
          <a:xfrm>
            <a:off x="411480" y="640000"/>
            <a:ext cx="8321040" cy="280000"/>
          </a:xfrm>
          <a:prstGeom prst="rect">
            <a:avLst/>
          </a:prstGeom>
          <a:noFill/>
          <a:ln/>
        </p:spPr>
        <p:txBody>
          <a:bodyPr wrap="square" lIns="0" tIns="0" rIns="0" bIns="0" rtlCol="0" anchor="ctr"/>
          <a:lstStyle/>
          <a:p>
            <a:pPr marL="0" indent="0" algn="l">
              <a:buNone/>
            </a:pPr>
            <a:r>
              <a:rPr lang="en-US" sz="1200" i="1" dirty="0">
                <a:solidFill>
                  <a:srgbClr val="475569"/>
                </a:solidFill>
                <a:latin typeface="Calibri"/>
                <a:ea typeface="Calibri"/>
                <a:cs typeface="Calibri"/>
              </a:rPr>
              <a:t>RGB, Multispectral &amp; Hyperspectral Imaging — from a few bands to hundreds</a:t>
            </a:r>
          </a:p>
        </p:txBody>
      </p:sp>
      <p:sp>
        <p:nvSpPr>
          <p:cNvPr id="102" name="Shape 102"/>
          <p:cNvSpPr/>
          <p:nvPr/>
        </p:nvSpPr>
        <p:spPr>
          <a:xfrm>
            <a:off x="106680" y="1017214"/>
            <a:ext cx="2978480" cy="3896828"/>
          </a:xfrm>
          <a:prstGeom prst="roundRect">
            <a:avLst>
              <a:gd name="adj" fmla="val 6667"/>
            </a:avLst>
          </a:prstGeom>
          <a:solidFill>
            <a:srgbClr val="FFFFFF"/>
          </a:solidFill>
          <a:ln w="19050">
            <a:solidFill>
              <a:srgbClr val="2563EB"/>
            </a:solidFill>
            <a:prstDash val="solid"/>
          </a:ln>
          <a:effectLst>
            <a:outerShdw blurRad="101600" dist="25400" dir="2700000" algn="bl" rotWithShape="0">
              <a:srgbClr val="000000">
                <a:alpha val="10000"/>
              </a:srgbClr>
            </a:outerShdw>
          </a:effectLst>
        </p:spPr>
      </p:sp>
      <p:sp>
        <p:nvSpPr>
          <p:cNvPr id="103" name="Text 103"/>
          <p:cNvSpPr/>
          <p:nvPr/>
        </p:nvSpPr>
        <p:spPr>
          <a:xfrm>
            <a:off x="106680" y="989242"/>
            <a:ext cx="3109107" cy="3237214"/>
          </a:xfrm>
          <a:prstGeom prst="rect">
            <a:avLst/>
          </a:prstGeom>
          <a:noFill/>
          <a:ln/>
        </p:spPr>
        <p:txBody>
          <a:bodyPr wrap="square" lIns="137160" tIns="91440" rIns="137160" bIns="45720" rtlCol="0" anchor="t"/>
          <a:lstStyle/>
          <a:p>
            <a:pPr marL="0" indent="0">
              <a:buNone/>
            </a:pPr>
            <a:r>
              <a:rPr lang="en-US" sz="1250" b="1" dirty="0">
                <a:solidFill>
                  <a:srgbClr val="2563EB"/>
                </a:solidFill>
                <a:latin typeface="Cambria"/>
                <a:ea typeface="Cambria"/>
                <a:cs typeface="Cambria"/>
              </a:rPr>
              <a:t>RGB Imaging</a:t>
            </a:r>
          </a:p>
          <a:p>
            <a:pPr marL="182880" indent="-182880">
              <a:buFont typeface="Arial"/>
              <a:buChar char="•"/>
            </a:pPr>
            <a:r>
              <a:rPr lang="en-US" sz="1200" dirty="0">
                <a:solidFill>
                  <a:srgbClr val="111111"/>
                </a:solidFill>
                <a:latin typeface="Calibri"/>
                <a:ea typeface="Calibri"/>
                <a:cs typeface="Calibri"/>
              </a:rPr>
              <a:t>3 spectral bands (Red, Green, Blue)</a:t>
            </a:r>
          </a:p>
          <a:p>
            <a:pPr marL="182880" indent="-182880">
              <a:buFont typeface="Arial"/>
              <a:buChar char="•"/>
            </a:pPr>
            <a:r>
              <a:rPr lang="en-US" sz="1200" dirty="0">
                <a:solidFill>
                  <a:srgbClr val="111111"/>
                </a:solidFill>
                <a:latin typeface="Calibri"/>
                <a:ea typeface="Calibri"/>
                <a:cs typeface="Calibri"/>
              </a:rPr>
              <a:t>Captures only the visible region of the EM spectrum</a:t>
            </a:r>
          </a:p>
          <a:p>
            <a:pPr marL="182880" indent="-182880">
              <a:buFont typeface="Arial"/>
              <a:buChar char="•"/>
            </a:pPr>
            <a:r>
              <a:rPr lang="en-US" sz="1200" dirty="0">
                <a:solidFill>
                  <a:srgbClr val="111111"/>
                </a:solidFill>
                <a:latin typeface="Calibri"/>
                <a:ea typeface="Calibri"/>
                <a:cs typeface="Calibri"/>
              </a:rPr>
              <a:t>Represents scenes like human vision — natural-color imagery</a:t>
            </a:r>
          </a:p>
          <a:p>
            <a:pPr marL="182880" indent="-182880">
              <a:buFont typeface="Arial"/>
              <a:buChar char="•"/>
            </a:pPr>
            <a:r>
              <a:rPr lang="en-US" sz="1200" dirty="0">
                <a:solidFill>
                  <a:srgbClr val="111111"/>
                </a:solidFill>
                <a:latin typeface="Calibri"/>
                <a:ea typeface="Calibri"/>
                <a:cs typeface="Calibri"/>
              </a:rPr>
              <a:t>High spatial detail, but limited spectral information</a:t>
            </a:r>
          </a:p>
          <a:p>
            <a:pPr marL="182880" indent="-182880">
              <a:buFont typeface="Arial"/>
              <a:buChar char="•"/>
            </a:pPr>
            <a:r>
              <a:rPr lang="en-US" sz="1200" dirty="0">
                <a:solidFill>
                  <a:srgbClr val="111111"/>
                </a:solidFill>
                <a:latin typeface="Calibri"/>
                <a:ea typeface="Calibri"/>
                <a:cs typeface="Calibri"/>
              </a:rPr>
              <a:t>Good for visualization and object-level analysis; limited material discrimination</a:t>
            </a:r>
          </a:p>
        </p:txBody>
      </p:sp>
      <p:sp>
        <p:nvSpPr>
          <p:cNvPr id="104" name="Shape 104"/>
          <p:cNvSpPr/>
          <p:nvPr/>
        </p:nvSpPr>
        <p:spPr>
          <a:xfrm>
            <a:off x="3093648" y="995443"/>
            <a:ext cx="2983920" cy="3896827"/>
          </a:xfrm>
          <a:prstGeom prst="roundRect">
            <a:avLst>
              <a:gd name="adj" fmla="val 6667"/>
            </a:avLst>
          </a:prstGeom>
          <a:solidFill>
            <a:srgbClr val="FFFFFF"/>
          </a:solidFill>
          <a:ln w="19050">
            <a:solidFill>
              <a:srgbClr val="EA580C"/>
            </a:solidFill>
            <a:prstDash val="solid"/>
          </a:ln>
          <a:effectLst>
            <a:outerShdw blurRad="101600" dist="25400" dir="2700000" algn="bl" rotWithShape="0">
              <a:srgbClr val="000000">
                <a:alpha val="10000"/>
              </a:srgbClr>
            </a:outerShdw>
          </a:effectLst>
        </p:spPr>
      </p:sp>
      <p:sp>
        <p:nvSpPr>
          <p:cNvPr id="105" name="Text 105"/>
          <p:cNvSpPr/>
          <p:nvPr/>
        </p:nvSpPr>
        <p:spPr>
          <a:xfrm>
            <a:off x="3093646" y="1027343"/>
            <a:ext cx="2945822" cy="3242656"/>
          </a:xfrm>
          <a:prstGeom prst="rect">
            <a:avLst/>
          </a:prstGeom>
          <a:noFill/>
          <a:ln/>
        </p:spPr>
        <p:txBody>
          <a:bodyPr wrap="square" lIns="137160" tIns="91440" rIns="137160" bIns="45720" rtlCol="0" anchor="t"/>
          <a:lstStyle/>
          <a:p>
            <a:pPr marL="0" indent="0">
              <a:buNone/>
            </a:pPr>
            <a:r>
              <a:rPr lang="en-US" sz="1250" b="1" dirty="0">
                <a:solidFill>
                  <a:srgbClr val="EA580C"/>
                </a:solidFill>
                <a:latin typeface="Cambria"/>
                <a:ea typeface="Cambria"/>
                <a:cs typeface="Cambria"/>
              </a:rPr>
              <a:t>Multispectral (MSI)</a:t>
            </a:r>
          </a:p>
          <a:p>
            <a:pPr marL="182880" indent="-182880">
              <a:buFont typeface="Arial"/>
              <a:buChar char="•"/>
            </a:pPr>
            <a:r>
              <a:rPr lang="en-US" sz="1200" dirty="0">
                <a:solidFill>
                  <a:srgbClr val="111111"/>
                </a:solidFill>
                <a:latin typeface="Calibri"/>
                <a:ea typeface="Calibri"/>
                <a:cs typeface="Calibri"/>
              </a:rPr>
              <a:t>3–15 spectral bands</a:t>
            </a:r>
          </a:p>
          <a:p>
            <a:pPr marL="182880" indent="-182880">
              <a:buFont typeface="Arial"/>
              <a:buChar char="•"/>
            </a:pPr>
            <a:r>
              <a:rPr lang="en-US" sz="1200" dirty="0">
                <a:solidFill>
                  <a:srgbClr val="111111"/>
                </a:solidFill>
                <a:latin typeface="Calibri"/>
                <a:ea typeface="Calibri"/>
                <a:cs typeface="Calibri"/>
              </a:rPr>
              <a:t>Visible + selected non-visible wavelength regions</a:t>
            </a:r>
          </a:p>
          <a:p>
            <a:pPr marL="182880" indent="-182880">
              <a:buFont typeface="Arial"/>
              <a:buChar char="•"/>
            </a:pPr>
            <a:r>
              <a:rPr lang="en-US" sz="1200" dirty="0">
                <a:solidFill>
                  <a:srgbClr val="111111"/>
                </a:solidFill>
                <a:latin typeface="Calibri"/>
                <a:ea typeface="Calibri"/>
                <a:cs typeface="Calibri"/>
              </a:rPr>
              <a:t>Greater spectral diversity than RGB</a:t>
            </a:r>
          </a:p>
          <a:p>
            <a:pPr marL="182880" indent="-182880">
              <a:buFont typeface="Arial"/>
              <a:buChar char="•"/>
            </a:pPr>
            <a:r>
              <a:rPr lang="en-US" sz="1200" dirty="0">
                <a:solidFill>
                  <a:srgbClr val="111111"/>
                </a:solidFill>
                <a:latin typeface="Calibri"/>
                <a:ea typeface="Calibri"/>
                <a:cs typeface="Calibri"/>
              </a:rPr>
              <a:t>Enables broad classification: vegetation, water, soil, land-cover</a:t>
            </a:r>
          </a:p>
          <a:p>
            <a:pPr marL="182880" indent="-182880">
              <a:buFont typeface="Arial"/>
              <a:buChar char="•"/>
            </a:pPr>
            <a:r>
              <a:rPr lang="en-US" sz="1200" dirty="0">
                <a:solidFill>
                  <a:srgbClr val="111111"/>
                </a:solidFill>
                <a:latin typeface="Calibri"/>
                <a:ea typeface="Calibri"/>
                <a:cs typeface="Calibri"/>
              </a:rPr>
              <a:t>Limited resolution — can't separate spectrally similar materials</a:t>
            </a:r>
          </a:p>
        </p:txBody>
      </p:sp>
      <p:sp>
        <p:nvSpPr>
          <p:cNvPr id="106" name="Shape 106"/>
          <p:cNvSpPr/>
          <p:nvPr/>
        </p:nvSpPr>
        <p:spPr>
          <a:xfrm>
            <a:off x="6075168" y="990000"/>
            <a:ext cx="2962152" cy="3907714"/>
          </a:xfrm>
          <a:prstGeom prst="roundRect">
            <a:avLst>
              <a:gd name="adj" fmla="val 6667"/>
            </a:avLst>
          </a:prstGeom>
          <a:solidFill>
            <a:srgbClr val="FFFFFF"/>
          </a:solidFill>
          <a:ln w="19050">
            <a:solidFill>
              <a:srgbClr val="16A34A"/>
            </a:solidFill>
            <a:prstDash val="solid"/>
          </a:ln>
          <a:effectLst>
            <a:outerShdw blurRad="101600" dist="25400" dir="2700000" algn="bl" rotWithShape="0">
              <a:srgbClr val="000000">
                <a:alpha val="10000"/>
              </a:srgbClr>
            </a:outerShdw>
          </a:effectLst>
        </p:spPr>
      </p:sp>
      <p:sp>
        <p:nvSpPr>
          <p:cNvPr id="107" name="Text 107"/>
          <p:cNvSpPr/>
          <p:nvPr/>
        </p:nvSpPr>
        <p:spPr>
          <a:xfrm>
            <a:off x="6042512" y="994686"/>
            <a:ext cx="3071007" cy="3237213"/>
          </a:xfrm>
          <a:prstGeom prst="rect">
            <a:avLst/>
          </a:prstGeom>
          <a:noFill/>
          <a:ln/>
        </p:spPr>
        <p:txBody>
          <a:bodyPr wrap="square" lIns="137160" tIns="91440" rIns="137160" bIns="45720" rtlCol="0" anchor="t"/>
          <a:lstStyle/>
          <a:p>
            <a:pPr marL="0" indent="0">
              <a:buNone/>
            </a:pPr>
            <a:r>
              <a:rPr lang="en-US" sz="1250" b="1" dirty="0">
                <a:solidFill>
                  <a:srgbClr val="16A34A"/>
                </a:solidFill>
                <a:latin typeface="Cambria"/>
                <a:ea typeface="Cambria"/>
                <a:cs typeface="Cambria"/>
              </a:rPr>
              <a:t>Hyperspectral (HSI)</a:t>
            </a:r>
          </a:p>
          <a:p>
            <a:pPr marL="182880" indent="-182880">
              <a:buFont typeface="Arial"/>
              <a:buChar char="•"/>
            </a:pPr>
            <a:r>
              <a:rPr lang="en-US" sz="1200" dirty="0">
                <a:solidFill>
                  <a:srgbClr val="111111"/>
                </a:solidFill>
                <a:latin typeface="Calibri"/>
                <a:ea typeface="Calibri"/>
                <a:cs typeface="Calibri"/>
              </a:rPr>
              <a:t>100–200+ contiguous spectral bands</a:t>
            </a:r>
          </a:p>
          <a:p>
            <a:pPr marL="182880" indent="-182880">
              <a:buFont typeface="Arial"/>
              <a:buChar char="•"/>
            </a:pPr>
            <a:r>
              <a:rPr lang="en-US" sz="1200" dirty="0">
                <a:solidFill>
                  <a:srgbClr val="111111"/>
                </a:solidFill>
                <a:latin typeface="Calibri"/>
                <a:ea typeface="Calibri"/>
                <a:cs typeface="Calibri"/>
              </a:rPr>
              <a:t>A continuous spectrum captured per pixel, across a wide wavelength range</a:t>
            </a:r>
          </a:p>
          <a:p>
            <a:pPr marL="182880" indent="-182880">
              <a:buFont typeface="Arial"/>
              <a:buChar char="•"/>
            </a:pPr>
            <a:r>
              <a:rPr lang="en-US" sz="1200" dirty="0">
                <a:solidFill>
                  <a:srgbClr val="111111"/>
                </a:solidFill>
                <a:latin typeface="Calibri"/>
                <a:ea typeface="Calibri"/>
                <a:cs typeface="Calibri"/>
              </a:rPr>
              <a:t>Generates unique spectral signatures for materials</a:t>
            </a:r>
          </a:p>
          <a:p>
            <a:pPr marL="182880" indent="-182880">
              <a:buFont typeface="Arial"/>
              <a:buChar char="•"/>
            </a:pPr>
            <a:r>
              <a:rPr lang="en-US" sz="1200" dirty="0">
                <a:solidFill>
                  <a:srgbClr val="111111"/>
                </a:solidFill>
                <a:latin typeface="Calibri"/>
                <a:ea typeface="Calibri"/>
                <a:cs typeface="Calibri"/>
              </a:rPr>
              <a:t>Precise identification of minerals, crops, soils, vegetation stress, urban materials</a:t>
            </a:r>
          </a:p>
          <a:p>
            <a:pPr marL="182880" indent="-182880">
              <a:buFont typeface="Arial"/>
              <a:buChar char="•"/>
            </a:pPr>
            <a:r>
              <a:rPr lang="en-US" sz="1200" dirty="0">
                <a:solidFill>
                  <a:srgbClr val="111111"/>
                </a:solidFill>
                <a:latin typeface="Calibri"/>
                <a:ea typeface="Calibri"/>
                <a:cs typeface="Calibri"/>
              </a:rPr>
              <a:t>Richest spatial–spectral information — used by KAN-</a:t>
            </a:r>
            <a:r>
              <a:rPr lang="en-US" sz="1200" dirty="0" err="1">
                <a:solidFill>
                  <a:srgbClr val="111111"/>
                </a:solidFill>
                <a:latin typeface="Calibri"/>
                <a:ea typeface="Calibri"/>
                <a:cs typeface="Calibri"/>
              </a:rPr>
              <a:t>DiffCausal</a:t>
            </a:r>
            <a:r>
              <a:rPr lang="en-US" sz="1200" dirty="0">
                <a:solidFill>
                  <a:srgbClr val="111111"/>
                </a:solidFill>
                <a:latin typeface="Calibri"/>
                <a:ea typeface="Calibri"/>
                <a:cs typeface="Calibri"/>
              </a:rPr>
              <a:t> (Pavia University, 103 bands)</a:t>
            </a:r>
          </a:p>
        </p:txBody>
      </p:sp>
      <p:pic>
        <p:nvPicPr>
          <p:cNvPr id="200" name="RGB Image"/>
          <p:cNvPicPr>
            <a:picLocks noChangeAspect="1"/>
          </p:cNvPicPr>
          <p:nvPr/>
        </p:nvPicPr>
        <p:blipFill>
          <a:blip r:embed="rId2"/>
          <a:srcRect t="20000" b="27671"/>
          <a:stretch>
            <a:fillRect/>
          </a:stretch>
        </p:blipFill>
        <p:spPr>
          <a:xfrm>
            <a:off x="216334" y="3128129"/>
            <a:ext cx="2770057" cy="1523814"/>
          </a:xfrm>
          <a:prstGeom prst="rect">
            <a:avLst/>
          </a:prstGeom>
        </p:spPr>
      </p:pic>
      <p:pic>
        <p:nvPicPr>
          <p:cNvPr id="201" name="Multispectral Image"/>
          <p:cNvPicPr>
            <a:picLocks noChangeAspect="1"/>
          </p:cNvPicPr>
          <p:nvPr/>
        </p:nvPicPr>
        <p:blipFill>
          <a:blip r:embed="rId3"/>
          <a:stretch>
            <a:fillRect/>
          </a:stretch>
        </p:blipFill>
        <p:spPr>
          <a:xfrm>
            <a:off x="4537164" y="3160789"/>
            <a:ext cx="1506589" cy="1376683"/>
          </a:xfrm>
          <a:prstGeom prst="rect">
            <a:avLst/>
          </a:prstGeom>
        </p:spPr>
      </p:pic>
      <p:pic>
        <p:nvPicPr>
          <p:cNvPr id="202" name="Hyperspectral Image"/>
          <p:cNvPicPr>
            <a:picLocks noChangeAspect="1"/>
          </p:cNvPicPr>
          <p:nvPr/>
        </p:nvPicPr>
        <p:blipFill>
          <a:blip r:embed="rId4"/>
          <a:srcRect l="-766" t="1265" b="184"/>
          <a:stretch>
            <a:fillRect/>
          </a:stretch>
        </p:blipFill>
        <p:spPr>
          <a:xfrm>
            <a:off x="7567484" y="3172762"/>
            <a:ext cx="1365965" cy="1356734"/>
          </a:xfrm>
          <a:prstGeom prst="rect">
            <a:avLst/>
          </a:prstGeom>
        </p:spPr>
      </p:pic>
      <p:pic>
        <p:nvPicPr>
          <p:cNvPr id="4" name="Picture 3" descr="Several pictures of a family&#10;&#10;AI-generated content may be incorrect.">
            <a:extLst>
              <a:ext uri="{FF2B5EF4-FFF2-40B4-BE49-F238E27FC236}">
                <a16:creationId xmlns:a16="http://schemas.microsoft.com/office/drawing/2014/main" id="{28557B25-6F48-DD38-8AAE-D76B61901F65}"/>
              </a:ext>
            </a:extLst>
          </p:cNvPr>
          <p:cNvPicPr>
            <a:picLocks noChangeAspect="1"/>
          </p:cNvPicPr>
          <p:nvPr/>
        </p:nvPicPr>
        <p:blipFill>
          <a:blip r:embed="rId5"/>
          <a:stretch>
            <a:fillRect/>
          </a:stretch>
        </p:blipFill>
        <p:spPr>
          <a:xfrm>
            <a:off x="3212646" y="3156176"/>
            <a:ext cx="1396093" cy="1367519"/>
          </a:xfrm>
          <a:prstGeom prst="rect">
            <a:avLst/>
          </a:prstGeom>
        </p:spPr>
      </p:pic>
      <p:pic>
        <p:nvPicPr>
          <p:cNvPr id="5" name="Picture 4" descr="A colorful cube with a white strip&#10;&#10;AI-generated content may be incorrect.">
            <a:extLst>
              <a:ext uri="{FF2B5EF4-FFF2-40B4-BE49-F238E27FC236}">
                <a16:creationId xmlns:a16="http://schemas.microsoft.com/office/drawing/2014/main" id="{DC40293D-7FBE-3333-33F2-10B5C57C6C2B}"/>
              </a:ext>
            </a:extLst>
          </p:cNvPr>
          <p:cNvPicPr>
            <a:picLocks noChangeAspect="1"/>
          </p:cNvPicPr>
          <p:nvPr/>
        </p:nvPicPr>
        <p:blipFill>
          <a:blip r:embed="rId6"/>
          <a:stretch>
            <a:fillRect/>
          </a:stretch>
        </p:blipFill>
        <p:spPr>
          <a:xfrm>
            <a:off x="6191250" y="3239182"/>
            <a:ext cx="1262743" cy="1375681"/>
          </a:xfrm>
          <a:prstGeom prst="rect">
            <a:avLst/>
          </a:prstGeom>
        </p:spPr>
      </p:pic>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17">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9144000" cy="594360"/>
          </a:xfrm>
          <a:prstGeom prst="rect">
            <a:avLst/>
          </a:prstGeom>
          <a:solidFill>
            <a:srgbClr val="1A2E4A"/>
          </a:solidFill>
          <a:ln w="12700">
            <a:solidFill>
              <a:srgbClr val="1A2E4A"/>
            </a:solidFill>
            <a:prstDash val="solid"/>
          </a:ln>
        </p:spPr>
      </p:sp>
      <p:sp>
        <p:nvSpPr>
          <p:cNvPr id="3" name="Text 1"/>
          <p:cNvSpPr/>
          <p:nvPr/>
        </p:nvSpPr>
        <p:spPr>
          <a:xfrm>
            <a:off x="457200" y="45720"/>
            <a:ext cx="8229600" cy="502920"/>
          </a:xfrm>
          <a:prstGeom prst="rect">
            <a:avLst/>
          </a:prstGeom>
          <a:noFill/>
          <a:ln/>
        </p:spPr>
        <p:txBody>
          <a:bodyPr wrap="square" lIns="0" tIns="0" rIns="0" bIns="0" rtlCol="0" anchor="ctr"/>
          <a:lstStyle/>
          <a:p>
            <a:pPr marL="0" indent="0" algn="l">
              <a:buNone/>
            </a:pPr>
            <a:r>
              <a:rPr lang="en-US" sz="2600" b="1" dirty="0">
                <a:solidFill>
                  <a:srgbClr val="FFFFFF"/>
                </a:solidFill>
                <a:latin typeface="Cambria" pitchFamily="34" charset="0"/>
                <a:ea typeface="Cambria" pitchFamily="34" charset="-122"/>
                <a:cs typeface="Cambria" pitchFamily="34" charset="-120"/>
              </a:rPr>
              <a:t>The Core Problem — Spatial–Spectral Tradeoff</a:t>
            </a:r>
            <a:endParaRPr lang="en-US" sz="2600" dirty="0"/>
          </a:p>
        </p:txBody>
      </p:sp>
      <p:sp>
        <p:nvSpPr>
          <p:cNvPr id="109" name="Shape 109"/>
          <p:cNvSpPr/>
          <p:nvPr/>
        </p:nvSpPr>
        <p:spPr>
          <a:xfrm>
            <a:off x="433251" y="1017214"/>
            <a:ext cx="3978229" cy="1907643"/>
          </a:xfrm>
          <a:prstGeom prst="roundRect">
            <a:avLst>
              <a:gd name="adj" fmla="val 6667"/>
            </a:avLst>
          </a:prstGeom>
          <a:solidFill>
            <a:srgbClr val="FFFFFF"/>
          </a:solidFill>
          <a:ln w="19050">
            <a:solidFill>
              <a:srgbClr val="DC2626"/>
            </a:solidFill>
            <a:prstDash val="solid"/>
          </a:ln>
          <a:effectLst>
            <a:outerShdw blurRad="101600" dist="25400" dir="2700000" algn="bl" rotWithShape="0">
              <a:srgbClr val="000000">
                <a:alpha val="10000"/>
              </a:srgbClr>
            </a:outerShdw>
          </a:effectLst>
        </p:spPr>
      </p:sp>
      <p:sp>
        <p:nvSpPr>
          <p:cNvPr id="110" name="Text 110"/>
          <p:cNvSpPr/>
          <p:nvPr/>
        </p:nvSpPr>
        <p:spPr>
          <a:xfrm>
            <a:off x="411480" y="1060000"/>
            <a:ext cx="4000000" cy="3912128"/>
          </a:xfrm>
          <a:prstGeom prst="rect">
            <a:avLst/>
          </a:prstGeom>
          <a:noFill/>
          <a:ln/>
        </p:spPr>
        <p:txBody>
          <a:bodyPr wrap="square" lIns="137160" tIns="91440" rIns="137160" bIns="45720" rtlCol="0" anchor="t"/>
          <a:lstStyle/>
          <a:p>
            <a:pPr marL="0" indent="0">
              <a:buNone/>
            </a:pPr>
            <a:r>
              <a:rPr lang="en-US" sz="1300" b="1" dirty="0">
                <a:solidFill>
                  <a:srgbClr val="DC2626"/>
                </a:solidFill>
                <a:latin typeface="Cambria"/>
                <a:ea typeface="Cambria"/>
                <a:cs typeface="Cambria"/>
              </a:rPr>
              <a:t>The Spatial–Spectral Tradeoff</a:t>
            </a:r>
          </a:p>
          <a:p>
            <a:pPr marL="182880" indent="-182880">
              <a:buFont typeface="Arial"/>
              <a:buChar char="•"/>
            </a:pPr>
            <a:r>
              <a:rPr lang="en-US" sz="1200" dirty="0">
                <a:solidFill>
                  <a:srgbClr val="111111"/>
                </a:solidFill>
                <a:latin typeface="Calibri"/>
                <a:ea typeface="Calibri"/>
                <a:cs typeface="Calibri"/>
              </a:rPr>
              <a:t>Increasing spectral resolution reduces spatial detail</a:t>
            </a:r>
          </a:p>
          <a:p>
            <a:pPr marL="182880" indent="-182880">
              <a:buFont typeface="Arial"/>
              <a:buChar char="•"/>
            </a:pPr>
            <a:r>
              <a:rPr lang="en-US" sz="1200" dirty="0">
                <a:solidFill>
                  <a:srgbClr val="111111"/>
                </a:solidFill>
                <a:latin typeface="Calibri"/>
                <a:ea typeface="Calibri"/>
                <a:cs typeface="Calibri"/>
              </a:rPr>
              <a:t>Increasing spatial resolution compromises spectral fidelity</a:t>
            </a:r>
          </a:p>
          <a:p>
            <a:pPr marL="182880" indent="-182880">
              <a:buFont typeface="Arial"/>
              <a:buChar char="•"/>
            </a:pPr>
            <a:r>
              <a:rPr lang="en-US" sz="1200" dirty="0">
                <a:solidFill>
                  <a:srgbClr val="111111"/>
                </a:solidFill>
                <a:latin typeface="Calibri"/>
                <a:ea typeface="Calibri"/>
                <a:cs typeface="Calibri"/>
              </a:rPr>
              <a:t>Hardware limitations make both simultaneously unachievable</a:t>
            </a:r>
          </a:p>
          <a:p>
            <a:pPr marL="182880" indent="-182880">
              <a:buFont typeface="Arial"/>
              <a:buChar char="•"/>
            </a:pPr>
            <a:r>
              <a:rPr lang="en-US" sz="1200" b="1" dirty="0">
                <a:solidFill>
                  <a:srgbClr val="DC2626"/>
                </a:solidFill>
                <a:latin typeface="Cambria"/>
                <a:ea typeface="Cambria"/>
                <a:cs typeface="Cambria"/>
              </a:rPr>
              <a:t>Spatial ↑ → Spectral ↓</a:t>
            </a:r>
          </a:p>
          <a:p>
            <a:pPr marL="182880" indent="-182880">
              <a:buFont typeface="Arial"/>
              <a:buChar char="•"/>
            </a:pPr>
            <a:r>
              <a:rPr lang="en-US" sz="1200" b="1" dirty="0">
                <a:solidFill>
                  <a:srgbClr val="DC2626"/>
                </a:solidFill>
                <a:latin typeface="Cambria"/>
                <a:ea typeface="Cambria"/>
                <a:cs typeface="Cambria"/>
              </a:rPr>
              <a:t>Spectral ↑ → Spatial ↓</a:t>
            </a:r>
          </a:p>
          <a:p>
            <a:pPr marL="182880" indent="-182880">
              <a:buFont typeface="Arial"/>
              <a:buChar char="•"/>
            </a:pPr>
            <a:r>
              <a:rPr lang="en-US" sz="1200" i="1" dirty="0">
                <a:solidFill>
                  <a:srgbClr val="111111"/>
                </a:solidFill>
                <a:latin typeface="Calibri"/>
                <a:ea typeface="Calibri"/>
                <a:cs typeface="Calibri"/>
              </a:rPr>
              <a:t>An inversely proportional relationship</a:t>
            </a:r>
          </a:p>
        </p:txBody>
      </p:sp>
      <p:sp>
        <p:nvSpPr>
          <p:cNvPr id="111" name="Shape 111"/>
          <p:cNvSpPr/>
          <p:nvPr/>
        </p:nvSpPr>
        <p:spPr>
          <a:xfrm>
            <a:off x="414022" y="3150814"/>
            <a:ext cx="4002312" cy="1560000"/>
          </a:xfrm>
          <a:prstGeom prst="roundRect">
            <a:avLst>
              <a:gd name="adj" fmla="val 6667"/>
            </a:avLst>
          </a:prstGeom>
          <a:solidFill>
            <a:srgbClr val="FFFFFF"/>
          </a:solidFill>
          <a:ln w="19050">
            <a:solidFill>
              <a:srgbClr val="EA580C"/>
            </a:solidFill>
            <a:prstDash val="solid"/>
          </a:ln>
          <a:effectLst>
            <a:outerShdw blurRad="101600" dist="25400" dir="2700000" algn="bl" rotWithShape="0">
              <a:srgbClr val="000000">
                <a:alpha val="10000"/>
              </a:srgbClr>
            </a:outerShdw>
          </a:effectLst>
        </p:spPr>
      </p:sp>
      <p:sp>
        <p:nvSpPr>
          <p:cNvPr id="112" name="Text 112"/>
          <p:cNvSpPr/>
          <p:nvPr/>
        </p:nvSpPr>
        <p:spPr>
          <a:xfrm>
            <a:off x="397694" y="3150943"/>
            <a:ext cx="4171040" cy="1440000"/>
          </a:xfrm>
          <a:prstGeom prst="rect">
            <a:avLst/>
          </a:prstGeom>
          <a:noFill/>
          <a:ln/>
        </p:spPr>
        <p:txBody>
          <a:bodyPr wrap="square" lIns="137160" tIns="91440" rIns="137160" bIns="45720" rtlCol="0" anchor="t"/>
          <a:lstStyle/>
          <a:p>
            <a:pPr marL="0" indent="0">
              <a:buNone/>
            </a:pPr>
            <a:r>
              <a:rPr lang="en-US" sz="1300" b="1" dirty="0">
                <a:solidFill>
                  <a:srgbClr val="EA580C"/>
                </a:solidFill>
                <a:latin typeface="Cambria"/>
                <a:ea typeface="Cambria"/>
                <a:cs typeface="Cambria"/>
              </a:rPr>
              <a:t>The Impact</a:t>
            </a:r>
          </a:p>
          <a:p>
            <a:pPr marL="114300" indent="-114300">
              <a:buFont typeface="Arial"/>
              <a:buChar char="•"/>
            </a:pPr>
            <a:r>
              <a:rPr lang="en-US" sz="1200">
                <a:solidFill>
                  <a:srgbClr val="111111"/>
                </a:solidFill>
                <a:ea typeface="+mn-lt"/>
                <a:cs typeface="+mn-lt"/>
              </a:rPr>
              <a:t>Loss of critical spatial detail</a:t>
            </a:r>
          </a:p>
          <a:p>
            <a:pPr marL="114300" indent="-114300">
              <a:buFont typeface="Arial"/>
              <a:buChar char="•"/>
            </a:pPr>
            <a:r>
              <a:rPr lang="en-US" sz="1200">
                <a:solidFill>
                  <a:srgbClr val="111111"/>
                </a:solidFill>
                <a:ea typeface="+mn-lt"/>
                <a:cs typeface="+mn-lt"/>
              </a:rPr>
              <a:t>Reduced scene understanding</a:t>
            </a:r>
            <a:endParaRPr lang="en-US">
              <a:ea typeface="+mn-lt"/>
              <a:cs typeface="+mn-lt"/>
            </a:endParaRPr>
          </a:p>
          <a:p>
            <a:pPr marL="114300" indent="-114300">
              <a:buFont typeface="Arial"/>
              <a:buChar char="•"/>
            </a:pPr>
            <a:r>
              <a:rPr lang="en-US" sz="1200">
                <a:solidFill>
                  <a:srgbClr val="111111"/>
                </a:solidFill>
                <a:ea typeface="+mn-lt"/>
                <a:cs typeface="+mn-lt"/>
              </a:rPr>
              <a:t>Net information loss for downstream tasks</a:t>
            </a:r>
            <a:endParaRPr lang="en-US">
              <a:ea typeface="+mn-lt"/>
              <a:cs typeface="+mn-lt"/>
            </a:endParaRPr>
          </a:p>
          <a:p>
            <a:pPr marL="114300" indent="-114300">
              <a:buFont typeface="Arial"/>
              <a:buChar char="•"/>
            </a:pPr>
            <a:r>
              <a:rPr lang="en-US" sz="1200">
                <a:solidFill>
                  <a:srgbClr val="111111"/>
                </a:solidFill>
                <a:ea typeface="+mn-lt"/>
                <a:cs typeface="+mn-lt"/>
              </a:rPr>
              <a:t>Mixed pixels at material boundaries</a:t>
            </a:r>
            <a:endParaRPr lang="en-US">
              <a:ea typeface="Calibri" panose="020F0502020204030204"/>
              <a:cs typeface="Calibri" panose="020F0502020204030204"/>
            </a:endParaRPr>
          </a:p>
          <a:p>
            <a:pPr marL="114300" indent="-114300">
              <a:buFont typeface="Arial"/>
              <a:buChar char="•"/>
            </a:pPr>
            <a:r>
              <a:rPr lang="en-US" sz="1200">
                <a:solidFill>
                  <a:srgbClr val="111111"/>
                </a:solidFill>
                <a:ea typeface="+mn-lt"/>
                <a:cs typeface="+mn-lt"/>
              </a:rPr>
              <a:t>Small or narrow objects vanish entirely</a:t>
            </a:r>
            <a:endParaRPr lang="en-US">
              <a:ea typeface="Calibri" panose="020F0502020204030204"/>
              <a:cs typeface="Calibri" panose="020F0502020204030204"/>
            </a:endParaRPr>
          </a:p>
          <a:p>
            <a:pPr marL="114300" indent="-114300">
              <a:buFont typeface="Arial"/>
              <a:buChar char="•"/>
            </a:pPr>
            <a:r>
              <a:rPr lang="en-US" sz="1200">
                <a:solidFill>
                  <a:srgbClr val="111111"/>
                </a:solidFill>
                <a:ea typeface="+mn-lt"/>
                <a:cs typeface="+mn-lt"/>
              </a:rPr>
              <a:t>Higher classification and segmentation errors</a:t>
            </a:r>
            <a:endParaRPr lang="en-US">
              <a:ea typeface="Calibri" panose="020F0502020204030204"/>
              <a:cs typeface="Calibri" panose="020F0502020204030204"/>
            </a:endParaRPr>
          </a:p>
          <a:p>
            <a:endParaRPr lang="en-US" sz="1200" dirty="0">
              <a:solidFill>
                <a:srgbClr val="111111"/>
              </a:solidFill>
              <a:ea typeface="Calibri"/>
              <a:cs typeface="Calibri"/>
            </a:endParaRPr>
          </a:p>
          <a:p>
            <a:pPr marL="182880" indent="-182880">
              <a:buFont typeface="Arial"/>
              <a:buChar char="•"/>
            </a:pPr>
            <a:endParaRPr lang="en-US" sz="1200" dirty="0">
              <a:solidFill>
                <a:srgbClr val="111111"/>
              </a:solidFill>
              <a:latin typeface="Calibri"/>
              <a:ea typeface="Calibri"/>
              <a:cs typeface="Calibri"/>
            </a:endParaRPr>
          </a:p>
        </p:txBody>
      </p:sp>
      <p:sp>
        <p:nvSpPr>
          <p:cNvPr id="113" name="Shape 113"/>
          <p:cNvSpPr/>
          <p:nvPr/>
        </p:nvSpPr>
        <p:spPr>
          <a:xfrm>
            <a:off x="4675780" y="1018157"/>
            <a:ext cx="4171040" cy="1640000"/>
          </a:xfrm>
          <a:prstGeom prst="roundRect">
            <a:avLst>
              <a:gd name="adj" fmla="val 6667"/>
            </a:avLst>
          </a:prstGeom>
          <a:solidFill>
            <a:srgbClr val="FFFFFF"/>
          </a:solidFill>
          <a:ln w="19050">
            <a:solidFill>
              <a:srgbClr val="16A34A"/>
            </a:solidFill>
            <a:prstDash val="solid"/>
          </a:ln>
          <a:effectLst>
            <a:outerShdw blurRad="101600" dist="25400" dir="2700000" algn="bl" rotWithShape="0">
              <a:srgbClr val="000000">
                <a:alpha val="10000"/>
              </a:srgbClr>
            </a:outerShdw>
          </a:effectLst>
        </p:spPr>
      </p:sp>
      <p:sp>
        <p:nvSpPr>
          <p:cNvPr id="114" name="Text 114"/>
          <p:cNvSpPr/>
          <p:nvPr/>
        </p:nvSpPr>
        <p:spPr>
          <a:xfrm>
            <a:off x="4675780" y="1099929"/>
            <a:ext cx="3920669" cy="1471015"/>
          </a:xfrm>
          <a:prstGeom prst="rect">
            <a:avLst/>
          </a:prstGeom>
          <a:noFill/>
          <a:ln/>
        </p:spPr>
        <p:txBody>
          <a:bodyPr wrap="square" lIns="137160" tIns="91440" rIns="137160" bIns="45720" rtlCol="0" anchor="t"/>
          <a:lstStyle/>
          <a:p>
            <a:pPr marL="0" indent="0">
              <a:buNone/>
            </a:pPr>
            <a:r>
              <a:rPr lang="en-US" sz="1300" b="1" dirty="0">
                <a:solidFill>
                  <a:srgbClr val="16A34A"/>
                </a:solidFill>
                <a:latin typeface="Cambria"/>
                <a:ea typeface="Cambria"/>
                <a:cs typeface="Cambria"/>
              </a:rPr>
              <a:t>The Solution: Image Super-Resolution</a:t>
            </a:r>
          </a:p>
          <a:p>
            <a:pPr marL="182880" indent="-182880">
              <a:buFont typeface="Arial"/>
              <a:buChar char="•"/>
            </a:pPr>
            <a:r>
              <a:rPr lang="en-US" sz="1200" dirty="0">
                <a:solidFill>
                  <a:srgbClr val="111111"/>
                </a:solidFill>
                <a:latin typeface="Calibri"/>
                <a:ea typeface="Calibri"/>
                <a:cs typeface="Calibri"/>
              </a:rPr>
              <a:t>Reconstruct high-resolution images</a:t>
            </a:r>
          </a:p>
          <a:p>
            <a:pPr marL="182880" indent="-182880">
              <a:buFont typeface="Arial"/>
              <a:buChar char="•"/>
            </a:pPr>
            <a:r>
              <a:rPr lang="en-US" sz="1200" dirty="0">
                <a:solidFill>
                  <a:srgbClr val="111111"/>
                </a:solidFill>
                <a:latin typeface="Calibri"/>
                <a:ea typeface="Calibri"/>
                <a:cs typeface="Calibri"/>
              </a:rPr>
              <a:t>Recover fine spatial structures</a:t>
            </a:r>
          </a:p>
          <a:p>
            <a:pPr marL="182880" indent="-182880">
              <a:buFont typeface="Arial"/>
              <a:buChar char="•"/>
            </a:pPr>
            <a:r>
              <a:rPr lang="en-US" sz="1200" dirty="0">
                <a:solidFill>
                  <a:srgbClr val="111111"/>
                </a:solidFill>
                <a:latin typeface="Calibri"/>
                <a:ea typeface="Calibri"/>
                <a:cs typeface="Calibri"/>
              </a:rPr>
              <a:t>Preserve spectral fidelity</a:t>
            </a:r>
          </a:p>
          <a:p>
            <a:pPr marL="182880" indent="-182880">
              <a:buFont typeface="Arial"/>
              <a:buChar char="•"/>
            </a:pPr>
            <a:r>
              <a:rPr lang="en-US" sz="1200" dirty="0">
                <a:solidFill>
                  <a:srgbClr val="111111"/>
                </a:solidFill>
                <a:latin typeface="Calibri"/>
                <a:ea typeface="Calibri"/>
                <a:cs typeface="Calibri"/>
              </a:rPr>
              <a:t>This is exactly what KAN-</a:t>
            </a:r>
            <a:r>
              <a:rPr lang="en-US" sz="1200" dirty="0" err="1">
                <a:solidFill>
                  <a:srgbClr val="111111"/>
                </a:solidFill>
                <a:latin typeface="Calibri"/>
                <a:ea typeface="Calibri"/>
                <a:cs typeface="Calibri"/>
              </a:rPr>
              <a:t>DiffCausal</a:t>
            </a:r>
            <a:r>
              <a:rPr lang="en-US" sz="1200" dirty="0">
                <a:solidFill>
                  <a:srgbClr val="111111"/>
                </a:solidFill>
                <a:latin typeface="Calibri"/>
                <a:ea typeface="Calibri"/>
                <a:cs typeface="Calibri"/>
              </a:rPr>
              <a:t> targets — extended with diffusion refinement, causal explainability, and adaptive spectral rank.</a:t>
            </a:r>
          </a:p>
        </p:txBody>
      </p:sp>
      <p:pic>
        <p:nvPicPr>
          <p:cNvPr id="5" name="Picture 4" descr="A aerial view of a neighborhood&#10;&#10;AI-generated content may be incorrect.">
            <a:extLst>
              <a:ext uri="{FF2B5EF4-FFF2-40B4-BE49-F238E27FC236}">
                <a16:creationId xmlns:a16="http://schemas.microsoft.com/office/drawing/2014/main" id="{F36DC228-D118-D6C8-2190-718208ECB3A3}"/>
              </a:ext>
            </a:extLst>
          </p:cNvPr>
          <p:cNvPicPr>
            <a:picLocks noChangeAspect="1"/>
          </p:cNvPicPr>
          <p:nvPr/>
        </p:nvPicPr>
        <p:blipFill>
          <a:blip r:embed="rId2"/>
          <a:stretch>
            <a:fillRect/>
          </a:stretch>
        </p:blipFill>
        <p:spPr>
          <a:xfrm>
            <a:off x="4482874" y="2862264"/>
            <a:ext cx="2279197" cy="2020661"/>
          </a:xfrm>
          <a:prstGeom prst="rect">
            <a:avLst/>
          </a:prstGeom>
        </p:spPr>
      </p:pic>
      <p:pic>
        <p:nvPicPr>
          <p:cNvPr id="6" name="Picture 5" descr="A close-up of a map&#10;&#10;AI-generated content may be incorrect.">
            <a:extLst>
              <a:ext uri="{FF2B5EF4-FFF2-40B4-BE49-F238E27FC236}">
                <a16:creationId xmlns:a16="http://schemas.microsoft.com/office/drawing/2014/main" id="{01758089-4D03-948A-A47C-E533EE37AB58}"/>
              </a:ext>
            </a:extLst>
          </p:cNvPr>
          <p:cNvPicPr>
            <a:picLocks noChangeAspect="1"/>
          </p:cNvPicPr>
          <p:nvPr/>
        </p:nvPicPr>
        <p:blipFill>
          <a:blip r:embed="rId3"/>
          <a:stretch>
            <a:fillRect/>
          </a:stretch>
        </p:blipFill>
        <p:spPr>
          <a:xfrm>
            <a:off x="6759348" y="2862263"/>
            <a:ext cx="2271033" cy="2026104"/>
          </a:xfrm>
          <a:prstGeom prst="rect">
            <a:avLst/>
          </a:prstGeom>
        </p:spPr>
      </p:pic>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3">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9144000" cy="594360"/>
          </a:xfrm>
          <a:prstGeom prst="rect">
            <a:avLst/>
          </a:prstGeom>
          <a:solidFill>
            <a:srgbClr val="1A2E4A"/>
          </a:solidFill>
          <a:ln w="12700">
            <a:solidFill>
              <a:srgbClr val="1A2E4A"/>
            </a:solidFill>
            <a:prstDash val="solid"/>
          </a:ln>
        </p:spPr>
      </p:sp>
      <p:sp>
        <p:nvSpPr>
          <p:cNvPr id="3" name="Text 1"/>
          <p:cNvSpPr/>
          <p:nvPr/>
        </p:nvSpPr>
        <p:spPr>
          <a:xfrm>
            <a:off x="457200" y="45720"/>
            <a:ext cx="8229600" cy="502920"/>
          </a:xfrm>
          <a:prstGeom prst="rect">
            <a:avLst/>
          </a:prstGeom>
          <a:noFill/>
          <a:ln/>
        </p:spPr>
        <p:txBody>
          <a:bodyPr wrap="square" lIns="0" tIns="0" rIns="0" bIns="0" rtlCol="0" anchor="ctr"/>
          <a:lstStyle/>
          <a:p>
            <a:pPr marL="0" indent="0" algn="l">
              <a:buNone/>
            </a:pPr>
            <a:r>
              <a:rPr lang="en-US" sz="2600" b="1" dirty="0">
                <a:solidFill>
                  <a:srgbClr val="FFFFFF"/>
                </a:solidFill>
                <a:latin typeface="Cambria" pitchFamily="34" charset="0"/>
                <a:ea typeface="Cambria" pitchFamily="34" charset="-122"/>
                <a:cs typeface="Cambria" pitchFamily="34" charset="-120"/>
              </a:rPr>
              <a:t>Foundation: KAN vs FastKAN</a:t>
            </a:r>
            <a:endParaRPr lang="en-US" sz="2600" dirty="0"/>
          </a:p>
        </p:txBody>
      </p:sp>
      <p:sp>
        <p:nvSpPr>
          <p:cNvPr id="4" name="Text 2"/>
          <p:cNvSpPr/>
          <p:nvPr/>
        </p:nvSpPr>
        <p:spPr>
          <a:xfrm>
            <a:off x="318951" y="593271"/>
            <a:ext cx="8321040" cy="320040"/>
          </a:xfrm>
          <a:prstGeom prst="rect">
            <a:avLst/>
          </a:prstGeom>
          <a:noFill/>
          <a:ln/>
        </p:spPr>
        <p:txBody>
          <a:bodyPr wrap="square" lIns="91440" tIns="45720" rIns="91440" bIns="45720" rtlCol="0" anchor="ctr"/>
          <a:lstStyle/>
          <a:p>
            <a:pPr marL="114300" indent="-114300">
              <a:buFont typeface="Arial"/>
              <a:buChar char="•"/>
            </a:pPr>
            <a:r>
              <a:rPr lang="en-US" sz="1400" b="1" dirty="0">
                <a:solidFill>
                  <a:srgbClr val="1A2E4A"/>
                </a:solidFill>
                <a:latin typeface="Cambria"/>
                <a:ea typeface="Cambria"/>
                <a:cs typeface="Cambria" pitchFamily="34" charset="-120"/>
              </a:rPr>
              <a:t>What is a KAN (Kolmogorov–Arnold Network)?</a:t>
            </a:r>
            <a:endParaRPr lang="en-US" sz="1400">
              <a:latin typeface="Cambria"/>
              <a:ea typeface="Cambria"/>
              <a:cs typeface="Calibri"/>
            </a:endParaRPr>
          </a:p>
        </p:txBody>
      </p:sp>
      <p:sp>
        <p:nvSpPr>
          <p:cNvPr id="5" name="Text 3"/>
          <p:cNvSpPr/>
          <p:nvPr/>
        </p:nvSpPr>
        <p:spPr>
          <a:xfrm>
            <a:off x="411480" y="1005840"/>
            <a:ext cx="8321040" cy="685800"/>
          </a:xfrm>
          <a:prstGeom prst="rect">
            <a:avLst/>
          </a:prstGeom>
          <a:noFill/>
          <a:ln/>
        </p:spPr>
        <p:txBody>
          <a:bodyPr wrap="square" lIns="91440" tIns="45720" rIns="91440" bIns="45720" rtlCol="0" anchor="ctr"/>
          <a:lstStyle/>
          <a:p>
            <a:pPr marL="0" indent="0">
              <a:buNone/>
            </a:pPr>
            <a:r>
              <a:rPr lang="en-US" sz="1200" dirty="0">
                <a:solidFill>
                  <a:srgbClr val="111111"/>
                </a:solidFill>
                <a:latin typeface="Calibri"/>
                <a:ea typeface="Calibri"/>
                <a:cs typeface="Calibri"/>
              </a:rPr>
              <a:t>In a traditional MLP (Multi-Layer Perceptron), each neuron node applies a fixed nonlinear activation function (</a:t>
            </a:r>
            <a:r>
              <a:rPr lang="en-US" sz="1200" dirty="0" err="1">
                <a:solidFill>
                  <a:srgbClr val="111111"/>
                </a:solidFill>
                <a:latin typeface="Calibri"/>
                <a:ea typeface="Calibri"/>
                <a:cs typeface="Calibri"/>
              </a:rPr>
              <a:t>ReLU</a:t>
            </a:r>
            <a:r>
              <a:rPr lang="en-US" sz="1200" dirty="0">
                <a:solidFill>
                  <a:srgbClr val="111111"/>
                </a:solidFill>
                <a:latin typeface="Calibri"/>
                <a:ea typeface="Calibri"/>
                <a:cs typeface="Calibri"/>
              </a:rPr>
              <a:t>, </a:t>
            </a:r>
            <a:r>
              <a:rPr lang="en-US" sz="1200" dirty="0" err="1">
                <a:solidFill>
                  <a:srgbClr val="111111"/>
                </a:solidFill>
                <a:latin typeface="Calibri"/>
                <a:ea typeface="Calibri"/>
                <a:cs typeface="Calibri"/>
              </a:rPr>
              <a:t>SiLU</a:t>
            </a:r>
            <a:r>
              <a:rPr lang="en-US" sz="1200" dirty="0">
                <a:solidFill>
                  <a:srgbClr val="111111"/>
                </a:solidFill>
                <a:latin typeface="Calibri"/>
                <a:ea typeface="Calibri"/>
                <a:cs typeface="Calibri"/>
              </a:rPr>
              <a:t>). The network learns only the weights on the edges. A KAN flips this: the activation functions themselves are learnable, placed on the edges (connections) rather than the nodes. This is inspired by the Kolmogorov-Arnold representation theorem — any multivariate continuous function can be expressed as a composition of univariate functions. Each edge learns its own smooth curve, making KANs highly expressive and interpretable.</a:t>
            </a:r>
            <a:endParaRPr lang="en-US" sz="1200">
              <a:latin typeface="Calibri"/>
              <a:ea typeface="Calibri"/>
              <a:cs typeface="Calibri"/>
            </a:endParaRPr>
          </a:p>
        </p:txBody>
      </p:sp>
      <p:sp>
        <p:nvSpPr>
          <p:cNvPr id="7" name="Shape 5"/>
          <p:cNvSpPr/>
          <p:nvPr/>
        </p:nvSpPr>
        <p:spPr>
          <a:xfrm>
            <a:off x="287383" y="2086573"/>
            <a:ext cx="4271553" cy="2925863"/>
          </a:xfrm>
          <a:prstGeom prst="roundRect">
            <a:avLst>
              <a:gd name="adj" fmla="val 3810"/>
            </a:avLst>
          </a:prstGeom>
          <a:solidFill>
            <a:srgbClr val="F3F4F6"/>
          </a:solidFill>
          <a:ln w="19050">
            <a:solidFill>
              <a:srgbClr val="7C3AED"/>
            </a:solidFill>
            <a:prstDash val="solid"/>
          </a:ln>
        </p:spPr>
      </p:sp>
      <p:sp>
        <p:nvSpPr>
          <p:cNvPr id="8" name="Shape 6"/>
          <p:cNvSpPr/>
          <p:nvPr/>
        </p:nvSpPr>
        <p:spPr>
          <a:xfrm>
            <a:off x="292826" y="1955945"/>
            <a:ext cx="4276996" cy="316339"/>
          </a:xfrm>
          <a:prstGeom prst="roundRect">
            <a:avLst>
              <a:gd name="adj" fmla="val 23529"/>
            </a:avLst>
          </a:prstGeom>
          <a:solidFill>
            <a:srgbClr val="7C3AED"/>
          </a:solidFill>
          <a:ln w="12700">
            <a:solidFill>
              <a:srgbClr val="7C3AED"/>
            </a:solidFill>
            <a:prstDash val="solid"/>
          </a:ln>
        </p:spPr>
      </p:sp>
      <p:sp>
        <p:nvSpPr>
          <p:cNvPr id="9" name="Text 7"/>
          <p:cNvSpPr/>
          <p:nvPr/>
        </p:nvSpPr>
        <p:spPr>
          <a:xfrm>
            <a:off x="1712323" y="1950720"/>
            <a:ext cx="4023360" cy="256032"/>
          </a:xfrm>
          <a:prstGeom prst="rect">
            <a:avLst/>
          </a:prstGeom>
          <a:noFill/>
          <a:ln/>
        </p:spPr>
        <p:txBody>
          <a:bodyPr wrap="square" lIns="0" tIns="0" rIns="0" bIns="0" rtlCol="0" anchor="ctr"/>
          <a:lstStyle/>
          <a:p>
            <a:pPr marL="0" indent="0">
              <a:buNone/>
            </a:pPr>
            <a:r>
              <a:rPr lang="en-US" sz="1600" b="1" dirty="0">
                <a:solidFill>
                  <a:srgbClr val="FFFFFF"/>
                </a:solidFill>
                <a:latin typeface="Cambria"/>
                <a:ea typeface="Cambria"/>
                <a:cs typeface="Cambria" pitchFamily="34" charset="-120"/>
              </a:rPr>
              <a:t>Original KAN</a:t>
            </a:r>
            <a:endParaRPr lang="en-US" sz="1600">
              <a:latin typeface="Cambria"/>
              <a:ea typeface="Cambria"/>
              <a:cs typeface="Calibri"/>
            </a:endParaRPr>
          </a:p>
        </p:txBody>
      </p:sp>
      <p:sp>
        <p:nvSpPr>
          <p:cNvPr id="10" name="Text 8"/>
          <p:cNvSpPr/>
          <p:nvPr/>
        </p:nvSpPr>
        <p:spPr>
          <a:xfrm>
            <a:off x="253638" y="2455817"/>
            <a:ext cx="4069080" cy="1417320"/>
          </a:xfrm>
          <a:prstGeom prst="rect">
            <a:avLst/>
          </a:prstGeom>
          <a:noFill/>
          <a:ln/>
        </p:spPr>
        <p:txBody>
          <a:bodyPr wrap="square" lIns="91440" tIns="45720" rIns="91440" bIns="45720" rtlCol="0" anchor="ctr"/>
          <a:lstStyle/>
          <a:p>
            <a:pPr marL="114300" indent="-114300">
              <a:buSzPct val="100000"/>
              <a:buChar char="•"/>
            </a:pPr>
            <a:r>
              <a:rPr lang="en-US" sz="1200" dirty="0">
                <a:solidFill>
                  <a:srgbClr val="111111"/>
                </a:solidFill>
                <a:latin typeface="Calibri"/>
                <a:ea typeface="Calibri"/>
                <a:cs typeface="Calibri"/>
              </a:rPr>
              <a:t>Activations represented as B-spline curves (piecewise polynomial basis functions).</a:t>
            </a:r>
            <a:endParaRPr lang="en-US" sz="1150">
              <a:latin typeface="Calibri"/>
              <a:ea typeface="Calibri"/>
              <a:cs typeface="Calibri"/>
            </a:endParaRPr>
          </a:p>
          <a:p>
            <a:pPr marL="114300" indent="-114300">
              <a:buSzPct val="100000"/>
              <a:buChar char="•"/>
            </a:pPr>
            <a:r>
              <a:rPr lang="en-US" sz="1200" dirty="0">
                <a:solidFill>
                  <a:srgbClr val="111111"/>
                </a:solidFill>
                <a:latin typeface="Calibri"/>
                <a:ea typeface="Calibri"/>
                <a:cs typeface="Calibri"/>
              </a:rPr>
              <a:t>B-splines require storing and evaluating a grid of control points per edge.</a:t>
            </a:r>
            <a:endParaRPr lang="en-US" sz="1150">
              <a:latin typeface="Calibri"/>
              <a:ea typeface="Calibri"/>
              <a:cs typeface="Calibri"/>
            </a:endParaRPr>
          </a:p>
          <a:p>
            <a:pPr marL="114300" indent="-114300">
              <a:buSzPct val="100000"/>
              <a:buChar char="•"/>
            </a:pPr>
            <a:r>
              <a:rPr lang="en-US" sz="1200" dirty="0">
                <a:solidFill>
                  <a:srgbClr val="111111"/>
                </a:solidFill>
                <a:latin typeface="Calibri"/>
                <a:ea typeface="Calibri"/>
                <a:cs typeface="Calibri"/>
              </a:rPr>
              <a:t>Highly accurate but computationally expensive — O(</a:t>
            </a:r>
            <a:r>
              <a:rPr lang="en-US" sz="1200" dirty="0" err="1">
                <a:solidFill>
                  <a:srgbClr val="111111"/>
                </a:solidFill>
                <a:latin typeface="Calibri"/>
                <a:ea typeface="Calibri"/>
                <a:cs typeface="Calibri"/>
              </a:rPr>
              <a:t>n·G</a:t>
            </a:r>
            <a:r>
              <a:rPr lang="en-US" sz="1200" dirty="0">
                <a:solidFill>
                  <a:srgbClr val="111111"/>
                </a:solidFill>
                <a:latin typeface="Calibri"/>
                <a:ea typeface="Calibri"/>
                <a:cs typeface="Calibri"/>
              </a:rPr>
              <a:t>) per forward pass where G is the grid size.</a:t>
            </a:r>
            <a:endParaRPr lang="en-US" sz="1150">
              <a:latin typeface="Calibri"/>
              <a:ea typeface="Calibri"/>
              <a:cs typeface="Calibri"/>
            </a:endParaRPr>
          </a:p>
          <a:p>
            <a:pPr marL="114300" indent="-114300">
              <a:buSzPct val="100000"/>
              <a:buChar char="•"/>
            </a:pPr>
            <a:r>
              <a:rPr lang="en-US" sz="1200" dirty="0">
                <a:solidFill>
                  <a:srgbClr val="111111"/>
                </a:solidFill>
                <a:latin typeface="Calibri"/>
                <a:ea typeface="Calibri"/>
                <a:cs typeface="Calibri"/>
              </a:rPr>
              <a:t>For 103 HSI bands with spatial convolutions, original KAN is prohibitively slow.</a:t>
            </a:r>
            <a:endParaRPr lang="en-US" sz="1150">
              <a:latin typeface="Calibri"/>
              <a:ea typeface="Calibri"/>
              <a:cs typeface="Calibri"/>
            </a:endParaRPr>
          </a:p>
          <a:p>
            <a:pPr marL="114300" indent="-114300">
              <a:buSzPct val="100000"/>
              <a:buChar char="•"/>
            </a:pPr>
            <a:endParaRPr lang="en-US" sz="1200" dirty="0">
              <a:solidFill>
                <a:srgbClr val="111111"/>
              </a:solidFill>
              <a:latin typeface="Calibri"/>
              <a:ea typeface="Calibri"/>
              <a:cs typeface="Calibri"/>
            </a:endParaRPr>
          </a:p>
        </p:txBody>
      </p:sp>
      <p:sp>
        <p:nvSpPr>
          <p:cNvPr id="11" name="Shape 9"/>
          <p:cNvSpPr/>
          <p:nvPr/>
        </p:nvSpPr>
        <p:spPr>
          <a:xfrm>
            <a:off x="4754880" y="2081130"/>
            <a:ext cx="4189912" cy="2925863"/>
          </a:xfrm>
          <a:prstGeom prst="roundRect">
            <a:avLst>
              <a:gd name="adj" fmla="val 3810"/>
            </a:avLst>
          </a:prstGeom>
          <a:solidFill>
            <a:srgbClr val="F3F4F6"/>
          </a:solidFill>
          <a:ln w="19050">
            <a:solidFill>
              <a:srgbClr val="0D9488"/>
            </a:solidFill>
            <a:prstDash val="solid"/>
          </a:ln>
        </p:spPr>
      </p:sp>
      <p:sp>
        <p:nvSpPr>
          <p:cNvPr id="12" name="Shape 10"/>
          <p:cNvSpPr/>
          <p:nvPr/>
        </p:nvSpPr>
        <p:spPr>
          <a:xfrm>
            <a:off x="4738551" y="1950502"/>
            <a:ext cx="4206240" cy="310896"/>
          </a:xfrm>
          <a:prstGeom prst="roundRect">
            <a:avLst>
              <a:gd name="adj" fmla="val 23529"/>
            </a:avLst>
          </a:prstGeom>
          <a:solidFill>
            <a:srgbClr val="0D9488"/>
          </a:solidFill>
          <a:ln w="12700">
            <a:solidFill>
              <a:srgbClr val="0D9488"/>
            </a:solidFill>
            <a:prstDash val="solid"/>
          </a:ln>
        </p:spPr>
      </p:sp>
      <p:sp>
        <p:nvSpPr>
          <p:cNvPr id="13" name="Text 11"/>
          <p:cNvSpPr/>
          <p:nvPr/>
        </p:nvSpPr>
        <p:spPr>
          <a:xfrm>
            <a:off x="6539049" y="1977934"/>
            <a:ext cx="4023360" cy="256032"/>
          </a:xfrm>
          <a:prstGeom prst="rect">
            <a:avLst/>
          </a:prstGeom>
          <a:noFill/>
          <a:ln/>
        </p:spPr>
        <p:txBody>
          <a:bodyPr wrap="square" lIns="0" tIns="0" rIns="0" bIns="0" rtlCol="0" anchor="ctr"/>
          <a:lstStyle/>
          <a:p>
            <a:pPr marL="0" indent="0">
              <a:buNone/>
            </a:pPr>
            <a:r>
              <a:rPr lang="en-US" sz="1600" b="1" dirty="0" err="1">
                <a:solidFill>
                  <a:srgbClr val="FFFFFF"/>
                </a:solidFill>
                <a:latin typeface="Cambria"/>
                <a:ea typeface="Cambria"/>
                <a:cs typeface="Cambria" pitchFamily="34" charset="-120"/>
              </a:rPr>
              <a:t>FastKAN</a:t>
            </a:r>
            <a:r>
              <a:rPr lang="en-US" sz="1600" b="1" dirty="0">
                <a:solidFill>
                  <a:srgbClr val="FFFFFF"/>
                </a:solidFill>
                <a:latin typeface="Cambria"/>
                <a:ea typeface="Cambria"/>
                <a:cs typeface="Cambria" pitchFamily="34" charset="-120"/>
              </a:rPr>
              <a:t> </a:t>
            </a:r>
            <a:endParaRPr lang="en-US" sz="1600">
              <a:ea typeface="Calibri"/>
              <a:cs typeface="Calibri"/>
            </a:endParaRPr>
          </a:p>
        </p:txBody>
      </p:sp>
      <p:sp>
        <p:nvSpPr>
          <p:cNvPr id="14" name="Text 12"/>
          <p:cNvSpPr/>
          <p:nvPr/>
        </p:nvSpPr>
        <p:spPr>
          <a:xfrm>
            <a:off x="4802777" y="2537460"/>
            <a:ext cx="4069080" cy="1417320"/>
          </a:xfrm>
          <a:prstGeom prst="rect">
            <a:avLst/>
          </a:prstGeom>
          <a:noFill/>
          <a:ln/>
        </p:spPr>
        <p:txBody>
          <a:bodyPr wrap="square" lIns="91440" tIns="45720" rIns="91440" bIns="45720" rtlCol="0" anchor="ctr"/>
          <a:lstStyle/>
          <a:p>
            <a:pPr marL="114300" indent="-114300">
              <a:buSzPct val="100000"/>
              <a:buChar char="•"/>
            </a:pPr>
            <a:r>
              <a:rPr lang="en-US" sz="1200" dirty="0">
                <a:solidFill>
                  <a:srgbClr val="111111"/>
                </a:solidFill>
                <a:latin typeface="Calibri"/>
                <a:ea typeface="Calibri"/>
                <a:cs typeface="Calibri"/>
              </a:rPr>
              <a:t>Replaces B-spline basis with Radial Basis Functions (RBF) — Gaussian kernels on a fixed grid.</a:t>
            </a:r>
            <a:endParaRPr lang="en-US" sz="1200">
              <a:latin typeface="Calibri"/>
              <a:ea typeface="Calibri"/>
              <a:cs typeface="Calibri"/>
            </a:endParaRPr>
          </a:p>
          <a:p>
            <a:pPr marL="114300" indent="-114300">
              <a:buSzPct val="100000"/>
              <a:buChar char="•"/>
            </a:pPr>
            <a:r>
              <a:rPr lang="en-US" sz="1200" dirty="0">
                <a:solidFill>
                  <a:srgbClr val="111111"/>
                </a:solidFill>
                <a:latin typeface="Calibri"/>
                <a:ea typeface="Calibri"/>
                <a:cs typeface="Calibri"/>
              </a:rPr>
              <a:t>RBF evaluation is a single matrix multiplication — much faster, O(</a:t>
            </a:r>
            <a:r>
              <a:rPr lang="en-US" sz="1200" dirty="0" err="1">
                <a:solidFill>
                  <a:srgbClr val="111111"/>
                </a:solidFill>
                <a:latin typeface="Calibri"/>
                <a:ea typeface="Calibri"/>
                <a:cs typeface="Calibri"/>
              </a:rPr>
              <a:t>n·G</a:t>
            </a:r>
            <a:r>
              <a:rPr lang="en-US" sz="1200" dirty="0">
                <a:solidFill>
                  <a:srgbClr val="111111"/>
                </a:solidFill>
                <a:latin typeface="Calibri"/>
                <a:ea typeface="Calibri"/>
                <a:cs typeface="Calibri"/>
              </a:rPr>
              <a:t>) but with tiny constant.</a:t>
            </a:r>
            <a:endParaRPr lang="en-US" sz="1200">
              <a:latin typeface="Calibri"/>
              <a:ea typeface="Calibri"/>
              <a:cs typeface="Calibri"/>
            </a:endParaRPr>
          </a:p>
          <a:p>
            <a:pPr marL="114300" indent="-114300">
              <a:buSzPct val="100000"/>
              <a:buChar char="•"/>
            </a:pPr>
            <a:r>
              <a:rPr lang="en-US" sz="1200" dirty="0">
                <a:solidFill>
                  <a:srgbClr val="111111"/>
                </a:solidFill>
                <a:latin typeface="Calibri"/>
                <a:ea typeface="Calibri"/>
                <a:cs typeface="Calibri"/>
              </a:rPr>
              <a:t>Preserves the core KAN property: learnable activation per edge, not fixed at nodes.</a:t>
            </a:r>
            <a:endParaRPr lang="en-US" sz="1200">
              <a:latin typeface="Calibri"/>
              <a:ea typeface="Calibri"/>
              <a:cs typeface="Calibri"/>
            </a:endParaRPr>
          </a:p>
          <a:p>
            <a:pPr marL="114300" indent="-114300">
              <a:buSzPct val="100000"/>
              <a:buChar char="•"/>
            </a:pPr>
            <a:r>
              <a:rPr lang="en-US" sz="1200" dirty="0">
                <a:solidFill>
                  <a:srgbClr val="111111"/>
                </a:solidFill>
                <a:latin typeface="Calibri"/>
                <a:ea typeface="Calibri"/>
                <a:cs typeface="Calibri"/>
              </a:rPr>
              <a:t>Enables FastKANConv2D layers suitable for image-domain HSI processing.</a:t>
            </a:r>
            <a:endParaRPr lang="en-US" sz="1200">
              <a:latin typeface="Calibri"/>
              <a:ea typeface="Calibri"/>
              <a:cs typeface="Calibri"/>
            </a:endParaRPr>
          </a:p>
          <a:p>
            <a:pPr>
              <a:buSzPct val="100000"/>
            </a:pPr>
            <a:endParaRPr lang="en-US" sz="1200" dirty="0">
              <a:solidFill>
                <a:srgbClr val="111111"/>
              </a:solidFill>
              <a:latin typeface="Calibri"/>
              <a:ea typeface="Calibri"/>
              <a:cs typeface="Calibri"/>
            </a:endParaRPr>
          </a:p>
        </p:txBody>
      </p:sp>
      <p:cxnSp>
        <p:nvCxnSpPr>
          <p:cNvPr id="37" name="Connector 36"/>
          <p:cNvCxnSpPr/>
          <p:nvPr/>
        </p:nvCxnSpPr>
        <p:spPr>
          <a:xfrm>
            <a:off x="4434840" y="3959352"/>
            <a:ext cx="0" cy="1024128"/>
          </a:xfrm>
          <a:prstGeom prst="line">
            <a:avLst/>
          </a:prstGeom>
          <a:ln w="13716">
            <a:solidFill>
              <a:srgbClr val="E5E7EB"/>
            </a:solidFill>
          </a:ln>
        </p:spPr>
        <p:style>
          <a:lnRef idx="2">
            <a:schemeClr val="accent1"/>
          </a:lnRef>
          <a:fillRef idx="0">
            <a:schemeClr val="accent1"/>
          </a:fillRef>
          <a:effectRef idx="1">
            <a:schemeClr val="accent1"/>
          </a:effectRef>
          <a:fontRef idx="minor">
            <a:schemeClr val="tx1"/>
          </a:fontRef>
        </p:style>
      </p:cxnSp>
      <p:pic>
        <p:nvPicPr>
          <p:cNvPr id="15" name="Picture 14" descr="A screenshot of a diagram  AI-generated content may be incorrect.">
            <a:extLst>
              <a:ext uri="{FF2B5EF4-FFF2-40B4-BE49-F238E27FC236}">
                <a16:creationId xmlns:a16="http://schemas.microsoft.com/office/drawing/2014/main" id="{1B25C78C-5725-293D-B17B-E7FFB4200ECD}"/>
              </a:ext>
            </a:extLst>
          </p:cNvPr>
          <p:cNvPicPr>
            <a:picLocks noChangeAspect="1"/>
          </p:cNvPicPr>
          <p:nvPr/>
        </p:nvPicPr>
        <p:blipFill>
          <a:blip r:embed="rId3"/>
          <a:srcRect l="2569" t="10487" r="52518" b="52204"/>
          <a:stretch>
            <a:fillRect/>
          </a:stretch>
        </p:blipFill>
        <p:spPr>
          <a:xfrm>
            <a:off x="1182462" y="3794679"/>
            <a:ext cx="2540498" cy="1202526"/>
          </a:xfrm>
          <a:prstGeom prst="rect">
            <a:avLst/>
          </a:prstGeom>
        </p:spPr>
      </p:pic>
      <p:pic>
        <p:nvPicPr>
          <p:cNvPr id="16" name="Picture 15" descr="A screenshot of a diagram  AI-generated content may be incorrect.">
            <a:extLst>
              <a:ext uri="{FF2B5EF4-FFF2-40B4-BE49-F238E27FC236}">
                <a16:creationId xmlns:a16="http://schemas.microsoft.com/office/drawing/2014/main" id="{A63B7EBE-349C-5B87-B2AF-64A08653EA0A}"/>
              </a:ext>
            </a:extLst>
          </p:cNvPr>
          <p:cNvPicPr>
            <a:picLocks noChangeAspect="1"/>
          </p:cNvPicPr>
          <p:nvPr/>
        </p:nvPicPr>
        <p:blipFill>
          <a:blip r:embed="rId3"/>
          <a:srcRect l="52341" t="11130" r="2964" b="51159"/>
          <a:stretch>
            <a:fillRect/>
          </a:stretch>
        </p:blipFill>
        <p:spPr>
          <a:xfrm>
            <a:off x="5328146" y="3924679"/>
            <a:ext cx="2795181" cy="1014372"/>
          </a:xfrm>
          <a:prstGeom prst="rect">
            <a:avLst/>
          </a:prstGeom>
        </p:spPr>
      </p:pic>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12">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9144000" cy="594360"/>
          </a:xfrm>
          <a:prstGeom prst="rect">
            <a:avLst/>
          </a:prstGeom>
          <a:solidFill>
            <a:srgbClr val="1A2E4A"/>
          </a:solidFill>
          <a:ln w="12700">
            <a:solidFill>
              <a:srgbClr val="1A2E4A"/>
            </a:solidFill>
            <a:prstDash val="solid"/>
          </a:ln>
        </p:spPr>
      </p:sp>
      <p:sp>
        <p:nvSpPr>
          <p:cNvPr id="3" name="Text 1"/>
          <p:cNvSpPr/>
          <p:nvPr/>
        </p:nvSpPr>
        <p:spPr>
          <a:xfrm>
            <a:off x="457200" y="45720"/>
            <a:ext cx="8229600" cy="502920"/>
          </a:xfrm>
          <a:prstGeom prst="rect">
            <a:avLst/>
          </a:prstGeom>
          <a:noFill/>
          <a:ln/>
        </p:spPr>
        <p:txBody>
          <a:bodyPr wrap="square" lIns="0" tIns="0" rIns="0" bIns="0" rtlCol="0" anchor="ctr"/>
          <a:lstStyle/>
          <a:p>
            <a:pPr marL="0" indent="0" algn="l">
              <a:buNone/>
            </a:pPr>
            <a:r>
              <a:rPr lang="en-US" sz="2600" b="1" dirty="0">
                <a:solidFill>
                  <a:srgbClr val="FFFFFF"/>
                </a:solidFill>
                <a:latin typeface="Cambria" pitchFamily="34" charset="0"/>
                <a:ea typeface="Cambria" pitchFamily="34" charset="-122"/>
                <a:cs typeface="Cambria" pitchFamily="34" charset="-120"/>
              </a:rPr>
              <a:t>KAN &amp; FastKAN — The Math</a:t>
            </a:r>
            <a:endParaRPr lang="en-US" sz="2600" dirty="0"/>
          </a:p>
        </p:txBody>
      </p:sp>
      <p:sp>
        <p:nvSpPr>
          <p:cNvPr id="101" name="Text 101"/>
          <p:cNvSpPr/>
          <p:nvPr/>
        </p:nvSpPr>
        <p:spPr>
          <a:xfrm>
            <a:off x="411480" y="640000"/>
            <a:ext cx="8321040" cy="260000"/>
          </a:xfrm>
          <a:prstGeom prst="rect">
            <a:avLst/>
          </a:prstGeom>
          <a:noFill/>
          <a:ln/>
        </p:spPr>
        <p:txBody>
          <a:bodyPr wrap="square" lIns="0" tIns="0" rIns="0" bIns="0" rtlCol="0" anchor="ctr"/>
          <a:lstStyle/>
          <a:p>
            <a:pPr marL="114300" indent="-114300" algn="l">
              <a:buFont typeface="Arial"/>
              <a:buChar char="•"/>
            </a:pPr>
            <a:r>
              <a:rPr lang="en-US" sz="1400" b="1" dirty="0">
                <a:solidFill>
                  <a:srgbClr val="1A2E4A"/>
                </a:solidFill>
                <a:latin typeface="Cambria"/>
                <a:ea typeface="Cambria"/>
                <a:cs typeface="Cambria"/>
              </a:rPr>
              <a:t>Kolmogorov–Arnold Representation Theorem</a:t>
            </a:r>
          </a:p>
        </p:txBody>
      </p:sp>
      <p:sp>
        <p:nvSpPr>
          <p:cNvPr id="102" name="Shape 102"/>
          <p:cNvSpPr/>
          <p:nvPr/>
        </p:nvSpPr>
        <p:spPr>
          <a:xfrm>
            <a:off x="411480" y="950000"/>
            <a:ext cx="8321040" cy="820000"/>
          </a:xfrm>
          <a:prstGeom prst="roundRect">
            <a:avLst>
              <a:gd name="adj" fmla="val 4500"/>
            </a:avLst>
          </a:prstGeom>
          <a:solidFill>
            <a:srgbClr val="FFFFFF"/>
          </a:solidFill>
          <a:ln w="19050">
            <a:solidFill>
              <a:srgbClr val="7C3AED"/>
            </a:solidFill>
            <a:prstDash val="solid"/>
          </a:ln>
          <a:effectLst>
            <a:outerShdw blurRad="101600" dist="25400" dir="2700000" algn="bl" rotWithShape="0">
              <a:srgbClr val="000000">
                <a:alpha val="10000"/>
              </a:srgbClr>
            </a:outerShdw>
          </a:effectLst>
        </p:spPr>
      </p:sp>
      <p:sp>
        <p:nvSpPr>
          <p:cNvPr id="103" name="Text 103"/>
          <p:cNvSpPr/>
          <p:nvPr/>
        </p:nvSpPr>
        <p:spPr>
          <a:xfrm>
            <a:off x="500000" y="1000000"/>
            <a:ext cx="8143080" cy="380000"/>
          </a:xfrm>
          <a:prstGeom prst="rect">
            <a:avLst/>
          </a:prstGeom>
          <a:noFill/>
          <a:ln/>
        </p:spPr>
        <p:txBody>
          <a:bodyPr wrap="square" lIns="0" tIns="0" rIns="0" bIns="0" rtlCol="0" anchor="ctr"/>
          <a:lstStyle/>
          <a:p>
            <a:pPr marL="0" indent="0" algn="ctr">
              <a:buNone/>
            </a:pPr>
            <a:r>
              <a:rPr lang="en-US" sz="1600" b="1" i="1" dirty="0">
                <a:solidFill>
                  <a:srgbClr val="7C3AED"/>
                </a:solidFill>
                <a:latin typeface="Cambria"/>
                <a:ea typeface="Cambria"/>
                <a:cs typeface="Cambria"/>
              </a:rPr>
              <a:t>f(x₁, x₂, ..., xₙ)  =  </a:t>
            </a:r>
            <a:r>
              <a:rPr lang="en-US" sz="1600" b="1" i="1" dirty="0" err="1">
                <a:solidFill>
                  <a:srgbClr val="7C3AED"/>
                </a:solidFill>
                <a:latin typeface="Cambria"/>
                <a:ea typeface="Cambria"/>
                <a:cs typeface="Cambria"/>
              </a:rPr>
              <a:t>Σ</a:t>
            </a:r>
            <a:r>
              <a:rPr lang="en-US" sz="900" b="1" dirty="0" err="1">
                <a:solidFill>
                  <a:srgbClr val="7C3AED"/>
                </a:solidFill>
                <a:latin typeface="Cambria"/>
                <a:ea typeface="Cambria"/>
                <a:cs typeface="Cambria"/>
              </a:rPr>
              <a:t>q</a:t>
            </a:r>
            <a:r>
              <a:rPr lang="en-US" sz="900" b="1" dirty="0">
                <a:solidFill>
                  <a:srgbClr val="7C3AED"/>
                </a:solidFill>
                <a:latin typeface="Cambria"/>
                <a:ea typeface="Cambria"/>
                <a:cs typeface="Cambria"/>
              </a:rPr>
              <a:t>=1..2n+1</a:t>
            </a:r>
            <a:r>
              <a:rPr lang="en-US" sz="1600" b="1" i="1" dirty="0">
                <a:solidFill>
                  <a:srgbClr val="7C3AED"/>
                </a:solidFill>
                <a:latin typeface="Cambria"/>
                <a:ea typeface="Cambria"/>
                <a:cs typeface="Cambria"/>
              </a:rPr>
              <a:t>  </a:t>
            </a:r>
            <a:r>
              <a:rPr lang="en-US" sz="1600" b="1" i="1" dirty="0" err="1">
                <a:solidFill>
                  <a:srgbClr val="7C3AED"/>
                </a:solidFill>
                <a:latin typeface="Cambria"/>
                <a:ea typeface="Cambria"/>
                <a:cs typeface="Cambria"/>
              </a:rPr>
              <a:t>Φq</a:t>
            </a:r>
            <a:r>
              <a:rPr lang="en-US" sz="1600" b="1" i="1" dirty="0">
                <a:solidFill>
                  <a:srgbClr val="7C3AED"/>
                </a:solidFill>
                <a:latin typeface="Cambria"/>
                <a:ea typeface="Cambria"/>
                <a:cs typeface="Cambria"/>
              </a:rPr>
              <a:t>( </a:t>
            </a:r>
            <a:r>
              <a:rPr lang="en-US" sz="1600" b="1" i="1" dirty="0" err="1">
                <a:solidFill>
                  <a:srgbClr val="7C3AED"/>
                </a:solidFill>
                <a:latin typeface="Cambria"/>
                <a:ea typeface="Cambria"/>
                <a:cs typeface="Cambria"/>
              </a:rPr>
              <a:t>Σ</a:t>
            </a:r>
            <a:r>
              <a:rPr lang="en-US" sz="900" b="1" dirty="0" err="1">
                <a:solidFill>
                  <a:srgbClr val="7C3AED"/>
                </a:solidFill>
                <a:latin typeface="Cambria"/>
                <a:ea typeface="Cambria"/>
                <a:cs typeface="Cambria"/>
              </a:rPr>
              <a:t>p</a:t>
            </a:r>
            <a:r>
              <a:rPr lang="en-US" sz="900" b="1" dirty="0">
                <a:solidFill>
                  <a:srgbClr val="7C3AED"/>
                </a:solidFill>
                <a:latin typeface="Cambria"/>
                <a:ea typeface="Cambria"/>
                <a:cs typeface="Cambria"/>
              </a:rPr>
              <a:t>=1..n</a:t>
            </a:r>
            <a:r>
              <a:rPr lang="en-US" sz="1600" b="1" i="1" dirty="0">
                <a:solidFill>
                  <a:srgbClr val="7C3AED"/>
                </a:solidFill>
                <a:latin typeface="Cambria"/>
                <a:ea typeface="Cambria"/>
                <a:cs typeface="Cambria"/>
              </a:rPr>
              <a:t>  </a:t>
            </a:r>
            <a:r>
              <a:rPr lang="en-US" sz="1600" b="1" i="1" dirty="0" err="1">
                <a:solidFill>
                  <a:srgbClr val="7C3AED"/>
                </a:solidFill>
                <a:latin typeface="Cambria"/>
                <a:ea typeface="Cambria"/>
                <a:cs typeface="Cambria"/>
              </a:rPr>
              <a:t>φq,p</a:t>
            </a:r>
            <a:r>
              <a:rPr lang="en-US" sz="1600" b="1" i="1" dirty="0">
                <a:solidFill>
                  <a:srgbClr val="7C3AED"/>
                </a:solidFill>
                <a:latin typeface="Cambria"/>
                <a:ea typeface="Cambria"/>
                <a:cs typeface="Cambria"/>
              </a:rPr>
              <a:t>(</a:t>
            </a:r>
            <a:r>
              <a:rPr lang="en-US" sz="1600" b="1" i="1" dirty="0" err="1">
                <a:solidFill>
                  <a:srgbClr val="7C3AED"/>
                </a:solidFill>
                <a:latin typeface="Cambria"/>
                <a:ea typeface="Cambria"/>
                <a:cs typeface="Cambria"/>
              </a:rPr>
              <a:t>xp</a:t>
            </a:r>
            <a:r>
              <a:rPr lang="en-US" sz="1600" b="1" i="1" dirty="0">
                <a:solidFill>
                  <a:srgbClr val="7C3AED"/>
                </a:solidFill>
                <a:latin typeface="Cambria"/>
                <a:ea typeface="Cambria"/>
                <a:cs typeface="Cambria"/>
              </a:rPr>
              <a:t>) )</a:t>
            </a:r>
          </a:p>
        </p:txBody>
      </p:sp>
      <p:sp>
        <p:nvSpPr>
          <p:cNvPr id="104" name="Text 104"/>
          <p:cNvSpPr/>
          <p:nvPr/>
        </p:nvSpPr>
        <p:spPr>
          <a:xfrm>
            <a:off x="500000" y="1400000"/>
            <a:ext cx="8143080" cy="330000"/>
          </a:xfrm>
          <a:prstGeom prst="rect">
            <a:avLst/>
          </a:prstGeom>
          <a:noFill/>
          <a:ln/>
        </p:spPr>
        <p:txBody>
          <a:bodyPr wrap="square" lIns="0" tIns="0" rIns="0" bIns="0" rtlCol="0" anchor="ctr"/>
          <a:lstStyle/>
          <a:p>
            <a:pPr marL="0" indent="0" algn="ctr">
              <a:buNone/>
            </a:pPr>
            <a:r>
              <a:rPr lang="en-US" sz="1200" i="1" dirty="0">
                <a:solidFill>
                  <a:srgbClr val="475569"/>
                </a:solidFill>
                <a:latin typeface="Calibri"/>
                <a:ea typeface="Calibri"/>
                <a:cs typeface="Calibri"/>
              </a:rPr>
              <a:t>Any multivariate continuous function decomposes into a sum of compositions of univariate functions — the theoretical basis for placing learnable activations φ on edges rather than fixed activations on nodes.</a:t>
            </a:r>
          </a:p>
        </p:txBody>
      </p:sp>
      <p:sp>
        <p:nvSpPr>
          <p:cNvPr id="105" name="Shape 105"/>
          <p:cNvSpPr/>
          <p:nvPr/>
        </p:nvSpPr>
        <p:spPr>
          <a:xfrm>
            <a:off x="411480" y="1900000"/>
            <a:ext cx="4020000" cy="3080000"/>
          </a:xfrm>
          <a:prstGeom prst="roundRect">
            <a:avLst>
              <a:gd name="adj" fmla="val 6667"/>
            </a:avLst>
          </a:prstGeom>
          <a:solidFill>
            <a:srgbClr val="FFFFFF"/>
          </a:solidFill>
          <a:ln w="19050">
            <a:solidFill>
              <a:srgbClr val="DC2626"/>
            </a:solidFill>
            <a:prstDash val="solid"/>
          </a:ln>
          <a:effectLst>
            <a:outerShdw blurRad="101600" dist="25400" dir="2700000" algn="bl" rotWithShape="0">
              <a:srgbClr val="000000">
                <a:alpha val="10000"/>
              </a:srgbClr>
            </a:outerShdw>
          </a:effectLst>
        </p:spPr>
      </p:sp>
      <p:sp>
        <p:nvSpPr>
          <p:cNvPr id="106" name="Text 106"/>
          <p:cNvSpPr/>
          <p:nvPr/>
        </p:nvSpPr>
        <p:spPr>
          <a:xfrm>
            <a:off x="411480" y="1970000"/>
            <a:ext cx="4020000" cy="2940000"/>
          </a:xfrm>
          <a:prstGeom prst="rect">
            <a:avLst/>
          </a:prstGeom>
          <a:noFill/>
          <a:ln/>
        </p:spPr>
        <p:txBody>
          <a:bodyPr wrap="square" lIns="137160" tIns="91440" rIns="137160" bIns="45720" rtlCol="0" anchor="t"/>
          <a:lstStyle/>
          <a:p>
            <a:pPr marL="0" indent="0">
              <a:buNone/>
            </a:pPr>
            <a:r>
              <a:rPr lang="en-US" sz="1300" b="1" dirty="0">
                <a:solidFill>
                  <a:srgbClr val="DC2626"/>
                </a:solidFill>
                <a:latin typeface="Cambria"/>
                <a:ea typeface="Cambria"/>
                <a:cs typeface="Cambria"/>
              </a:rPr>
              <a:t>Original KAN — B-Spline Basis</a:t>
            </a:r>
          </a:p>
          <a:p>
            <a:endParaRPr lang="en-US" sz="1300" b="1" dirty="0">
              <a:solidFill>
                <a:srgbClr val="DC2626"/>
              </a:solidFill>
              <a:latin typeface="Cambria"/>
              <a:ea typeface="Cambria"/>
              <a:cs typeface="Calibri"/>
            </a:endParaRPr>
          </a:p>
          <a:p>
            <a:pPr marL="0" indent="0">
              <a:buNone/>
            </a:pPr>
            <a:r>
              <a:rPr lang="en-US" sz="1400" b="1" dirty="0">
                <a:solidFill>
                  <a:srgbClr val="111111"/>
                </a:solidFill>
                <a:latin typeface="Calibri"/>
                <a:ea typeface="Calibri"/>
                <a:cs typeface="Calibri"/>
              </a:rPr>
              <a:t>Edge activation:</a:t>
            </a:r>
          </a:p>
          <a:p>
            <a:pPr marL="0" indent="0">
              <a:buNone/>
            </a:pPr>
            <a:r>
              <a:rPr lang="en-US" sz="1400" b="1" i="1" dirty="0">
                <a:solidFill>
                  <a:srgbClr val="DC2626"/>
                </a:solidFill>
                <a:latin typeface="Cambria"/>
                <a:ea typeface="Cambria"/>
                <a:cs typeface="Cambria"/>
              </a:rPr>
              <a:t>φ(x) = </a:t>
            </a:r>
            <a:r>
              <a:rPr lang="en-US" sz="1400" b="1" i="1" dirty="0" err="1">
                <a:solidFill>
                  <a:srgbClr val="DC2626"/>
                </a:solidFill>
                <a:latin typeface="Cambria"/>
                <a:ea typeface="Cambria"/>
                <a:cs typeface="Cambria"/>
              </a:rPr>
              <a:t>Σ</a:t>
            </a:r>
            <a:r>
              <a:rPr lang="en-US" sz="1400" b="1" dirty="0" err="1">
                <a:solidFill>
                  <a:srgbClr val="DC2626"/>
                </a:solidFill>
                <a:latin typeface="Cambria"/>
                <a:ea typeface="Cambria"/>
                <a:cs typeface="Cambria"/>
              </a:rPr>
              <a:t>i</a:t>
            </a:r>
            <a:r>
              <a:rPr lang="en-US" sz="1400" b="1" dirty="0">
                <a:solidFill>
                  <a:srgbClr val="DC2626"/>
                </a:solidFill>
                <a:latin typeface="Cambria"/>
                <a:ea typeface="Cambria"/>
                <a:cs typeface="Cambria"/>
              </a:rPr>
              <a:t>=1..G</a:t>
            </a:r>
            <a:r>
              <a:rPr lang="en-US" sz="1400" b="1" i="1" dirty="0">
                <a:solidFill>
                  <a:srgbClr val="DC2626"/>
                </a:solidFill>
                <a:latin typeface="Cambria"/>
                <a:ea typeface="Cambria"/>
                <a:cs typeface="Cambria"/>
              </a:rPr>
              <a:t>  ci · Bi(x)</a:t>
            </a:r>
          </a:p>
          <a:p>
            <a:endParaRPr lang="en-US" sz="1400" i="1" dirty="0">
              <a:solidFill>
                <a:srgbClr val="DC2626"/>
              </a:solidFill>
              <a:latin typeface="Cambria"/>
              <a:ea typeface="Cambria"/>
              <a:cs typeface="Calibri"/>
            </a:endParaRPr>
          </a:p>
          <a:p>
            <a:pPr marL="182880" indent="-182880">
              <a:buFont typeface="Arial"/>
              <a:buChar char="•"/>
            </a:pPr>
            <a:r>
              <a:rPr lang="en-US" sz="1200" dirty="0">
                <a:solidFill>
                  <a:srgbClr val="111111"/>
                </a:solidFill>
                <a:latin typeface="Calibri"/>
                <a:ea typeface="Calibri"/>
                <a:cs typeface="Calibri"/>
              </a:rPr>
              <a:t>Bi(x): piecewise polynomial spline basis; G = grid size (control points per edge)</a:t>
            </a:r>
          </a:p>
          <a:p>
            <a:pPr marL="182880" indent="-182880">
              <a:buFont typeface="Arial"/>
              <a:buChar char="•"/>
            </a:pPr>
            <a:r>
              <a:rPr lang="en-US" sz="1200" b="1" dirty="0">
                <a:solidFill>
                  <a:srgbClr val="111111"/>
                </a:solidFill>
                <a:latin typeface="Calibri"/>
                <a:ea typeface="Calibri"/>
                <a:cs typeface="Calibri"/>
              </a:rPr>
              <a:t>Cost: O(n · G) per forward pass — large constant factor</a:t>
            </a:r>
          </a:p>
          <a:p>
            <a:pPr marL="182880" indent="-182880">
              <a:buFont typeface="Arial"/>
              <a:buChar char="•"/>
            </a:pPr>
            <a:r>
              <a:rPr lang="en-US" sz="1200" dirty="0">
                <a:solidFill>
                  <a:srgbClr val="111111"/>
                </a:solidFill>
                <a:latin typeface="Calibri"/>
                <a:ea typeface="Calibri"/>
                <a:cs typeface="Calibri"/>
              </a:rPr>
              <a:t>Highly accurate; supports adaptive grid refinement for extra precision at the cost of speed</a:t>
            </a:r>
          </a:p>
          <a:p>
            <a:pPr marL="182880" indent="-182880">
              <a:buFont typeface="Arial"/>
              <a:buChar char="•"/>
            </a:pPr>
            <a:r>
              <a:rPr lang="en-US" sz="1200" dirty="0">
                <a:solidFill>
                  <a:srgbClr val="111111"/>
                </a:solidFill>
                <a:latin typeface="Calibri"/>
                <a:ea typeface="Calibri"/>
                <a:cs typeface="Calibri"/>
              </a:rPr>
              <a:t>For 103 HSI bands through spatial convolutions, this is </a:t>
            </a:r>
            <a:r>
              <a:rPr lang="en-US" sz="1200">
                <a:solidFill>
                  <a:srgbClr val="111111"/>
                </a:solidFill>
                <a:latin typeface="Calibri"/>
                <a:ea typeface="Calibri"/>
                <a:cs typeface="Calibri"/>
              </a:rPr>
              <a:t>prohibitively slow.</a:t>
            </a:r>
          </a:p>
        </p:txBody>
      </p:sp>
      <p:sp>
        <p:nvSpPr>
          <p:cNvPr id="107" name="Shape 107"/>
          <p:cNvSpPr/>
          <p:nvPr/>
        </p:nvSpPr>
        <p:spPr>
          <a:xfrm>
            <a:off x="4692520" y="1900000"/>
            <a:ext cx="4020000" cy="3080000"/>
          </a:xfrm>
          <a:prstGeom prst="roundRect">
            <a:avLst>
              <a:gd name="adj" fmla="val 6667"/>
            </a:avLst>
          </a:prstGeom>
          <a:solidFill>
            <a:srgbClr val="FFFFFF"/>
          </a:solidFill>
          <a:ln w="19050">
            <a:solidFill>
              <a:srgbClr val="16A34A"/>
            </a:solidFill>
            <a:prstDash val="solid"/>
          </a:ln>
          <a:effectLst>
            <a:outerShdw blurRad="101600" dist="25400" dir="2700000" algn="bl" rotWithShape="0">
              <a:srgbClr val="000000">
                <a:alpha val="10000"/>
              </a:srgbClr>
            </a:outerShdw>
          </a:effectLst>
        </p:spPr>
      </p:sp>
      <p:sp>
        <p:nvSpPr>
          <p:cNvPr id="108" name="Text 108"/>
          <p:cNvSpPr/>
          <p:nvPr/>
        </p:nvSpPr>
        <p:spPr>
          <a:xfrm>
            <a:off x="4692520" y="1970000"/>
            <a:ext cx="4020000" cy="2940000"/>
          </a:xfrm>
          <a:prstGeom prst="rect">
            <a:avLst/>
          </a:prstGeom>
          <a:noFill/>
          <a:ln/>
        </p:spPr>
        <p:txBody>
          <a:bodyPr wrap="square" lIns="137160" tIns="91440" rIns="137160" bIns="45720" rtlCol="0" anchor="t"/>
          <a:lstStyle/>
          <a:p>
            <a:pPr marL="0" indent="0">
              <a:buNone/>
            </a:pPr>
            <a:r>
              <a:rPr lang="en-US" sz="1300" b="1" dirty="0" err="1">
                <a:solidFill>
                  <a:srgbClr val="16A34A"/>
                </a:solidFill>
                <a:latin typeface="Cambria"/>
                <a:ea typeface="Cambria"/>
                <a:cs typeface="Cambria"/>
              </a:rPr>
              <a:t>FastKAN</a:t>
            </a:r>
            <a:r>
              <a:rPr lang="en-US" sz="1300" b="1" dirty="0">
                <a:solidFill>
                  <a:srgbClr val="16A34A"/>
                </a:solidFill>
                <a:latin typeface="Cambria"/>
                <a:ea typeface="Cambria"/>
                <a:cs typeface="Cambria"/>
              </a:rPr>
              <a:t> — RBF Basis</a:t>
            </a:r>
          </a:p>
          <a:p>
            <a:endParaRPr lang="en-US" sz="1300" b="1" dirty="0">
              <a:solidFill>
                <a:srgbClr val="16A34A"/>
              </a:solidFill>
              <a:latin typeface="Cambria"/>
              <a:ea typeface="Cambria"/>
              <a:cs typeface="Calibri"/>
            </a:endParaRPr>
          </a:p>
          <a:p>
            <a:pPr marL="0" indent="0">
              <a:buNone/>
            </a:pPr>
            <a:r>
              <a:rPr lang="en-US" sz="1400" b="1" dirty="0">
                <a:solidFill>
                  <a:srgbClr val="111111"/>
                </a:solidFill>
                <a:latin typeface="Calibri"/>
                <a:ea typeface="Calibri"/>
                <a:cs typeface="Calibri"/>
              </a:rPr>
              <a:t>Edge activation:</a:t>
            </a:r>
          </a:p>
          <a:p>
            <a:pPr marL="0" indent="0">
              <a:buNone/>
            </a:pPr>
            <a:r>
              <a:rPr lang="en-US" sz="1400" b="1" i="1" dirty="0">
                <a:solidFill>
                  <a:srgbClr val="16A34A"/>
                </a:solidFill>
                <a:latin typeface="Cambria"/>
                <a:ea typeface="Cambria"/>
                <a:cs typeface="Cambria"/>
              </a:rPr>
              <a:t>φ(x) = </a:t>
            </a:r>
            <a:r>
              <a:rPr lang="en-US" sz="1400" b="1" i="1" dirty="0" err="1">
                <a:solidFill>
                  <a:srgbClr val="16A34A"/>
                </a:solidFill>
                <a:latin typeface="Cambria"/>
                <a:ea typeface="Cambria"/>
                <a:cs typeface="Cambria"/>
              </a:rPr>
              <a:t>Σ</a:t>
            </a:r>
            <a:r>
              <a:rPr lang="en-US" sz="1400" b="1" dirty="0" err="1">
                <a:solidFill>
                  <a:srgbClr val="16A34A"/>
                </a:solidFill>
                <a:latin typeface="Cambria"/>
                <a:ea typeface="Cambria"/>
                <a:cs typeface="Cambria"/>
              </a:rPr>
              <a:t>i</a:t>
            </a:r>
            <a:r>
              <a:rPr lang="en-US" sz="1400" b="1" dirty="0">
                <a:solidFill>
                  <a:srgbClr val="16A34A"/>
                </a:solidFill>
                <a:latin typeface="Cambria"/>
                <a:ea typeface="Cambria"/>
                <a:cs typeface="Cambria"/>
              </a:rPr>
              <a:t>=1..G</a:t>
            </a:r>
            <a:r>
              <a:rPr lang="en-US" sz="1400" b="1" i="1" dirty="0">
                <a:solidFill>
                  <a:srgbClr val="16A34A"/>
                </a:solidFill>
                <a:latin typeface="Cambria"/>
                <a:ea typeface="Cambria"/>
                <a:cs typeface="Cambria"/>
              </a:rPr>
              <a:t>  </a:t>
            </a:r>
            <a:r>
              <a:rPr lang="en-US" sz="1400" b="1" i="1" dirty="0" err="1">
                <a:solidFill>
                  <a:srgbClr val="16A34A"/>
                </a:solidFill>
                <a:latin typeface="Cambria"/>
                <a:ea typeface="Cambria"/>
                <a:cs typeface="Cambria"/>
              </a:rPr>
              <a:t>wi</a:t>
            </a:r>
            <a:r>
              <a:rPr lang="en-US" sz="1400" b="1" i="1" dirty="0">
                <a:solidFill>
                  <a:srgbClr val="16A34A"/>
                </a:solidFill>
                <a:latin typeface="Cambria"/>
                <a:ea typeface="Cambria"/>
                <a:cs typeface="Cambria"/>
              </a:rPr>
              <a:t> · exp( -(x-</a:t>
            </a:r>
            <a:r>
              <a:rPr lang="en-US" sz="1400" b="1" i="1" dirty="0" err="1">
                <a:solidFill>
                  <a:srgbClr val="16A34A"/>
                </a:solidFill>
                <a:latin typeface="Cambria"/>
                <a:ea typeface="Cambria"/>
                <a:cs typeface="Cambria"/>
              </a:rPr>
              <a:t>μi</a:t>
            </a:r>
            <a:r>
              <a:rPr lang="en-US" sz="1400" b="1" i="1" dirty="0">
                <a:solidFill>
                  <a:srgbClr val="16A34A"/>
                </a:solidFill>
                <a:latin typeface="Cambria"/>
                <a:ea typeface="Cambria"/>
                <a:cs typeface="Cambria"/>
              </a:rPr>
              <a:t>)² / 2σ² )</a:t>
            </a:r>
          </a:p>
          <a:p>
            <a:endParaRPr lang="en-US" sz="1400" i="1" dirty="0">
              <a:solidFill>
                <a:srgbClr val="16A34A"/>
              </a:solidFill>
              <a:latin typeface="Cambria"/>
              <a:ea typeface="Cambria"/>
              <a:cs typeface="Calibri"/>
            </a:endParaRPr>
          </a:p>
          <a:p>
            <a:pPr marL="182880" indent="-182880">
              <a:buFont typeface="Arial"/>
              <a:buChar char="•"/>
            </a:pPr>
            <a:r>
              <a:rPr lang="en-US" sz="1200" dirty="0">
                <a:solidFill>
                  <a:srgbClr val="111111"/>
                </a:solidFill>
                <a:latin typeface="Calibri"/>
                <a:ea typeface="Calibri"/>
                <a:cs typeface="Calibri"/>
              </a:rPr>
              <a:t>Matrix form: Φ(x) = W · ψ(x) — a single matrix multiplication</a:t>
            </a:r>
          </a:p>
          <a:p>
            <a:pPr marL="182880" indent="-182880">
              <a:buFont typeface="Arial"/>
              <a:buChar char="•"/>
            </a:pPr>
            <a:r>
              <a:rPr lang="en-US" sz="1200" dirty="0">
                <a:solidFill>
                  <a:srgbClr val="111111"/>
                </a:solidFill>
                <a:latin typeface="Calibri"/>
                <a:ea typeface="Calibri"/>
                <a:cs typeface="Calibri"/>
              </a:rPr>
              <a:t>Gaussian RBF kernels on a fixed grid replace B-splines</a:t>
            </a:r>
          </a:p>
          <a:p>
            <a:pPr marL="182880" indent="-182880">
              <a:buFont typeface="Arial"/>
              <a:buChar char="•"/>
            </a:pPr>
            <a:r>
              <a:rPr lang="en-US" sz="1200" dirty="0">
                <a:solidFill>
                  <a:srgbClr val="111111"/>
                </a:solidFill>
                <a:latin typeface="Calibri"/>
                <a:ea typeface="Calibri"/>
                <a:cs typeface="Calibri"/>
              </a:rPr>
              <a:t>Same asymptotic order O(</a:t>
            </a:r>
            <a:r>
              <a:rPr lang="en-US" sz="1200" dirty="0" err="1">
                <a:solidFill>
                  <a:srgbClr val="111111"/>
                </a:solidFill>
                <a:latin typeface="Calibri"/>
                <a:ea typeface="Calibri"/>
                <a:cs typeface="Calibri"/>
              </a:rPr>
              <a:t>n·G</a:t>
            </a:r>
            <a:r>
              <a:rPr lang="en-US" sz="1200" dirty="0">
                <a:solidFill>
                  <a:srgbClr val="111111"/>
                </a:solidFill>
                <a:latin typeface="Calibri"/>
                <a:ea typeface="Calibri"/>
                <a:cs typeface="Calibri"/>
              </a:rPr>
              <a:t>), far smaller constant — much faster in practice</a:t>
            </a:r>
          </a:p>
          <a:p>
            <a:pPr marL="182880" indent="-182880">
              <a:buFont typeface="Arial"/>
              <a:buChar char="•"/>
            </a:pPr>
            <a:r>
              <a:rPr lang="en-US" sz="1200" dirty="0">
                <a:solidFill>
                  <a:srgbClr val="111111"/>
                </a:solidFill>
                <a:latin typeface="Calibri"/>
                <a:ea typeface="Calibri"/>
                <a:cs typeface="Calibri"/>
              </a:rPr>
              <a:t>Preserves the core KAN property: learnable activation per edge, not fixed at nodes</a:t>
            </a:r>
          </a:p>
          <a:p>
            <a:pPr marL="182880" indent="-182880">
              <a:buFont typeface="Arial"/>
              <a:buChar char="•"/>
            </a:pPr>
            <a:r>
              <a:rPr lang="en-US" sz="1200" dirty="0">
                <a:solidFill>
                  <a:srgbClr val="111111"/>
                </a:solidFill>
                <a:latin typeface="Calibri"/>
                <a:ea typeface="Calibri"/>
                <a:cs typeface="Calibri"/>
              </a:rPr>
              <a:t>Enables FastKANConv1D/2D — used in every module of KAN-</a:t>
            </a:r>
            <a:r>
              <a:rPr lang="en-US" sz="1200" dirty="0" err="1">
                <a:solidFill>
                  <a:srgbClr val="111111"/>
                </a:solidFill>
                <a:latin typeface="Calibri"/>
                <a:ea typeface="Calibri"/>
                <a:cs typeface="Calibri"/>
              </a:rPr>
              <a:t>DiffCausal</a:t>
            </a:r>
            <a:r>
              <a:rPr lang="en-US" sz="1200" dirty="0">
                <a:solidFill>
                  <a:srgbClr val="111111"/>
                </a:solidFill>
                <a:latin typeface="Calibri"/>
                <a:ea typeface="Calibri"/>
                <a:cs typeface="Calibri"/>
              </a:rPr>
              <a:t> (rank predictor, projection, denoiser, causal graph, </a:t>
            </a:r>
            <a:r>
              <a:rPr lang="en-US" sz="1200" dirty="0" err="1">
                <a:solidFill>
                  <a:srgbClr val="111111"/>
                </a:solidFill>
                <a:latin typeface="Calibri"/>
                <a:ea typeface="Calibri"/>
                <a:cs typeface="Calibri"/>
              </a:rPr>
              <a:t>unmixer</a:t>
            </a:r>
            <a:r>
              <a:rPr lang="en-US" sz="1200" dirty="0">
                <a:solidFill>
                  <a:srgbClr val="111111"/>
                </a:solidFill>
                <a:latin typeface="Calibri"/>
                <a:ea typeface="Calibri"/>
                <a:cs typeface="Calibri"/>
              </a:rPr>
              <a:t>)</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4">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9144000" cy="594360"/>
          </a:xfrm>
          <a:prstGeom prst="rect">
            <a:avLst/>
          </a:prstGeom>
          <a:solidFill>
            <a:srgbClr val="1A2E4A"/>
          </a:solidFill>
          <a:ln w="12700">
            <a:solidFill>
              <a:srgbClr val="1A2E4A"/>
            </a:solidFill>
            <a:prstDash val="solid"/>
          </a:ln>
        </p:spPr>
      </p:sp>
      <p:sp>
        <p:nvSpPr>
          <p:cNvPr id="3" name="Text 1"/>
          <p:cNvSpPr/>
          <p:nvPr/>
        </p:nvSpPr>
        <p:spPr>
          <a:xfrm>
            <a:off x="457200" y="45720"/>
            <a:ext cx="8229600" cy="502920"/>
          </a:xfrm>
          <a:prstGeom prst="rect">
            <a:avLst/>
          </a:prstGeom>
          <a:noFill/>
          <a:ln/>
        </p:spPr>
        <p:txBody>
          <a:bodyPr wrap="square" lIns="0" tIns="0" rIns="0" bIns="0" rtlCol="0" anchor="ctr"/>
          <a:lstStyle/>
          <a:p>
            <a:pPr marL="0" indent="0" algn="l">
              <a:buNone/>
            </a:pPr>
            <a:r>
              <a:rPr lang="en-US" sz="2400" b="1" dirty="0">
                <a:solidFill>
                  <a:srgbClr val="FFFFFF"/>
                </a:solidFill>
                <a:latin typeface="Cambria"/>
                <a:ea typeface="Cambria"/>
                <a:cs typeface="Cambria" pitchFamily="34" charset="-120"/>
              </a:rPr>
              <a:t>Methodology: End-to-End Pipeline</a:t>
            </a:r>
            <a:endParaRPr lang="en-US" sz="2400">
              <a:latin typeface="Calibri"/>
              <a:ea typeface="Calibri"/>
              <a:cs typeface="Calibri"/>
            </a:endParaRPr>
          </a:p>
        </p:txBody>
      </p:sp>
      <p:sp>
        <p:nvSpPr>
          <p:cNvPr id="4" name="Shape 2"/>
          <p:cNvSpPr/>
          <p:nvPr/>
        </p:nvSpPr>
        <p:spPr>
          <a:xfrm>
            <a:off x="274320" y="658368"/>
            <a:ext cx="8595360" cy="493776"/>
          </a:xfrm>
          <a:prstGeom prst="roundRect">
            <a:avLst>
              <a:gd name="adj" fmla="val 12963"/>
            </a:avLst>
          </a:prstGeom>
          <a:solidFill>
            <a:srgbClr val="FFFFFF"/>
          </a:solidFill>
          <a:ln w="22860">
            <a:solidFill>
              <a:srgbClr val="1A2E4A"/>
            </a:solidFill>
            <a:prstDash val="solid"/>
          </a:ln>
        </p:spPr>
      </p:sp>
      <p:sp>
        <p:nvSpPr>
          <p:cNvPr id="5" name="Shape 3"/>
          <p:cNvSpPr/>
          <p:nvPr/>
        </p:nvSpPr>
        <p:spPr>
          <a:xfrm>
            <a:off x="274320" y="658368"/>
            <a:ext cx="2606040" cy="493776"/>
          </a:xfrm>
          <a:prstGeom prst="roundRect">
            <a:avLst>
              <a:gd name="adj" fmla="val 12963"/>
            </a:avLst>
          </a:prstGeom>
          <a:solidFill>
            <a:srgbClr val="1A2E4A"/>
          </a:solidFill>
          <a:ln w="12700">
            <a:solidFill>
              <a:srgbClr val="1A2E4A"/>
            </a:solidFill>
            <a:prstDash val="solid"/>
          </a:ln>
        </p:spPr>
      </p:sp>
      <p:sp>
        <p:nvSpPr>
          <p:cNvPr id="6" name="Shape 4"/>
          <p:cNvSpPr/>
          <p:nvPr/>
        </p:nvSpPr>
        <p:spPr>
          <a:xfrm>
            <a:off x="2770632" y="667512"/>
            <a:ext cx="118872" cy="475488"/>
          </a:xfrm>
          <a:prstGeom prst="rect">
            <a:avLst/>
          </a:prstGeom>
          <a:solidFill>
            <a:srgbClr val="1A2E4A"/>
          </a:solidFill>
          <a:ln w="12700">
            <a:solidFill>
              <a:srgbClr val="1A2E4A"/>
            </a:solidFill>
            <a:prstDash val="solid"/>
          </a:ln>
        </p:spPr>
      </p:sp>
      <p:sp>
        <p:nvSpPr>
          <p:cNvPr id="7" name="Text 5"/>
          <p:cNvSpPr/>
          <p:nvPr/>
        </p:nvSpPr>
        <p:spPr>
          <a:xfrm>
            <a:off x="681446" y="694944"/>
            <a:ext cx="2468880" cy="420624"/>
          </a:xfrm>
          <a:prstGeom prst="rect">
            <a:avLst/>
          </a:prstGeom>
          <a:noFill/>
          <a:ln/>
        </p:spPr>
        <p:txBody>
          <a:bodyPr wrap="square" lIns="0" tIns="0" rIns="0" bIns="0" rtlCol="0" anchor="ctr"/>
          <a:lstStyle/>
          <a:p>
            <a:pPr marL="0" indent="0">
              <a:buNone/>
            </a:pPr>
            <a:r>
              <a:rPr lang="en-US" sz="1200" b="1">
                <a:solidFill>
                  <a:srgbClr val="FFFFFF"/>
                </a:solidFill>
                <a:latin typeface="Cambria"/>
                <a:ea typeface="Cambria"/>
                <a:cs typeface="Cambria" pitchFamily="34" charset="-120"/>
              </a:rPr>
              <a:t> LR Input (32×32×103)</a:t>
            </a:r>
            <a:endParaRPr lang="en-US" sz="1200">
              <a:latin typeface="Cambria"/>
              <a:ea typeface="Cambria"/>
            </a:endParaRPr>
          </a:p>
        </p:txBody>
      </p:sp>
      <p:sp>
        <p:nvSpPr>
          <p:cNvPr id="8" name="Text 6"/>
          <p:cNvSpPr/>
          <p:nvPr/>
        </p:nvSpPr>
        <p:spPr>
          <a:xfrm>
            <a:off x="2999232" y="658368"/>
            <a:ext cx="5833872" cy="493776"/>
          </a:xfrm>
          <a:prstGeom prst="rect">
            <a:avLst/>
          </a:prstGeom>
          <a:noFill/>
          <a:ln/>
        </p:spPr>
        <p:txBody>
          <a:bodyPr wrap="square" rtlCol="0" anchor="ctr"/>
          <a:lstStyle/>
          <a:p>
            <a:pPr marL="0" indent="0">
              <a:buNone/>
            </a:pPr>
            <a:r>
              <a:rPr lang="en-US" sz="1200" dirty="0">
                <a:solidFill>
                  <a:srgbClr val="111111"/>
                </a:solidFill>
                <a:latin typeface="Calibri" pitchFamily="34" charset="0"/>
                <a:ea typeface="Calibri" pitchFamily="34" charset="-122"/>
                <a:cs typeface="Calibri" pitchFamily="34" charset="-120"/>
              </a:rPr>
              <a:t>Low-resolution hyperspectral patch from Pavia University dataset. 103 spectral bands, spatial resolution 32×32 pixels. Goal: reconstruct 64×64×103 HR image.</a:t>
            </a:r>
            <a:endParaRPr lang="en-US" sz="1200" dirty="0"/>
          </a:p>
        </p:txBody>
      </p:sp>
      <p:sp>
        <p:nvSpPr>
          <p:cNvPr id="9" name="Shape 7"/>
          <p:cNvSpPr/>
          <p:nvPr/>
        </p:nvSpPr>
        <p:spPr>
          <a:xfrm>
            <a:off x="1577340" y="1152144"/>
            <a:ext cx="0" cy="50292"/>
          </a:xfrm>
          <a:prstGeom prst="line">
            <a:avLst/>
          </a:prstGeom>
          <a:noFill/>
          <a:ln w="19050">
            <a:solidFill>
              <a:srgbClr val="7C3AED"/>
            </a:solidFill>
            <a:prstDash val="solid"/>
          </a:ln>
        </p:spPr>
      </p:sp>
      <p:sp>
        <p:nvSpPr>
          <p:cNvPr id="10" name="Shape 8"/>
          <p:cNvSpPr/>
          <p:nvPr/>
        </p:nvSpPr>
        <p:spPr>
          <a:xfrm>
            <a:off x="274320" y="1202436"/>
            <a:ext cx="8595360" cy="493776"/>
          </a:xfrm>
          <a:prstGeom prst="roundRect">
            <a:avLst>
              <a:gd name="adj" fmla="val 12963"/>
            </a:avLst>
          </a:prstGeom>
          <a:solidFill>
            <a:srgbClr val="FFFFFF"/>
          </a:solidFill>
          <a:ln w="22860">
            <a:solidFill>
              <a:srgbClr val="7C3AED"/>
            </a:solidFill>
            <a:prstDash val="solid"/>
          </a:ln>
        </p:spPr>
      </p:sp>
      <p:sp>
        <p:nvSpPr>
          <p:cNvPr id="11" name="Shape 9"/>
          <p:cNvSpPr/>
          <p:nvPr/>
        </p:nvSpPr>
        <p:spPr>
          <a:xfrm>
            <a:off x="274320" y="1202436"/>
            <a:ext cx="2606040" cy="493776"/>
          </a:xfrm>
          <a:prstGeom prst="roundRect">
            <a:avLst>
              <a:gd name="adj" fmla="val 12963"/>
            </a:avLst>
          </a:prstGeom>
          <a:solidFill>
            <a:srgbClr val="7C3AED"/>
          </a:solidFill>
          <a:ln w="12700">
            <a:solidFill>
              <a:srgbClr val="7C3AED"/>
            </a:solidFill>
            <a:prstDash val="solid"/>
          </a:ln>
        </p:spPr>
      </p:sp>
      <p:sp>
        <p:nvSpPr>
          <p:cNvPr id="12" name="Shape 10"/>
          <p:cNvSpPr/>
          <p:nvPr/>
        </p:nvSpPr>
        <p:spPr>
          <a:xfrm>
            <a:off x="2770632" y="1211580"/>
            <a:ext cx="118872" cy="475488"/>
          </a:xfrm>
          <a:prstGeom prst="rect">
            <a:avLst/>
          </a:prstGeom>
          <a:solidFill>
            <a:srgbClr val="7C3AED"/>
          </a:solidFill>
          <a:ln w="12700">
            <a:solidFill>
              <a:srgbClr val="7C3AED"/>
            </a:solidFill>
            <a:prstDash val="solid"/>
          </a:ln>
        </p:spPr>
      </p:sp>
      <p:sp>
        <p:nvSpPr>
          <p:cNvPr id="13" name="Text 11"/>
          <p:cNvSpPr/>
          <p:nvPr/>
        </p:nvSpPr>
        <p:spPr>
          <a:xfrm>
            <a:off x="529046" y="1277112"/>
            <a:ext cx="2468880" cy="420624"/>
          </a:xfrm>
          <a:prstGeom prst="rect">
            <a:avLst/>
          </a:prstGeom>
          <a:noFill/>
          <a:ln/>
        </p:spPr>
        <p:txBody>
          <a:bodyPr wrap="square" lIns="0" tIns="0" rIns="0" bIns="0" rtlCol="0" anchor="ctr"/>
          <a:lstStyle/>
          <a:p>
            <a:pPr marL="0" indent="0">
              <a:buNone/>
            </a:pPr>
            <a:r>
              <a:rPr lang="en-US" sz="1200" b="1">
                <a:solidFill>
                  <a:srgbClr val="FFFFFF"/>
                </a:solidFill>
                <a:latin typeface="Cambria"/>
                <a:ea typeface="Cambria"/>
                <a:cs typeface="Cambria" pitchFamily="34" charset="-120"/>
              </a:rPr>
              <a:t>Adaptive Rank Prediction</a:t>
            </a:r>
            <a:endParaRPr lang="en-US" sz="1200">
              <a:latin typeface="Cambria"/>
              <a:ea typeface="Cambria"/>
            </a:endParaRPr>
          </a:p>
        </p:txBody>
      </p:sp>
      <p:sp>
        <p:nvSpPr>
          <p:cNvPr id="14" name="Text 12"/>
          <p:cNvSpPr/>
          <p:nvPr/>
        </p:nvSpPr>
        <p:spPr>
          <a:xfrm>
            <a:off x="2999232" y="1202436"/>
            <a:ext cx="5833872" cy="493776"/>
          </a:xfrm>
          <a:prstGeom prst="rect">
            <a:avLst/>
          </a:prstGeom>
          <a:noFill/>
          <a:ln/>
        </p:spPr>
        <p:txBody>
          <a:bodyPr wrap="square" lIns="91440" tIns="45720" rIns="91440" bIns="45720" rtlCol="0" anchor="ctr"/>
          <a:lstStyle/>
          <a:p>
            <a:pPr marL="0" indent="0">
              <a:buNone/>
            </a:pPr>
            <a:r>
              <a:rPr lang="en-US" sz="1200" dirty="0">
                <a:solidFill>
                  <a:srgbClr val="111111"/>
                </a:solidFill>
                <a:latin typeface="Calibri"/>
                <a:ea typeface="Calibri"/>
                <a:cs typeface="Calibri"/>
              </a:rPr>
              <a:t>A FastKANConv2D head predicts a per-pixel spectral complexity rank. Simple homogeneous </a:t>
            </a:r>
            <a:r>
              <a:rPr lang="en-US" sz="1200">
                <a:solidFill>
                  <a:srgbClr val="111111"/>
                </a:solidFill>
                <a:latin typeface="Calibri"/>
                <a:ea typeface="Calibri"/>
                <a:cs typeface="Calibri"/>
              </a:rPr>
              <a:t>pixels get low rank; complex mixed-material boundaries get high rank. </a:t>
            </a:r>
            <a:endParaRPr lang="en-US" sz="1200" dirty="0">
              <a:solidFill>
                <a:srgbClr val="111111"/>
              </a:solidFill>
              <a:latin typeface="Calibri"/>
              <a:ea typeface="Calibri"/>
              <a:cs typeface="Calibri"/>
            </a:endParaRPr>
          </a:p>
        </p:txBody>
      </p:sp>
      <p:sp>
        <p:nvSpPr>
          <p:cNvPr id="15" name="Shape 13"/>
          <p:cNvSpPr/>
          <p:nvPr/>
        </p:nvSpPr>
        <p:spPr>
          <a:xfrm>
            <a:off x="1577340" y="1696212"/>
            <a:ext cx="0" cy="50292"/>
          </a:xfrm>
          <a:prstGeom prst="line">
            <a:avLst/>
          </a:prstGeom>
          <a:noFill/>
          <a:ln w="19050">
            <a:solidFill>
              <a:srgbClr val="2563EB"/>
            </a:solidFill>
            <a:prstDash val="solid"/>
          </a:ln>
        </p:spPr>
      </p:sp>
      <p:sp>
        <p:nvSpPr>
          <p:cNvPr id="16" name="Shape 14"/>
          <p:cNvSpPr/>
          <p:nvPr/>
        </p:nvSpPr>
        <p:spPr>
          <a:xfrm>
            <a:off x="274320" y="1746504"/>
            <a:ext cx="8595360" cy="493776"/>
          </a:xfrm>
          <a:prstGeom prst="roundRect">
            <a:avLst>
              <a:gd name="adj" fmla="val 12963"/>
            </a:avLst>
          </a:prstGeom>
          <a:solidFill>
            <a:srgbClr val="FFFFFF"/>
          </a:solidFill>
          <a:ln w="22860">
            <a:solidFill>
              <a:srgbClr val="2563EB"/>
            </a:solidFill>
            <a:prstDash val="solid"/>
          </a:ln>
        </p:spPr>
      </p:sp>
      <p:sp>
        <p:nvSpPr>
          <p:cNvPr id="17" name="Shape 15"/>
          <p:cNvSpPr/>
          <p:nvPr/>
        </p:nvSpPr>
        <p:spPr>
          <a:xfrm>
            <a:off x="274320" y="1746504"/>
            <a:ext cx="2606040" cy="493776"/>
          </a:xfrm>
          <a:prstGeom prst="roundRect">
            <a:avLst>
              <a:gd name="adj" fmla="val 12963"/>
            </a:avLst>
          </a:prstGeom>
          <a:solidFill>
            <a:srgbClr val="2563EB"/>
          </a:solidFill>
          <a:ln w="12700">
            <a:solidFill>
              <a:srgbClr val="2563EB"/>
            </a:solidFill>
            <a:prstDash val="solid"/>
          </a:ln>
        </p:spPr>
      </p:sp>
      <p:sp>
        <p:nvSpPr>
          <p:cNvPr id="18" name="Shape 16"/>
          <p:cNvSpPr/>
          <p:nvPr/>
        </p:nvSpPr>
        <p:spPr>
          <a:xfrm>
            <a:off x="2770632" y="1755648"/>
            <a:ext cx="118872" cy="475488"/>
          </a:xfrm>
          <a:prstGeom prst="rect">
            <a:avLst/>
          </a:prstGeom>
          <a:solidFill>
            <a:srgbClr val="2563EB"/>
          </a:solidFill>
          <a:ln w="12700">
            <a:solidFill>
              <a:srgbClr val="2563EB"/>
            </a:solidFill>
            <a:prstDash val="solid"/>
          </a:ln>
        </p:spPr>
      </p:sp>
      <p:sp>
        <p:nvSpPr>
          <p:cNvPr id="19" name="Text 17"/>
          <p:cNvSpPr/>
          <p:nvPr/>
        </p:nvSpPr>
        <p:spPr>
          <a:xfrm>
            <a:off x="795746" y="1783080"/>
            <a:ext cx="2468880" cy="420624"/>
          </a:xfrm>
          <a:prstGeom prst="rect">
            <a:avLst/>
          </a:prstGeom>
          <a:noFill/>
          <a:ln/>
        </p:spPr>
        <p:txBody>
          <a:bodyPr wrap="square" lIns="0" tIns="0" rIns="0" bIns="0" rtlCol="0" anchor="ctr"/>
          <a:lstStyle/>
          <a:p>
            <a:pPr marL="0" indent="0">
              <a:buNone/>
            </a:pPr>
            <a:r>
              <a:rPr lang="en-US" sz="1200" b="1">
                <a:solidFill>
                  <a:srgbClr val="FFFFFF"/>
                </a:solidFill>
                <a:latin typeface="Cambria"/>
                <a:ea typeface="Cambria"/>
                <a:cs typeface="Cambria" pitchFamily="34" charset="-120"/>
              </a:rPr>
              <a:t>Spectral Projection </a:t>
            </a:r>
            <a:endParaRPr lang="en-US" sz="1200" b="1">
              <a:solidFill>
                <a:srgbClr val="FFFFFF"/>
              </a:solidFill>
              <a:latin typeface="Cambria"/>
              <a:ea typeface="Cambria"/>
            </a:endParaRPr>
          </a:p>
        </p:txBody>
      </p:sp>
      <p:sp>
        <p:nvSpPr>
          <p:cNvPr id="20" name="Text 18"/>
          <p:cNvSpPr/>
          <p:nvPr/>
        </p:nvSpPr>
        <p:spPr>
          <a:xfrm>
            <a:off x="2999232" y="1746504"/>
            <a:ext cx="5833872" cy="493776"/>
          </a:xfrm>
          <a:prstGeom prst="rect">
            <a:avLst/>
          </a:prstGeom>
          <a:noFill/>
          <a:ln/>
        </p:spPr>
        <p:txBody>
          <a:bodyPr wrap="square" rtlCol="0" anchor="ctr"/>
          <a:lstStyle/>
          <a:p>
            <a:pPr marL="0" indent="0">
              <a:buNone/>
            </a:pPr>
            <a:r>
              <a:rPr lang="en-US" sz="1200" dirty="0">
                <a:solidFill>
                  <a:srgbClr val="111111"/>
                </a:solidFill>
                <a:latin typeface="Calibri" pitchFamily="34" charset="0"/>
                <a:ea typeface="Calibri" pitchFamily="34" charset="-122"/>
                <a:cs typeface="Calibri" pitchFamily="34" charset="-120"/>
              </a:rPr>
              <a:t>103 bands projected down to a compact spectral subspace using the adaptive rank. Reduces redundancy while retaining the information that matters most per spatial location.</a:t>
            </a:r>
            <a:endParaRPr lang="en-US" sz="1200" dirty="0"/>
          </a:p>
        </p:txBody>
      </p:sp>
      <p:sp>
        <p:nvSpPr>
          <p:cNvPr id="21" name="Shape 19"/>
          <p:cNvSpPr/>
          <p:nvPr/>
        </p:nvSpPr>
        <p:spPr>
          <a:xfrm>
            <a:off x="1577340" y="2240280"/>
            <a:ext cx="0" cy="50292"/>
          </a:xfrm>
          <a:prstGeom prst="line">
            <a:avLst/>
          </a:prstGeom>
          <a:noFill/>
          <a:ln w="19050">
            <a:solidFill>
              <a:srgbClr val="0D9488"/>
            </a:solidFill>
            <a:prstDash val="solid"/>
          </a:ln>
        </p:spPr>
      </p:sp>
      <p:sp>
        <p:nvSpPr>
          <p:cNvPr id="22" name="Shape 20"/>
          <p:cNvSpPr/>
          <p:nvPr/>
        </p:nvSpPr>
        <p:spPr>
          <a:xfrm>
            <a:off x="274320" y="2290572"/>
            <a:ext cx="8595360" cy="493776"/>
          </a:xfrm>
          <a:prstGeom prst="roundRect">
            <a:avLst>
              <a:gd name="adj" fmla="val 12963"/>
            </a:avLst>
          </a:prstGeom>
          <a:solidFill>
            <a:srgbClr val="FFFFFF"/>
          </a:solidFill>
          <a:ln w="22860">
            <a:solidFill>
              <a:srgbClr val="0D9488"/>
            </a:solidFill>
            <a:prstDash val="solid"/>
          </a:ln>
        </p:spPr>
      </p:sp>
      <p:sp>
        <p:nvSpPr>
          <p:cNvPr id="23" name="Shape 21"/>
          <p:cNvSpPr/>
          <p:nvPr/>
        </p:nvSpPr>
        <p:spPr>
          <a:xfrm>
            <a:off x="274320" y="2290572"/>
            <a:ext cx="2606040" cy="493776"/>
          </a:xfrm>
          <a:prstGeom prst="roundRect">
            <a:avLst>
              <a:gd name="adj" fmla="val 12963"/>
            </a:avLst>
          </a:prstGeom>
          <a:solidFill>
            <a:srgbClr val="0D9488"/>
          </a:solidFill>
          <a:ln w="12700">
            <a:solidFill>
              <a:srgbClr val="0D9488"/>
            </a:solidFill>
            <a:prstDash val="solid"/>
          </a:ln>
        </p:spPr>
      </p:sp>
      <p:sp>
        <p:nvSpPr>
          <p:cNvPr id="24" name="Shape 22"/>
          <p:cNvSpPr/>
          <p:nvPr/>
        </p:nvSpPr>
        <p:spPr>
          <a:xfrm>
            <a:off x="2770632" y="2299716"/>
            <a:ext cx="118872" cy="475488"/>
          </a:xfrm>
          <a:prstGeom prst="rect">
            <a:avLst/>
          </a:prstGeom>
          <a:solidFill>
            <a:srgbClr val="0D9488"/>
          </a:solidFill>
          <a:ln w="12700">
            <a:solidFill>
              <a:srgbClr val="0D9488"/>
            </a:solidFill>
            <a:prstDash val="solid"/>
          </a:ln>
        </p:spPr>
      </p:sp>
      <p:sp>
        <p:nvSpPr>
          <p:cNvPr id="25" name="Text 23"/>
          <p:cNvSpPr/>
          <p:nvPr/>
        </p:nvSpPr>
        <p:spPr>
          <a:xfrm>
            <a:off x="365760" y="2327148"/>
            <a:ext cx="2468880" cy="420624"/>
          </a:xfrm>
          <a:prstGeom prst="rect">
            <a:avLst/>
          </a:prstGeom>
          <a:noFill/>
          <a:ln/>
        </p:spPr>
        <p:txBody>
          <a:bodyPr wrap="square" lIns="0" tIns="0" rIns="0" bIns="0" rtlCol="0" anchor="ctr"/>
          <a:lstStyle/>
          <a:p>
            <a:pPr marL="0" indent="0">
              <a:buNone/>
            </a:pPr>
            <a:r>
              <a:rPr lang="en-US" sz="1200" b="1" dirty="0">
                <a:solidFill>
                  <a:srgbClr val="FFFFFF"/>
                </a:solidFill>
                <a:latin typeface="Cambria"/>
                <a:ea typeface="Cambria"/>
                <a:cs typeface="Cambria" pitchFamily="34" charset="-120"/>
              </a:rPr>
              <a:t>  Learnable </a:t>
            </a:r>
            <a:r>
              <a:rPr lang="en-US" sz="1200" b="1" dirty="0" err="1">
                <a:solidFill>
                  <a:srgbClr val="FFFFFF"/>
                </a:solidFill>
                <a:latin typeface="Cambria"/>
                <a:ea typeface="Cambria"/>
                <a:cs typeface="Cambria" pitchFamily="34" charset="-120"/>
              </a:rPr>
              <a:t>Upsample</a:t>
            </a:r>
            <a:r>
              <a:rPr lang="en-US" sz="1200" b="1" dirty="0">
                <a:solidFill>
                  <a:srgbClr val="FFFFFF"/>
                </a:solidFill>
                <a:latin typeface="Cambria"/>
                <a:ea typeface="Cambria"/>
                <a:cs typeface="Cambria" pitchFamily="34" charset="-120"/>
              </a:rPr>
              <a:t>: </a:t>
            </a:r>
            <a:r>
              <a:rPr lang="en-US" sz="1200" b="1" dirty="0" err="1">
                <a:solidFill>
                  <a:srgbClr val="FFFFFF"/>
                </a:solidFill>
                <a:latin typeface="Cambria"/>
                <a:ea typeface="Cambria"/>
                <a:cs typeface="Cambria" pitchFamily="34" charset="-120"/>
              </a:rPr>
              <a:t>PixelShuffle</a:t>
            </a:r>
            <a:endParaRPr lang="en-US" sz="1200" dirty="0" err="1">
              <a:latin typeface="Cambria"/>
              <a:ea typeface="Cambria"/>
            </a:endParaRPr>
          </a:p>
        </p:txBody>
      </p:sp>
      <p:sp>
        <p:nvSpPr>
          <p:cNvPr id="26" name="Text 24"/>
          <p:cNvSpPr/>
          <p:nvPr/>
        </p:nvSpPr>
        <p:spPr>
          <a:xfrm>
            <a:off x="2999232" y="2290572"/>
            <a:ext cx="5833872" cy="493776"/>
          </a:xfrm>
          <a:prstGeom prst="rect">
            <a:avLst/>
          </a:prstGeom>
          <a:noFill/>
          <a:ln/>
        </p:spPr>
        <p:txBody>
          <a:bodyPr wrap="square" lIns="91440" tIns="45720" rIns="91440" bIns="45720" rtlCol="0" anchor="ctr"/>
          <a:lstStyle/>
          <a:p>
            <a:r>
              <a:rPr lang="en-US" sz="1200" dirty="0">
                <a:solidFill>
                  <a:srgbClr val="111111"/>
                </a:solidFill>
                <a:latin typeface="Calibri"/>
                <a:ea typeface="Calibri"/>
                <a:cs typeface="Calibri"/>
              </a:rPr>
              <a:t>Conv2D expands 103 → 412 channels. </a:t>
            </a:r>
            <a:r>
              <a:rPr lang="en-US" sz="1200" dirty="0" err="1">
                <a:solidFill>
                  <a:srgbClr val="111111"/>
                </a:solidFill>
                <a:latin typeface="Calibri"/>
                <a:ea typeface="Calibri"/>
                <a:cs typeface="Calibri"/>
              </a:rPr>
              <a:t>PixelShuffle</a:t>
            </a:r>
            <a:r>
              <a:rPr lang="en-US" sz="1200" dirty="0">
                <a:solidFill>
                  <a:srgbClr val="111111"/>
                </a:solidFill>
                <a:latin typeface="Calibri"/>
                <a:ea typeface="Calibri"/>
                <a:cs typeface="Calibri"/>
              </a:rPr>
              <a:t> rearranges 4 channels into a 2×2 block → output 64×64. </a:t>
            </a:r>
            <a:r>
              <a:rPr lang="en-US" sz="1200" dirty="0" err="1">
                <a:solidFill>
                  <a:srgbClr val="111111"/>
                </a:solidFill>
                <a:latin typeface="Calibri"/>
                <a:ea typeface="Calibri"/>
                <a:cs typeface="Calibri"/>
              </a:rPr>
              <a:t>SiLU</a:t>
            </a:r>
            <a:r>
              <a:rPr lang="en-US" sz="1200" dirty="0">
                <a:solidFill>
                  <a:srgbClr val="111111"/>
                </a:solidFill>
                <a:latin typeface="Calibri"/>
                <a:ea typeface="Calibri"/>
                <a:cs typeface="Calibri"/>
              </a:rPr>
              <a:t> + refinement conv. + Skip connection</a:t>
            </a:r>
          </a:p>
        </p:txBody>
      </p:sp>
      <p:sp>
        <p:nvSpPr>
          <p:cNvPr id="27" name="Shape 25"/>
          <p:cNvSpPr/>
          <p:nvPr/>
        </p:nvSpPr>
        <p:spPr>
          <a:xfrm>
            <a:off x="1577340" y="2784348"/>
            <a:ext cx="0" cy="50292"/>
          </a:xfrm>
          <a:prstGeom prst="line">
            <a:avLst/>
          </a:prstGeom>
          <a:noFill/>
          <a:ln w="19050">
            <a:solidFill>
              <a:srgbClr val="EA580C"/>
            </a:solidFill>
            <a:prstDash val="solid"/>
          </a:ln>
        </p:spPr>
      </p:sp>
      <p:sp>
        <p:nvSpPr>
          <p:cNvPr id="28" name="Shape 26"/>
          <p:cNvSpPr/>
          <p:nvPr/>
        </p:nvSpPr>
        <p:spPr>
          <a:xfrm>
            <a:off x="274320" y="2834640"/>
            <a:ext cx="8595360" cy="493776"/>
          </a:xfrm>
          <a:prstGeom prst="roundRect">
            <a:avLst>
              <a:gd name="adj" fmla="val 12963"/>
            </a:avLst>
          </a:prstGeom>
          <a:solidFill>
            <a:srgbClr val="FFFFFF"/>
          </a:solidFill>
          <a:ln w="22860">
            <a:solidFill>
              <a:srgbClr val="EA580C"/>
            </a:solidFill>
            <a:prstDash val="solid"/>
          </a:ln>
        </p:spPr>
      </p:sp>
      <p:sp>
        <p:nvSpPr>
          <p:cNvPr id="29" name="Shape 27"/>
          <p:cNvSpPr/>
          <p:nvPr/>
        </p:nvSpPr>
        <p:spPr>
          <a:xfrm>
            <a:off x="274320" y="2834640"/>
            <a:ext cx="2606040" cy="493776"/>
          </a:xfrm>
          <a:prstGeom prst="roundRect">
            <a:avLst>
              <a:gd name="adj" fmla="val 12963"/>
            </a:avLst>
          </a:prstGeom>
          <a:solidFill>
            <a:srgbClr val="EA580C"/>
          </a:solidFill>
          <a:ln w="12700">
            <a:solidFill>
              <a:srgbClr val="EA580C"/>
            </a:solidFill>
            <a:prstDash val="solid"/>
          </a:ln>
        </p:spPr>
      </p:sp>
      <p:sp>
        <p:nvSpPr>
          <p:cNvPr id="30" name="Shape 28"/>
          <p:cNvSpPr/>
          <p:nvPr/>
        </p:nvSpPr>
        <p:spPr>
          <a:xfrm>
            <a:off x="2770632" y="2843784"/>
            <a:ext cx="118872" cy="475488"/>
          </a:xfrm>
          <a:prstGeom prst="rect">
            <a:avLst/>
          </a:prstGeom>
          <a:solidFill>
            <a:srgbClr val="EA580C"/>
          </a:solidFill>
          <a:ln w="12700">
            <a:solidFill>
              <a:srgbClr val="EA580C"/>
            </a:solidFill>
            <a:prstDash val="solid"/>
          </a:ln>
        </p:spPr>
      </p:sp>
      <p:sp>
        <p:nvSpPr>
          <p:cNvPr id="31" name="Text 29"/>
          <p:cNvSpPr/>
          <p:nvPr/>
        </p:nvSpPr>
        <p:spPr>
          <a:xfrm>
            <a:off x="681446" y="2871216"/>
            <a:ext cx="2468880" cy="420624"/>
          </a:xfrm>
          <a:prstGeom prst="rect">
            <a:avLst/>
          </a:prstGeom>
          <a:noFill/>
          <a:ln/>
        </p:spPr>
        <p:txBody>
          <a:bodyPr wrap="square" lIns="0" tIns="0" rIns="0" bIns="0" rtlCol="0" anchor="ctr"/>
          <a:lstStyle/>
          <a:p>
            <a:pPr marL="0" indent="0">
              <a:buNone/>
            </a:pPr>
            <a:r>
              <a:rPr lang="en-US" sz="1200" b="1">
                <a:solidFill>
                  <a:srgbClr val="FFFFFF"/>
                </a:solidFill>
                <a:latin typeface="Cambria"/>
                <a:ea typeface="Cambria"/>
                <a:cs typeface="Cambria" pitchFamily="34" charset="-120"/>
              </a:rPr>
              <a:t>KAN Diffusion Denoiser</a:t>
            </a:r>
            <a:endParaRPr lang="en-US" sz="1200">
              <a:latin typeface="Cambria"/>
              <a:ea typeface="Cambria"/>
            </a:endParaRPr>
          </a:p>
        </p:txBody>
      </p:sp>
      <p:sp>
        <p:nvSpPr>
          <p:cNvPr id="32" name="Text 30"/>
          <p:cNvSpPr/>
          <p:nvPr/>
        </p:nvSpPr>
        <p:spPr>
          <a:xfrm>
            <a:off x="2999232" y="2834640"/>
            <a:ext cx="5833872" cy="493776"/>
          </a:xfrm>
          <a:prstGeom prst="rect">
            <a:avLst/>
          </a:prstGeom>
          <a:noFill/>
          <a:ln/>
        </p:spPr>
        <p:txBody>
          <a:bodyPr wrap="square" lIns="91440" tIns="45720" rIns="91440" bIns="45720" rtlCol="0" anchor="ctr"/>
          <a:lstStyle/>
          <a:p>
            <a:pPr marL="0" indent="0">
              <a:buNone/>
            </a:pPr>
            <a:r>
              <a:rPr lang="en-US" sz="1200" dirty="0">
                <a:solidFill>
                  <a:srgbClr val="111111"/>
                </a:solidFill>
                <a:latin typeface="Calibri"/>
                <a:ea typeface="Calibri"/>
                <a:cs typeface="Calibri"/>
              </a:rPr>
              <a:t>Timestep t encoded via sinusoidal embedding. Denoiser predicts noise ε added at time t; </a:t>
            </a:r>
            <a:r>
              <a:rPr lang="en-US" sz="1200">
                <a:solidFill>
                  <a:srgbClr val="111111"/>
                </a:solidFill>
                <a:latin typeface="Calibri"/>
                <a:ea typeface="Calibri"/>
                <a:cs typeface="Calibri"/>
              </a:rPr>
              <a:t>trained with MSE loss. SR output passes through the denoiser for iterative </a:t>
            </a:r>
            <a:r>
              <a:rPr lang="en-US" sz="1200" dirty="0">
                <a:solidFill>
                  <a:srgbClr val="111111"/>
                </a:solidFill>
                <a:latin typeface="Calibri"/>
                <a:ea typeface="Calibri"/>
                <a:cs typeface="Calibri"/>
              </a:rPr>
              <a:t>refinement.</a:t>
            </a:r>
            <a:endParaRPr lang="en-US" sz="1200" dirty="0">
              <a:solidFill>
                <a:srgbClr val="111111"/>
              </a:solidFill>
              <a:ea typeface="Calibri"/>
              <a:cs typeface="Calibri"/>
            </a:endParaRPr>
          </a:p>
        </p:txBody>
      </p:sp>
      <p:sp>
        <p:nvSpPr>
          <p:cNvPr id="33" name="Shape 31"/>
          <p:cNvSpPr/>
          <p:nvPr/>
        </p:nvSpPr>
        <p:spPr>
          <a:xfrm>
            <a:off x="1577340" y="3328416"/>
            <a:ext cx="0" cy="50292"/>
          </a:xfrm>
          <a:prstGeom prst="line">
            <a:avLst/>
          </a:prstGeom>
          <a:noFill/>
          <a:ln w="19050">
            <a:solidFill>
              <a:srgbClr val="DC2626"/>
            </a:solidFill>
            <a:prstDash val="solid"/>
          </a:ln>
        </p:spPr>
      </p:sp>
      <p:sp>
        <p:nvSpPr>
          <p:cNvPr id="34" name="Shape 32"/>
          <p:cNvSpPr/>
          <p:nvPr/>
        </p:nvSpPr>
        <p:spPr>
          <a:xfrm>
            <a:off x="274320" y="3378708"/>
            <a:ext cx="8595360" cy="493776"/>
          </a:xfrm>
          <a:prstGeom prst="roundRect">
            <a:avLst>
              <a:gd name="adj" fmla="val 12963"/>
            </a:avLst>
          </a:prstGeom>
          <a:solidFill>
            <a:srgbClr val="FFFFFF"/>
          </a:solidFill>
          <a:ln w="22860">
            <a:solidFill>
              <a:srgbClr val="DC2626"/>
            </a:solidFill>
            <a:prstDash val="solid"/>
          </a:ln>
        </p:spPr>
      </p:sp>
      <p:sp>
        <p:nvSpPr>
          <p:cNvPr id="35" name="Shape 33"/>
          <p:cNvSpPr/>
          <p:nvPr/>
        </p:nvSpPr>
        <p:spPr>
          <a:xfrm>
            <a:off x="274320" y="3378708"/>
            <a:ext cx="2606040" cy="493776"/>
          </a:xfrm>
          <a:prstGeom prst="roundRect">
            <a:avLst>
              <a:gd name="adj" fmla="val 12963"/>
            </a:avLst>
          </a:prstGeom>
          <a:solidFill>
            <a:srgbClr val="DC2626"/>
          </a:solidFill>
          <a:ln w="12700">
            <a:solidFill>
              <a:srgbClr val="DC2626"/>
            </a:solidFill>
            <a:prstDash val="solid"/>
          </a:ln>
        </p:spPr>
      </p:sp>
      <p:sp>
        <p:nvSpPr>
          <p:cNvPr id="36" name="Shape 34"/>
          <p:cNvSpPr/>
          <p:nvPr/>
        </p:nvSpPr>
        <p:spPr>
          <a:xfrm>
            <a:off x="2770632" y="3387852"/>
            <a:ext cx="118872" cy="475488"/>
          </a:xfrm>
          <a:prstGeom prst="rect">
            <a:avLst/>
          </a:prstGeom>
          <a:solidFill>
            <a:srgbClr val="DC2626"/>
          </a:solidFill>
          <a:ln w="12700">
            <a:solidFill>
              <a:srgbClr val="DC2626"/>
            </a:solidFill>
            <a:prstDash val="solid"/>
          </a:ln>
        </p:spPr>
      </p:sp>
      <p:sp>
        <p:nvSpPr>
          <p:cNvPr id="37" name="Text 35"/>
          <p:cNvSpPr/>
          <p:nvPr/>
        </p:nvSpPr>
        <p:spPr>
          <a:xfrm>
            <a:off x="877389" y="3475155"/>
            <a:ext cx="2468880" cy="420624"/>
          </a:xfrm>
          <a:prstGeom prst="rect">
            <a:avLst/>
          </a:prstGeom>
          <a:noFill/>
          <a:ln/>
        </p:spPr>
        <p:txBody>
          <a:bodyPr wrap="square" lIns="0" tIns="0" rIns="0" bIns="0" rtlCol="0" anchor="ctr"/>
          <a:lstStyle/>
          <a:p>
            <a:pPr marL="0" indent="0">
              <a:buNone/>
            </a:pPr>
            <a:r>
              <a:rPr lang="en-US" sz="1200" b="1">
                <a:solidFill>
                  <a:srgbClr val="FFFFFF"/>
                </a:solidFill>
                <a:latin typeface="Cambria"/>
                <a:ea typeface="Cambria"/>
                <a:cs typeface="Cambria" pitchFamily="34" charset="-120"/>
              </a:rPr>
              <a:t>  KAN Causal Graph</a:t>
            </a:r>
            <a:endParaRPr lang="en-US" sz="1200">
              <a:latin typeface="Cambria"/>
              <a:ea typeface="Cambria"/>
            </a:endParaRPr>
          </a:p>
          <a:p>
            <a:pPr marL="0" indent="0">
              <a:buNone/>
            </a:pPr>
            <a:endParaRPr lang="en-US" sz="1200" i="1" dirty="0">
              <a:solidFill>
                <a:srgbClr val="FFFFFF"/>
              </a:solidFill>
              <a:latin typeface="Cambria"/>
              <a:ea typeface="Cambria"/>
            </a:endParaRPr>
          </a:p>
        </p:txBody>
      </p:sp>
      <p:sp>
        <p:nvSpPr>
          <p:cNvPr id="38" name="Text 36"/>
          <p:cNvSpPr/>
          <p:nvPr/>
        </p:nvSpPr>
        <p:spPr>
          <a:xfrm>
            <a:off x="2999232" y="3384150"/>
            <a:ext cx="6035257" cy="488334"/>
          </a:xfrm>
          <a:prstGeom prst="rect">
            <a:avLst/>
          </a:prstGeom>
          <a:noFill/>
          <a:ln/>
        </p:spPr>
        <p:txBody>
          <a:bodyPr wrap="square" lIns="91440" tIns="45720" rIns="91440" bIns="45720" rtlCol="0" anchor="ctr"/>
          <a:lstStyle/>
          <a:p>
            <a:r>
              <a:rPr lang="en-US" sz="1200" dirty="0">
                <a:solidFill>
                  <a:srgbClr val="111111"/>
                </a:solidFill>
                <a:latin typeface="Calibri"/>
                <a:ea typeface="Calibri"/>
                <a:cs typeface="Calibri"/>
              </a:rPr>
              <a:t>SR image flattened→ FastKANConv1D→ </a:t>
            </a:r>
            <a:r>
              <a:rPr lang="en-US" sz="1200" dirty="0" err="1">
                <a:solidFill>
                  <a:srgbClr val="111111"/>
                </a:solidFill>
                <a:latin typeface="Calibri"/>
                <a:ea typeface="Calibri"/>
                <a:cs typeface="Calibri"/>
              </a:rPr>
              <a:t>causal_matrix</a:t>
            </a:r>
            <a:r>
              <a:rPr lang="en-US" sz="1200" dirty="0">
                <a:solidFill>
                  <a:srgbClr val="111111"/>
                </a:solidFill>
                <a:latin typeface="Calibri"/>
                <a:ea typeface="Calibri"/>
                <a:cs typeface="Calibri"/>
              </a:rPr>
              <a:t>. Produces per-band causal importance scores. Causal loss enforces sparsity. Used for XAI band-importance explanation.</a:t>
            </a:r>
            <a:endParaRPr lang="en-US" sz="1200" dirty="0">
              <a:latin typeface="Calibri"/>
              <a:ea typeface="Calibri"/>
              <a:cs typeface="Calibri"/>
            </a:endParaRPr>
          </a:p>
        </p:txBody>
      </p:sp>
      <p:sp>
        <p:nvSpPr>
          <p:cNvPr id="39" name="Shape 37"/>
          <p:cNvSpPr/>
          <p:nvPr/>
        </p:nvSpPr>
        <p:spPr>
          <a:xfrm>
            <a:off x="1577340" y="3872484"/>
            <a:ext cx="0" cy="50292"/>
          </a:xfrm>
          <a:prstGeom prst="line">
            <a:avLst/>
          </a:prstGeom>
          <a:noFill/>
          <a:ln w="19050">
            <a:solidFill>
              <a:srgbClr val="16A34A"/>
            </a:solidFill>
            <a:prstDash val="solid"/>
          </a:ln>
        </p:spPr>
      </p:sp>
      <p:sp>
        <p:nvSpPr>
          <p:cNvPr id="40" name="Shape 38"/>
          <p:cNvSpPr/>
          <p:nvPr/>
        </p:nvSpPr>
        <p:spPr>
          <a:xfrm>
            <a:off x="274320" y="3922776"/>
            <a:ext cx="8595360" cy="493776"/>
          </a:xfrm>
          <a:prstGeom prst="roundRect">
            <a:avLst>
              <a:gd name="adj" fmla="val 12963"/>
            </a:avLst>
          </a:prstGeom>
          <a:solidFill>
            <a:srgbClr val="FFFFFF"/>
          </a:solidFill>
          <a:ln w="22860">
            <a:solidFill>
              <a:srgbClr val="16A34A"/>
            </a:solidFill>
            <a:prstDash val="solid"/>
          </a:ln>
        </p:spPr>
      </p:sp>
      <p:sp>
        <p:nvSpPr>
          <p:cNvPr id="41" name="Shape 39"/>
          <p:cNvSpPr/>
          <p:nvPr/>
        </p:nvSpPr>
        <p:spPr>
          <a:xfrm>
            <a:off x="274320" y="3922776"/>
            <a:ext cx="2606040" cy="493776"/>
          </a:xfrm>
          <a:prstGeom prst="roundRect">
            <a:avLst>
              <a:gd name="adj" fmla="val 12963"/>
            </a:avLst>
          </a:prstGeom>
          <a:solidFill>
            <a:srgbClr val="16A34A"/>
          </a:solidFill>
          <a:ln w="12700">
            <a:solidFill>
              <a:srgbClr val="16A34A"/>
            </a:solidFill>
            <a:prstDash val="solid"/>
          </a:ln>
        </p:spPr>
      </p:sp>
      <p:sp>
        <p:nvSpPr>
          <p:cNvPr id="42" name="Shape 40"/>
          <p:cNvSpPr/>
          <p:nvPr/>
        </p:nvSpPr>
        <p:spPr>
          <a:xfrm>
            <a:off x="2770632" y="3931920"/>
            <a:ext cx="118872" cy="475488"/>
          </a:xfrm>
          <a:prstGeom prst="rect">
            <a:avLst/>
          </a:prstGeom>
          <a:solidFill>
            <a:srgbClr val="16A34A"/>
          </a:solidFill>
          <a:ln w="12700">
            <a:solidFill>
              <a:srgbClr val="16A34A"/>
            </a:solidFill>
            <a:prstDash val="solid"/>
          </a:ln>
        </p:spPr>
      </p:sp>
      <p:sp>
        <p:nvSpPr>
          <p:cNvPr id="43" name="Text 41"/>
          <p:cNvSpPr/>
          <p:nvPr/>
        </p:nvSpPr>
        <p:spPr>
          <a:xfrm>
            <a:off x="371203" y="3959352"/>
            <a:ext cx="2468880" cy="420624"/>
          </a:xfrm>
          <a:prstGeom prst="rect">
            <a:avLst/>
          </a:prstGeom>
          <a:noFill/>
          <a:ln/>
        </p:spPr>
        <p:txBody>
          <a:bodyPr wrap="square" lIns="0" tIns="0" rIns="0" bIns="0" rtlCol="0" anchor="ctr"/>
          <a:lstStyle/>
          <a:p>
            <a:r>
              <a:rPr lang="en-US" sz="1200" b="1">
                <a:solidFill>
                  <a:srgbClr val="FFFFFF"/>
                </a:solidFill>
                <a:latin typeface="Cambria"/>
                <a:ea typeface="Cambria"/>
                <a:cs typeface="Cambria" pitchFamily="34" charset="-120"/>
              </a:rPr>
              <a:t>Physics-Based Spectral </a:t>
            </a:r>
            <a:r>
              <a:rPr lang="en-US" sz="1200" b="1" dirty="0">
                <a:solidFill>
                  <a:srgbClr val="FFFFFF"/>
                </a:solidFill>
                <a:latin typeface="Cambria"/>
                <a:ea typeface="Cambria"/>
                <a:cs typeface="Cambria" pitchFamily="34" charset="-120"/>
              </a:rPr>
              <a:t>Unmixing</a:t>
            </a:r>
            <a:endParaRPr lang="en-US" sz="1200" dirty="0">
              <a:latin typeface="Cambria"/>
              <a:ea typeface="Cambria"/>
            </a:endParaRPr>
          </a:p>
        </p:txBody>
      </p:sp>
      <p:sp>
        <p:nvSpPr>
          <p:cNvPr id="44" name="Text 42"/>
          <p:cNvSpPr/>
          <p:nvPr/>
        </p:nvSpPr>
        <p:spPr>
          <a:xfrm>
            <a:off x="2999232" y="3922776"/>
            <a:ext cx="6051585" cy="493776"/>
          </a:xfrm>
          <a:prstGeom prst="rect">
            <a:avLst/>
          </a:prstGeom>
          <a:noFill/>
          <a:ln/>
        </p:spPr>
        <p:txBody>
          <a:bodyPr wrap="square" lIns="91440" tIns="45720" rIns="91440" bIns="45720" rtlCol="0" anchor="ctr"/>
          <a:lstStyle/>
          <a:p>
            <a:r>
              <a:rPr lang="en-US" sz="1200" dirty="0">
                <a:solidFill>
                  <a:srgbClr val="111111"/>
                </a:solidFill>
                <a:latin typeface="Calibri"/>
                <a:ea typeface="Calibri"/>
                <a:cs typeface="Calibri"/>
              </a:rPr>
              <a:t>Each pixel decomposed to 9 endmember material signatures (asphalt, vegetation, soil, etc.,). Abundance maps via </a:t>
            </a:r>
            <a:r>
              <a:rPr lang="en-US" sz="1200" dirty="0" err="1">
                <a:solidFill>
                  <a:srgbClr val="111111"/>
                </a:solidFill>
                <a:latin typeface="Calibri"/>
                <a:ea typeface="Calibri"/>
                <a:cs typeface="Calibri"/>
              </a:rPr>
              <a:t>softmax</a:t>
            </a:r>
            <a:r>
              <a:rPr lang="en-US" sz="1200" dirty="0">
                <a:solidFill>
                  <a:srgbClr val="111111"/>
                </a:solidFill>
                <a:latin typeface="Calibri"/>
                <a:ea typeface="Calibri"/>
                <a:cs typeface="Calibri"/>
              </a:rPr>
              <a:t>. </a:t>
            </a:r>
            <a:r>
              <a:rPr lang="en-US" sz="1200" dirty="0">
                <a:solidFill>
                  <a:srgbClr val="111111"/>
                </a:solidFill>
                <a:ea typeface="+mn-lt"/>
                <a:cs typeface="+mn-lt"/>
              </a:rPr>
              <a:t>Enforces physically meaningful spectral reconstruction.</a:t>
            </a:r>
            <a:endParaRPr lang="en-US" sz="1200" dirty="0">
              <a:solidFill>
                <a:srgbClr val="111111"/>
              </a:solidFill>
              <a:latin typeface="Calibri"/>
              <a:ea typeface="Calibri"/>
              <a:cs typeface="Calibri"/>
            </a:endParaRPr>
          </a:p>
        </p:txBody>
      </p:sp>
      <p:sp>
        <p:nvSpPr>
          <p:cNvPr id="45" name="Shape 43"/>
          <p:cNvSpPr/>
          <p:nvPr/>
        </p:nvSpPr>
        <p:spPr>
          <a:xfrm>
            <a:off x="1577340" y="4416552"/>
            <a:ext cx="0" cy="50292"/>
          </a:xfrm>
          <a:prstGeom prst="line">
            <a:avLst/>
          </a:prstGeom>
          <a:noFill/>
          <a:ln w="19050">
            <a:solidFill>
              <a:srgbClr val="1A2E4A"/>
            </a:solidFill>
            <a:prstDash val="solid"/>
          </a:ln>
        </p:spPr>
      </p:sp>
      <p:sp>
        <p:nvSpPr>
          <p:cNvPr id="46" name="Shape 44"/>
          <p:cNvSpPr/>
          <p:nvPr/>
        </p:nvSpPr>
        <p:spPr>
          <a:xfrm>
            <a:off x="274320" y="4466844"/>
            <a:ext cx="8595360" cy="493776"/>
          </a:xfrm>
          <a:prstGeom prst="roundRect">
            <a:avLst>
              <a:gd name="adj" fmla="val 12963"/>
            </a:avLst>
          </a:prstGeom>
          <a:solidFill>
            <a:srgbClr val="FFFFFF"/>
          </a:solidFill>
          <a:ln w="22860">
            <a:solidFill>
              <a:srgbClr val="1A2E4A"/>
            </a:solidFill>
            <a:prstDash val="solid"/>
          </a:ln>
        </p:spPr>
      </p:sp>
      <p:sp>
        <p:nvSpPr>
          <p:cNvPr id="47" name="Shape 45"/>
          <p:cNvSpPr/>
          <p:nvPr/>
        </p:nvSpPr>
        <p:spPr>
          <a:xfrm>
            <a:off x="274320" y="4466844"/>
            <a:ext cx="2606040" cy="493776"/>
          </a:xfrm>
          <a:prstGeom prst="roundRect">
            <a:avLst>
              <a:gd name="adj" fmla="val 12963"/>
            </a:avLst>
          </a:prstGeom>
          <a:solidFill>
            <a:srgbClr val="1A2E4A"/>
          </a:solidFill>
          <a:ln w="12700">
            <a:solidFill>
              <a:srgbClr val="1A2E4A"/>
            </a:solidFill>
            <a:prstDash val="solid"/>
          </a:ln>
        </p:spPr>
      </p:sp>
      <p:sp>
        <p:nvSpPr>
          <p:cNvPr id="48" name="Shape 46"/>
          <p:cNvSpPr/>
          <p:nvPr/>
        </p:nvSpPr>
        <p:spPr>
          <a:xfrm>
            <a:off x="2770632" y="4475988"/>
            <a:ext cx="118872" cy="475488"/>
          </a:xfrm>
          <a:prstGeom prst="rect">
            <a:avLst/>
          </a:prstGeom>
          <a:solidFill>
            <a:srgbClr val="1A2E4A"/>
          </a:solidFill>
          <a:ln w="12700">
            <a:solidFill>
              <a:srgbClr val="1A2E4A"/>
            </a:solidFill>
            <a:prstDash val="solid"/>
          </a:ln>
        </p:spPr>
      </p:sp>
      <p:sp>
        <p:nvSpPr>
          <p:cNvPr id="49" name="Text 47"/>
          <p:cNvSpPr/>
          <p:nvPr/>
        </p:nvSpPr>
        <p:spPr>
          <a:xfrm>
            <a:off x="681446" y="4497977"/>
            <a:ext cx="2468880" cy="420624"/>
          </a:xfrm>
          <a:prstGeom prst="rect">
            <a:avLst/>
          </a:prstGeom>
          <a:noFill/>
          <a:ln/>
        </p:spPr>
        <p:txBody>
          <a:bodyPr wrap="square" lIns="0" tIns="0" rIns="0" bIns="0" rtlCol="0" anchor="ctr"/>
          <a:lstStyle/>
          <a:p>
            <a:pPr marL="0" indent="0">
              <a:buNone/>
            </a:pPr>
            <a:r>
              <a:rPr lang="en-US" sz="1200" b="1" dirty="0">
                <a:solidFill>
                  <a:srgbClr val="FFFFFF"/>
                </a:solidFill>
                <a:latin typeface="Cambria"/>
                <a:ea typeface="Cambria"/>
                <a:cs typeface="Cambria" pitchFamily="34" charset="-120"/>
              </a:rPr>
              <a:t> SR Output (64×64×103)</a:t>
            </a:r>
            <a:endParaRPr lang="en-US" sz="1200" dirty="0">
              <a:latin typeface="Cambria"/>
              <a:ea typeface="Cambria"/>
            </a:endParaRPr>
          </a:p>
        </p:txBody>
      </p:sp>
      <p:sp>
        <p:nvSpPr>
          <p:cNvPr id="50" name="Text 48"/>
          <p:cNvSpPr/>
          <p:nvPr/>
        </p:nvSpPr>
        <p:spPr>
          <a:xfrm>
            <a:off x="2999232" y="4466844"/>
            <a:ext cx="5833872" cy="493776"/>
          </a:xfrm>
          <a:prstGeom prst="rect">
            <a:avLst/>
          </a:prstGeom>
          <a:noFill/>
          <a:ln/>
        </p:spPr>
        <p:txBody>
          <a:bodyPr wrap="square" rtlCol="0" anchor="ctr"/>
          <a:lstStyle/>
          <a:p>
            <a:pPr marL="0" indent="0">
              <a:buNone/>
            </a:pPr>
            <a:r>
              <a:rPr lang="en-US" sz="1200" dirty="0">
                <a:solidFill>
                  <a:srgbClr val="111111"/>
                </a:solidFill>
                <a:latin typeface="Calibri" pitchFamily="34" charset="0"/>
                <a:ea typeface="Calibri" pitchFamily="34" charset="-122"/>
                <a:cs typeface="Calibri" pitchFamily="34" charset="-120"/>
              </a:rPr>
              <a:t>Final super-resolved hyperspectral image at 2× spatial resolution with full 103-band spectral fidelity. Evaluated on PSNR, SSIM, SAM, A-SSIM, and XAI faithfulness metrics.</a:t>
            </a:r>
            <a:endParaRPr lang="en-US" sz="12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5">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9144000" cy="594360"/>
          </a:xfrm>
          <a:prstGeom prst="rect">
            <a:avLst/>
          </a:prstGeom>
          <a:solidFill>
            <a:srgbClr val="1A2E4A"/>
          </a:solidFill>
          <a:ln w="12700">
            <a:solidFill>
              <a:srgbClr val="1A2E4A"/>
            </a:solidFill>
            <a:prstDash val="solid"/>
          </a:ln>
        </p:spPr>
      </p:sp>
      <p:sp>
        <p:nvSpPr>
          <p:cNvPr id="3" name="Text 1"/>
          <p:cNvSpPr/>
          <p:nvPr/>
        </p:nvSpPr>
        <p:spPr>
          <a:xfrm>
            <a:off x="457200" y="45720"/>
            <a:ext cx="8229600" cy="502920"/>
          </a:xfrm>
          <a:prstGeom prst="rect">
            <a:avLst/>
          </a:prstGeom>
          <a:noFill/>
          <a:ln/>
        </p:spPr>
        <p:txBody>
          <a:bodyPr wrap="square" lIns="0" tIns="0" rIns="0" bIns="0" rtlCol="0" anchor="ctr"/>
          <a:lstStyle/>
          <a:p>
            <a:pPr marL="0" indent="0" algn="l">
              <a:buNone/>
            </a:pPr>
            <a:r>
              <a:rPr lang="en-US" sz="2200" b="1" dirty="0">
                <a:solidFill>
                  <a:srgbClr val="FFFFFF"/>
                </a:solidFill>
                <a:latin typeface="Cambria" pitchFamily="34" charset="0"/>
                <a:ea typeface="Cambria" pitchFamily="34" charset="-122"/>
                <a:cs typeface="Cambria" pitchFamily="34" charset="-120"/>
              </a:rPr>
              <a:t>Why Diffusion? — Replacing GAN with Denoising Diffusion</a:t>
            </a:r>
            <a:endParaRPr lang="en-US" sz="2200" dirty="0"/>
          </a:p>
        </p:txBody>
      </p:sp>
      <p:sp>
        <p:nvSpPr>
          <p:cNvPr id="4" name="Text 2"/>
          <p:cNvSpPr/>
          <p:nvPr/>
        </p:nvSpPr>
        <p:spPr>
          <a:xfrm>
            <a:off x="411480" y="685800"/>
            <a:ext cx="8321040" cy="274320"/>
          </a:xfrm>
          <a:prstGeom prst="rect">
            <a:avLst/>
          </a:prstGeom>
          <a:noFill/>
          <a:ln/>
        </p:spPr>
        <p:txBody>
          <a:bodyPr wrap="square" lIns="91440" tIns="45720" rIns="91440" bIns="45720" rtlCol="0" anchor="ctr"/>
          <a:lstStyle/>
          <a:p>
            <a:pPr marL="0" indent="0">
              <a:buNone/>
            </a:pPr>
            <a:r>
              <a:rPr lang="en-US" sz="1400" b="1" dirty="0">
                <a:solidFill>
                  <a:srgbClr val="1A2E4A"/>
                </a:solidFill>
                <a:latin typeface="Cambria"/>
                <a:ea typeface="Cambria"/>
                <a:cs typeface="Cambria" pitchFamily="34" charset="-120"/>
              </a:rPr>
              <a:t>What is a Diffusion Model?</a:t>
            </a:r>
            <a:endParaRPr lang="en-US" sz="1400" b="1">
              <a:latin typeface="Cambria"/>
              <a:ea typeface="Cambria"/>
              <a:cs typeface="Calibri"/>
            </a:endParaRPr>
          </a:p>
        </p:txBody>
      </p:sp>
      <p:sp>
        <p:nvSpPr>
          <p:cNvPr id="5" name="Text 3"/>
          <p:cNvSpPr/>
          <p:nvPr/>
        </p:nvSpPr>
        <p:spPr>
          <a:xfrm>
            <a:off x="411480" y="978408"/>
            <a:ext cx="8321040" cy="621792"/>
          </a:xfrm>
          <a:prstGeom prst="rect">
            <a:avLst/>
          </a:prstGeom>
          <a:noFill/>
          <a:ln/>
        </p:spPr>
        <p:txBody>
          <a:bodyPr wrap="square" lIns="91440" tIns="45720" rIns="91440" bIns="45720" rtlCol="0" anchor="ctr"/>
          <a:lstStyle/>
          <a:p>
            <a:pPr marL="0" indent="0">
              <a:buNone/>
            </a:pPr>
            <a:r>
              <a:rPr lang="en-US" sz="1200" dirty="0">
                <a:solidFill>
                  <a:srgbClr val="111111"/>
                </a:solidFill>
                <a:latin typeface="Calibri"/>
                <a:ea typeface="Calibri"/>
                <a:cs typeface="Calibri"/>
              </a:rPr>
              <a:t>A diffusion model learns to denoise. During training, Gaussian noise is added to a clean image in T steps (the forward process). The model then learns to reverse this process — predicting the noise at each timestep t, conditioned on the noisy input. At inference, starting from a roughly correct SR estimate, the denoiser refines it by iteratively removing residual error, much like sculpting a form from rough material into fine detail.</a:t>
            </a:r>
            <a:endParaRPr lang="en-US" sz="1200">
              <a:latin typeface="Calibri"/>
              <a:ea typeface="Calibri"/>
              <a:cs typeface="Calibri"/>
            </a:endParaRPr>
          </a:p>
        </p:txBody>
      </p:sp>
      <p:sp>
        <p:nvSpPr>
          <p:cNvPr id="9" name="Text 7"/>
          <p:cNvSpPr/>
          <p:nvPr/>
        </p:nvSpPr>
        <p:spPr>
          <a:xfrm>
            <a:off x="411480" y="2002536"/>
            <a:ext cx="4023360" cy="256032"/>
          </a:xfrm>
          <a:prstGeom prst="rect">
            <a:avLst/>
          </a:prstGeom>
          <a:noFill/>
          <a:ln/>
        </p:spPr>
        <p:txBody>
          <a:bodyPr wrap="square" lIns="0" tIns="0" rIns="0" bIns="0" rtlCol="0" anchor="ctr"/>
          <a:lstStyle/>
          <a:p>
            <a:pPr marL="0" indent="0">
              <a:buNone/>
            </a:pPr>
            <a:r>
              <a:rPr lang="en-US" sz="1200" b="1" dirty="0">
                <a:solidFill>
                  <a:srgbClr val="FFFFFF"/>
                </a:solidFill>
                <a:latin typeface="Cambria" pitchFamily="34" charset="0"/>
                <a:ea typeface="Cambria" pitchFamily="34" charset="-122"/>
                <a:cs typeface="Cambria" pitchFamily="34" charset="-120"/>
              </a:rPr>
              <a:t>GAN (KAN-GAN)</a:t>
            </a:r>
            <a:endParaRPr lang="en-US" sz="1200" dirty="0"/>
          </a:p>
        </p:txBody>
      </p:sp>
      <p:sp>
        <p:nvSpPr>
          <p:cNvPr id="11" name="Shape 9"/>
          <p:cNvSpPr/>
          <p:nvPr/>
        </p:nvSpPr>
        <p:spPr>
          <a:xfrm>
            <a:off x="4482737" y="1719289"/>
            <a:ext cx="4206240" cy="3174274"/>
          </a:xfrm>
          <a:prstGeom prst="roundRect">
            <a:avLst>
              <a:gd name="adj" fmla="val 3333"/>
            </a:avLst>
          </a:prstGeom>
          <a:solidFill>
            <a:srgbClr val="F3F4F6"/>
          </a:solidFill>
          <a:ln w="19050">
            <a:solidFill>
              <a:srgbClr val="16A34A"/>
            </a:solidFill>
            <a:prstDash val="solid"/>
          </a:ln>
        </p:spPr>
      </p:sp>
      <p:sp>
        <p:nvSpPr>
          <p:cNvPr id="12" name="Shape 10"/>
          <p:cNvSpPr/>
          <p:nvPr/>
        </p:nvSpPr>
        <p:spPr>
          <a:xfrm>
            <a:off x="4482737" y="1719290"/>
            <a:ext cx="4206240" cy="310896"/>
          </a:xfrm>
          <a:prstGeom prst="roundRect">
            <a:avLst>
              <a:gd name="adj" fmla="val 23529"/>
            </a:avLst>
          </a:prstGeom>
          <a:solidFill>
            <a:srgbClr val="16A34A"/>
          </a:solidFill>
          <a:ln w="12700">
            <a:solidFill>
              <a:srgbClr val="16A34A"/>
            </a:solidFill>
            <a:prstDash val="solid"/>
          </a:ln>
        </p:spPr>
      </p:sp>
      <p:sp>
        <p:nvSpPr>
          <p:cNvPr id="13" name="Text 11"/>
          <p:cNvSpPr/>
          <p:nvPr/>
        </p:nvSpPr>
        <p:spPr>
          <a:xfrm>
            <a:off x="4574177" y="1719507"/>
            <a:ext cx="4023360" cy="256032"/>
          </a:xfrm>
          <a:prstGeom prst="rect">
            <a:avLst/>
          </a:prstGeom>
          <a:noFill/>
          <a:ln/>
        </p:spPr>
        <p:txBody>
          <a:bodyPr wrap="square" lIns="0" tIns="0" rIns="0" bIns="0" rtlCol="0" anchor="ctr"/>
          <a:lstStyle/>
          <a:p>
            <a:pPr marL="0" indent="0">
              <a:buNone/>
            </a:pPr>
            <a:r>
              <a:rPr lang="en-US" sz="1400" b="1">
                <a:solidFill>
                  <a:srgbClr val="FFFFFF"/>
                </a:solidFill>
                <a:latin typeface="Cambria"/>
                <a:ea typeface="Cambria"/>
                <a:cs typeface="Cambria" pitchFamily="34" charset="-120"/>
              </a:rPr>
              <a:t>Diffusion Denoiser </a:t>
            </a:r>
            <a:endParaRPr lang="en-US" sz="1400">
              <a:latin typeface="Cambria"/>
              <a:ea typeface="Cambria"/>
            </a:endParaRPr>
          </a:p>
        </p:txBody>
      </p:sp>
      <p:sp>
        <p:nvSpPr>
          <p:cNvPr id="14" name="Text 12"/>
          <p:cNvSpPr/>
          <p:nvPr/>
        </p:nvSpPr>
        <p:spPr>
          <a:xfrm>
            <a:off x="4548923" y="2342606"/>
            <a:ext cx="4077787" cy="2300151"/>
          </a:xfrm>
          <a:prstGeom prst="rect">
            <a:avLst/>
          </a:prstGeom>
          <a:noFill/>
          <a:ln/>
        </p:spPr>
        <p:txBody>
          <a:bodyPr wrap="square" lIns="91440" tIns="45720" rIns="91440" bIns="45720" rtlCol="0" anchor="ctr"/>
          <a:lstStyle/>
          <a:p>
            <a:pPr marL="114300" indent="-114300">
              <a:buSzPct val="100000"/>
              <a:buChar char="•"/>
            </a:pPr>
            <a:r>
              <a:rPr lang="en-US" sz="1200" dirty="0">
                <a:solidFill>
                  <a:srgbClr val="111111"/>
                </a:solidFill>
                <a:latin typeface="Calibri"/>
                <a:ea typeface="Calibri"/>
                <a:cs typeface="Calibri"/>
              </a:rPr>
              <a:t>Single-objective training: MSE between predicted noise and actual noise — stable, no adversarial game.</a:t>
            </a:r>
            <a:endParaRPr lang="en-US" sz="1400">
              <a:latin typeface="Calibri"/>
              <a:ea typeface="Calibri"/>
              <a:cs typeface="Calibri"/>
            </a:endParaRPr>
          </a:p>
          <a:p>
            <a:pPr marL="114300" indent="-114300">
              <a:buSzPct val="100000"/>
              <a:buChar char="•"/>
            </a:pPr>
            <a:r>
              <a:rPr lang="en-US" sz="1200" dirty="0">
                <a:solidFill>
                  <a:srgbClr val="111111"/>
                </a:solidFill>
                <a:latin typeface="Calibri"/>
                <a:ea typeface="Calibri"/>
                <a:cs typeface="Calibri"/>
              </a:rPr>
              <a:t>Residual learning: </a:t>
            </a:r>
            <a:r>
              <a:rPr lang="en-US" sz="1200" dirty="0" err="1">
                <a:solidFill>
                  <a:srgbClr val="111111"/>
                </a:solidFill>
                <a:latin typeface="Calibri"/>
                <a:ea typeface="Calibri"/>
                <a:cs typeface="Calibri"/>
              </a:rPr>
              <a:t>x_sr</a:t>
            </a:r>
            <a:r>
              <a:rPr lang="en-US" sz="1200" dirty="0">
                <a:solidFill>
                  <a:srgbClr val="111111"/>
                </a:solidFill>
                <a:latin typeface="Calibri"/>
                <a:ea typeface="Calibri"/>
                <a:cs typeface="Calibri"/>
              </a:rPr>
              <a:t> = </a:t>
            </a:r>
            <a:r>
              <a:rPr lang="en-US" sz="1200" dirty="0" err="1">
                <a:solidFill>
                  <a:srgbClr val="111111"/>
                </a:solidFill>
                <a:latin typeface="Calibri"/>
                <a:ea typeface="Calibri"/>
                <a:cs typeface="Calibri"/>
              </a:rPr>
              <a:t>denoiser_output</a:t>
            </a:r>
            <a:r>
              <a:rPr lang="en-US" sz="1200" dirty="0">
                <a:solidFill>
                  <a:srgbClr val="111111"/>
                </a:solidFill>
                <a:latin typeface="Calibri"/>
                <a:ea typeface="Calibri"/>
                <a:cs typeface="Calibri"/>
              </a:rPr>
              <a:t> + </a:t>
            </a:r>
            <a:r>
              <a:rPr lang="en-US" sz="1200" dirty="0" err="1">
                <a:solidFill>
                  <a:srgbClr val="111111"/>
                </a:solidFill>
                <a:latin typeface="Calibri"/>
                <a:ea typeface="Calibri"/>
                <a:cs typeface="Calibri"/>
              </a:rPr>
              <a:t>x_up</a:t>
            </a:r>
            <a:r>
              <a:rPr lang="en-US" sz="1200" dirty="0">
                <a:solidFill>
                  <a:srgbClr val="111111"/>
                </a:solidFill>
                <a:latin typeface="Calibri"/>
                <a:ea typeface="Calibri"/>
                <a:cs typeface="Calibri"/>
              </a:rPr>
              <a:t> — starts from a good baseline, only corrects errors.</a:t>
            </a:r>
            <a:endParaRPr lang="en-US" sz="1400">
              <a:solidFill>
                <a:srgbClr val="000000"/>
              </a:solidFill>
              <a:latin typeface="Calibri"/>
              <a:ea typeface="Calibri"/>
              <a:cs typeface="Calibri"/>
            </a:endParaRPr>
          </a:p>
          <a:p>
            <a:pPr marL="114300" indent="-114300">
              <a:buSzPct val="100000"/>
              <a:buChar char="•"/>
            </a:pPr>
            <a:r>
              <a:rPr lang="en-US" sz="1200" dirty="0">
                <a:solidFill>
                  <a:srgbClr val="111111"/>
                </a:solidFill>
                <a:latin typeface="Calibri"/>
                <a:ea typeface="Calibri"/>
                <a:cs typeface="Calibri"/>
              </a:rPr>
              <a:t>Timestep conditioning via sinusoidal embedding lets the model adapt behavior at different noise levels.</a:t>
            </a:r>
            <a:endParaRPr lang="en-US" sz="1400">
              <a:latin typeface="Calibri"/>
              <a:ea typeface="Calibri"/>
              <a:cs typeface="Calibri"/>
            </a:endParaRPr>
          </a:p>
          <a:p>
            <a:pPr marL="114300" indent="-114300">
              <a:buSzPct val="100000"/>
              <a:buChar char="•"/>
            </a:pPr>
            <a:r>
              <a:rPr lang="en-US" sz="1200" dirty="0">
                <a:solidFill>
                  <a:srgbClr val="111111"/>
                </a:solidFill>
                <a:latin typeface="Calibri"/>
                <a:ea typeface="Calibri"/>
                <a:cs typeface="Calibri"/>
              </a:rPr>
              <a:t>Diffusion loss (λ=1.0) is actively optimized — not decorative. Contributes real refinement.</a:t>
            </a:r>
            <a:endParaRPr lang="en-US" sz="1400">
              <a:latin typeface="Calibri"/>
              <a:ea typeface="Calibri"/>
              <a:cs typeface="Calibri"/>
            </a:endParaRPr>
          </a:p>
          <a:p>
            <a:pPr marL="114300" indent="-114300">
              <a:buSzPct val="100000"/>
              <a:buChar char="•"/>
            </a:pPr>
            <a:r>
              <a:rPr lang="en-US" sz="1200" dirty="0">
                <a:solidFill>
                  <a:srgbClr val="111111"/>
                </a:solidFill>
                <a:latin typeface="Calibri"/>
                <a:ea typeface="Calibri"/>
                <a:cs typeface="Calibri"/>
              </a:rPr>
              <a:t>Naturally combines with spectral and physics losses without instability.</a:t>
            </a:r>
            <a:endParaRPr lang="en-US" sz="1400">
              <a:solidFill>
                <a:srgbClr val="000000"/>
              </a:solidFill>
              <a:latin typeface="Calibri"/>
              <a:ea typeface="Calibri"/>
              <a:cs typeface="Calibri"/>
            </a:endParaRPr>
          </a:p>
          <a:p>
            <a:pPr>
              <a:buSzPct val="100000"/>
              <a:buFont typeface="Arial"/>
              <a:buChar char="•"/>
            </a:pPr>
            <a:r>
              <a:rPr lang="en-US" sz="1200">
                <a:solidFill>
                  <a:srgbClr val="111111"/>
                </a:solidFill>
                <a:ea typeface="+mn-lt"/>
                <a:cs typeface="+mn-lt"/>
              </a:rPr>
              <a:t>Iterative refinement: progressively removes residual error step-by-step, rather than reconstructing in one shot.</a:t>
            </a:r>
            <a:endParaRPr lang="en-US" sz="1200" dirty="0">
              <a:solidFill>
                <a:srgbClr val="111111"/>
              </a:solidFill>
              <a:ea typeface="+mn-lt"/>
              <a:cs typeface="+mn-lt"/>
            </a:endParaRPr>
          </a:p>
          <a:p>
            <a:pPr>
              <a:buFont typeface="Arial"/>
              <a:buChar char="•"/>
            </a:pPr>
            <a:endParaRPr lang="en-US" sz="1200" dirty="0">
              <a:solidFill>
                <a:srgbClr val="111111"/>
              </a:solidFill>
              <a:ea typeface="+mn-lt"/>
              <a:cs typeface="+mn-lt"/>
            </a:endParaRPr>
          </a:p>
          <a:p>
            <a:pPr marL="114300" indent="-114300">
              <a:buSzPct val="100000"/>
              <a:buChar char="•"/>
            </a:pPr>
            <a:endParaRPr lang="en-US" sz="1200" dirty="0">
              <a:solidFill>
                <a:srgbClr val="111111"/>
              </a:solidFill>
              <a:latin typeface="Calibri"/>
              <a:ea typeface="Calibri"/>
              <a:cs typeface="Calibri"/>
            </a:endParaRPr>
          </a:p>
        </p:txBody>
      </p:sp>
      <p:pic>
        <p:nvPicPr>
          <p:cNvPr id="6" name="Picture 5" descr="A diagram of a process flow  AI-generated content may be incorrect.">
            <a:extLst>
              <a:ext uri="{FF2B5EF4-FFF2-40B4-BE49-F238E27FC236}">
                <a16:creationId xmlns:a16="http://schemas.microsoft.com/office/drawing/2014/main" id="{C8B10D01-6D6A-E26B-A4E7-4F37E95C3B25}"/>
              </a:ext>
            </a:extLst>
          </p:cNvPr>
          <p:cNvPicPr>
            <a:picLocks noChangeAspect="1"/>
          </p:cNvPicPr>
          <p:nvPr/>
        </p:nvPicPr>
        <p:blipFill>
          <a:blip r:embed="rId3"/>
          <a:srcRect t="415" r="141" b="13499"/>
          <a:stretch>
            <a:fillRect/>
          </a:stretch>
        </p:blipFill>
        <p:spPr>
          <a:xfrm>
            <a:off x="395286" y="1719507"/>
            <a:ext cx="3824973" cy="3290279"/>
          </a:xfrm>
          <a:prstGeom prst="rect">
            <a:avLst/>
          </a:prstGeom>
        </p:spPr>
      </p:pic>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6">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9144000" cy="594360"/>
          </a:xfrm>
          <a:prstGeom prst="rect">
            <a:avLst/>
          </a:prstGeom>
          <a:solidFill>
            <a:srgbClr val="1A2E4A"/>
          </a:solidFill>
          <a:ln w="12700">
            <a:solidFill>
              <a:srgbClr val="1A2E4A"/>
            </a:solidFill>
            <a:prstDash val="solid"/>
          </a:ln>
        </p:spPr>
      </p:sp>
      <p:sp>
        <p:nvSpPr>
          <p:cNvPr id="3" name="Text 1"/>
          <p:cNvSpPr/>
          <p:nvPr/>
        </p:nvSpPr>
        <p:spPr>
          <a:xfrm>
            <a:off x="457200" y="45720"/>
            <a:ext cx="8229600" cy="502920"/>
          </a:xfrm>
          <a:prstGeom prst="rect">
            <a:avLst/>
          </a:prstGeom>
          <a:noFill/>
          <a:ln/>
        </p:spPr>
        <p:txBody>
          <a:bodyPr wrap="square" lIns="0" tIns="0" rIns="0" bIns="0" rtlCol="0" anchor="ctr"/>
          <a:lstStyle/>
          <a:p>
            <a:pPr marL="0" indent="0" algn="l">
              <a:buNone/>
            </a:pPr>
            <a:r>
              <a:rPr lang="en-US" sz="2200" b="1" dirty="0">
                <a:solidFill>
                  <a:srgbClr val="FFFFFF"/>
                </a:solidFill>
                <a:latin typeface="Cambria" pitchFamily="34" charset="0"/>
                <a:ea typeface="Cambria" pitchFamily="34" charset="-122"/>
                <a:cs typeface="Cambria" pitchFamily="34" charset="-120"/>
              </a:rPr>
              <a:t>Explainability (XAI) — What It Means and What We Measure</a:t>
            </a:r>
            <a:endParaRPr lang="en-US" sz="2200" dirty="0"/>
          </a:p>
        </p:txBody>
      </p:sp>
      <p:sp>
        <p:nvSpPr>
          <p:cNvPr id="4" name="Text 2"/>
          <p:cNvSpPr/>
          <p:nvPr/>
        </p:nvSpPr>
        <p:spPr>
          <a:xfrm>
            <a:off x="411480" y="685800"/>
            <a:ext cx="8321040" cy="274320"/>
          </a:xfrm>
          <a:prstGeom prst="rect">
            <a:avLst/>
          </a:prstGeom>
          <a:noFill/>
          <a:ln/>
        </p:spPr>
        <p:txBody>
          <a:bodyPr wrap="square" lIns="91440" tIns="45720" rIns="91440" bIns="45720" rtlCol="0" anchor="ctr"/>
          <a:lstStyle/>
          <a:p>
            <a:pPr marL="0" indent="0">
              <a:buNone/>
            </a:pPr>
            <a:r>
              <a:rPr lang="en-US" sz="1400" b="1" dirty="0">
                <a:solidFill>
                  <a:srgbClr val="1A2E4A"/>
                </a:solidFill>
                <a:latin typeface="Cambria"/>
                <a:ea typeface="Cambria"/>
                <a:cs typeface="Cambria" pitchFamily="34" charset="-120"/>
              </a:rPr>
              <a:t>What is Explainability in this Context?</a:t>
            </a:r>
            <a:endParaRPr lang="en-US" sz="1400">
              <a:latin typeface="Cambria"/>
              <a:ea typeface="Cambria"/>
              <a:cs typeface="Calibri"/>
            </a:endParaRPr>
          </a:p>
        </p:txBody>
      </p:sp>
      <p:sp>
        <p:nvSpPr>
          <p:cNvPr id="5" name="Text 3"/>
          <p:cNvSpPr/>
          <p:nvPr/>
        </p:nvSpPr>
        <p:spPr>
          <a:xfrm>
            <a:off x="411480" y="978408"/>
            <a:ext cx="8321040" cy="658368"/>
          </a:xfrm>
          <a:prstGeom prst="rect">
            <a:avLst/>
          </a:prstGeom>
          <a:noFill/>
          <a:ln/>
        </p:spPr>
        <p:txBody>
          <a:bodyPr wrap="square" lIns="91440" tIns="45720" rIns="91440" bIns="45720" rtlCol="0" anchor="ctr"/>
          <a:lstStyle/>
          <a:p>
            <a:pPr marL="0" indent="0">
              <a:buNone/>
            </a:pPr>
            <a:r>
              <a:rPr lang="en-US" sz="1200" dirty="0">
                <a:solidFill>
                  <a:srgbClr val="111111"/>
                </a:solidFill>
                <a:latin typeface="Calibri"/>
                <a:ea typeface="Calibri"/>
                <a:cs typeface="Calibri"/>
              </a:rPr>
              <a:t>Explainability (XAI) in a deep learning model means being able to understand why the model produces a given output — not just what it outputs. In HSI super-resolution, explainability means: which spectral bands matter most for reconstruction? Are the learned spatial features physically meaningful material distributions? Does the model genuinely rely on its input signal, or is it hallucinating structure? KAN-</a:t>
            </a:r>
            <a:r>
              <a:rPr lang="en-US" sz="1200" dirty="0" err="1">
                <a:solidFill>
                  <a:srgbClr val="111111"/>
                </a:solidFill>
                <a:latin typeface="Calibri"/>
                <a:ea typeface="Calibri"/>
                <a:cs typeface="Calibri"/>
              </a:rPr>
              <a:t>DiffCausal</a:t>
            </a:r>
            <a:r>
              <a:rPr lang="en-US" sz="1200" dirty="0">
                <a:solidFill>
                  <a:srgbClr val="111111"/>
                </a:solidFill>
                <a:latin typeface="Calibri"/>
                <a:ea typeface="Calibri"/>
                <a:cs typeface="Calibri"/>
              </a:rPr>
              <a:t> answers all three questions through its causal graph, spectral unmixing, and XAI metrics.</a:t>
            </a:r>
            <a:endParaRPr lang="en-US" sz="1200">
              <a:latin typeface="Calibri"/>
              <a:ea typeface="Calibri"/>
              <a:cs typeface="Calibri"/>
            </a:endParaRPr>
          </a:p>
        </p:txBody>
      </p:sp>
      <p:sp>
        <p:nvSpPr>
          <p:cNvPr id="6" name="Text 4"/>
          <p:cNvSpPr/>
          <p:nvPr/>
        </p:nvSpPr>
        <p:spPr>
          <a:xfrm>
            <a:off x="411480" y="1673352"/>
            <a:ext cx="8321040" cy="274320"/>
          </a:xfrm>
          <a:prstGeom prst="rect">
            <a:avLst/>
          </a:prstGeom>
          <a:noFill/>
          <a:ln/>
        </p:spPr>
        <p:txBody>
          <a:bodyPr wrap="square" rtlCol="0" anchor="ctr"/>
          <a:lstStyle/>
          <a:p>
            <a:pPr marL="0" indent="0">
              <a:buNone/>
            </a:pPr>
            <a:r>
              <a:rPr lang="en-US" sz="1300" b="1" dirty="0">
                <a:solidFill>
                  <a:srgbClr val="1A2E4A"/>
                </a:solidFill>
                <a:latin typeface="Cambria" pitchFamily="34" charset="0"/>
                <a:ea typeface="Cambria" pitchFamily="34" charset="-122"/>
                <a:cs typeface="Cambria" pitchFamily="34" charset="-120"/>
              </a:rPr>
              <a:t>XAI and Performance Metrics — What Each Tells Us</a:t>
            </a:r>
            <a:endParaRPr lang="en-US" sz="1300" dirty="0"/>
          </a:p>
        </p:txBody>
      </p:sp>
      <p:sp>
        <p:nvSpPr>
          <p:cNvPr id="19" name="Shape 17"/>
          <p:cNvSpPr/>
          <p:nvPr/>
        </p:nvSpPr>
        <p:spPr>
          <a:xfrm>
            <a:off x="4681946" y="1968138"/>
            <a:ext cx="4085408" cy="1965959"/>
          </a:xfrm>
          <a:prstGeom prst="roundRect">
            <a:avLst>
              <a:gd name="adj" fmla="val 7778"/>
            </a:avLst>
          </a:prstGeom>
          <a:solidFill>
            <a:srgbClr val="FFFFFF"/>
          </a:solidFill>
          <a:ln w="15240">
            <a:solidFill>
              <a:srgbClr val="7C3AED"/>
            </a:solidFill>
            <a:prstDash val="solid"/>
          </a:ln>
          <a:effectLst>
            <a:outerShdw blurRad="101600" dist="25400" dir="2700000" algn="bl" rotWithShape="0">
              <a:srgbClr val="000000">
                <a:alpha val="10000"/>
              </a:srgbClr>
            </a:outerShdw>
          </a:effectLst>
        </p:spPr>
      </p:sp>
      <p:sp>
        <p:nvSpPr>
          <p:cNvPr id="20" name="Text 18"/>
          <p:cNvSpPr/>
          <p:nvPr/>
        </p:nvSpPr>
        <p:spPr>
          <a:xfrm>
            <a:off x="4893129" y="1968573"/>
            <a:ext cx="3886200" cy="228600"/>
          </a:xfrm>
          <a:prstGeom prst="rect">
            <a:avLst/>
          </a:prstGeom>
          <a:noFill/>
          <a:ln/>
        </p:spPr>
        <p:txBody>
          <a:bodyPr wrap="square" lIns="0" tIns="0" rIns="0" bIns="0" rtlCol="0" anchor="ctr"/>
          <a:lstStyle/>
          <a:p>
            <a:pPr marL="0" indent="0">
              <a:buNone/>
            </a:pPr>
            <a:r>
              <a:rPr lang="en-US" sz="1400" b="1">
                <a:solidFill>
                  <a:srgbClr val="7C3AED"/>
                </a:solidFill>
                <a:latin typeface="Cambria"/>
                <a:ea typeface="Cambria"/>
                <a:cs typeface="Cambria" pitchFamily="34" charset="-120"/>
              </a:rPr>
              <a:t>Faithfulness (XAI) </a:t>
            </a:r>
            <a:endParaRPr lang="en-US" sz="1400" b="1">
              <a:solidFill>
                <a:srgbClr val="1A2E4A"/>
              </a:solidFill>
              <a:latin typeface="Cambria"/>
              <a:ea typeface="Cambria"/>
              <a:cs typeface="Calibri"/>
            </a:endParaRPr>
          </a:p>
        </p:txBody>
      </p:sp>
      <p:sp>
        <p:nvSpPr>
          <p:cNvPr id="21" name="Text 19"/>
          <p:cNvSpPr/>
          <p:nvPr/>
        </p:nvSpPr>
        <p:spPr>
          <a:xfrm>
            <a:off x="4789714" y="2628900"/>
            <a:ext cx="3886200" cy="292608"/>
          </a:xfrm>
          <a:prstGeom prst="rect">
            <a:avLst/>
          </a:prstGeom>
          <a:noFill/>
          <a:ln/>
        </p:spPr>
        <p:txBody>
          <a:bodyPr wrap="square" lIns="91440" tIns="45720" rIns="91440" bIns="45720" rtlCol="0" anchor="ctr"/>
          <a:lstStyle/>
          <a:p>
            <a:pPr marL="0" indent="0">
              <a:buNone/>
            </a:pPr>
            <a:r>
              <a:rPr lang="en-US" sz="1200" dirty="0">
                <a:solidFill>
                  <a:srgbClr val="111111"/>
                </a:solidFill>
                <a:latin typeface="Calibri"/>
                <a:ea typeface="Calibri"/>
                <a:cs typeface="Calibri"/>
              </a:rPr>
              <a:t>What it tells us: Measures how much the SR output degrades when the top-5 causally important spectral bands are zeroed out. A higher faithfulness score means the causal bands genuinely contribute to reconstruction — the explanation reflects true model behavior, not just correlation.</a:t>
            </a:r>
            <a:endParaRPr lang="en-US" sz="1200">
              <a:latin typeface="Calibri"/>
              <a:ea typeface="Calibri"/>
              <a:cs typeface="Calibri"/>
            </a:endParaRPr>
          </a:p>
        </p:txBody>
      </p:sp>
      <p:sp>
        <p:nvSpPr>
          <p:cNvPr id="22" name="Text 20"/>
          <p:cNvSpPr/>
          <p:nvPr/>
        </p:nvSpPr>
        <p:spPr>
          <a:xfrm>
            <a:off x="4800600" y="3502152"/>
            <a:ext cx="3886200" cy="201168"/>
          </a:xfrm>
          <a:prstGeom prst="rect">
            <a:avLst/>
          </a:prstGeom>
          <a:noFill/>
          <a:ln/>
        </p:spPr>
        <p:txBody>
          <a:bodyPr wrap="square" lIns="91440" tIns="45720" rIns="91440" bIns="45720" rtlCol="0" anchor="ctr"/>
          <a:lstStyle/>
          <a:p>
            <a:r>
              <a:rPr lang="en-US" sz="1200" b="1" dirty="0">
                <a:solidFill>
                  <a:srgbClr val="7C3AED"/>
                </a:solidFill>
                <a:latin typeface="Calibri"/>
                <a:ea typeface="Calibri"/>
                <a:cs typeface="Calibri"/>
              </a:rPr>
              <a:t>Our result: Faithfulness of 9.20 confirms that the bands identified as important by the causal graph are actually driving reconstruction quality.</a:t>
            </a:r>
            <a:endParaRPr lang="en-US" sz="1200">
              <a:latin typeface="Calibri"/>
              <a:ea typeface="Calibri"/>
              <a:cs typeface="Calibri"/>
            </a:endParaRPr>
          </a:p>
        </p:txBody>
      </p:sp>
      <p:sp>
        <p:nvSpPr>
          <p:cNvPr id="23" name="Shape 21"/>
          <p:cNvSpPr/>
          <p:nvPr/>
        </p:nvSpPr>
        <p:spPr>
          <a:xfrm flipV="1">
            <a:off x="330925" y="1965743"/>
            <a:ext cx="4020097" cy="1963782"/>
          </a:xfrm>
          <a:prstGeom prst="roundRect">
            <a:avLst>
              <a:gd name="adj" fmla="val 7778"/>
            </a:avLst>
          </a:prstGeom>
          <a:solidFill>
            <a:srgbClr val="FFFFFF"/>
          </a:solidFill>
          <a:ln w="15240">
            <a:solidFill>
              <a:srgbClr val="DC2626"/>
            </a:solidFill>
            <a:prstDash val="solid"/>
          </a:ln>
          <a:effectLst>
            <a:outerShdw blurRad="101600" dist="25400" dir="2700000" algn="bl" rotWithShape="0">
              <a:srgbClr val="000000">
                <a:alpha val="10000"/>
              </a:srgbClr>
            </a:outerShdw>
          </a:effectLst>
        </p:spPr>
      </p:sp>
      <p:sp>
        <p:nvSpPr>
          <p:cNvPr id="24" name="Text 22"/>
          <p:cNvSpPr/>
          <p:nvPr/>
        </p:nvSpPr>
        <p:spPr>
          <a:xfrm>
            <a:off x="460466" y="2057618"/>
            <a:ext cx="3886200" cy="228600"/>
          </a:xfrm>
          <a:prstGeom prst="rect">
            <a:avLst/>
          </a:prstGeom>
          <a:noFill/>
          <a:ln/>
        </p:spPr>
        <p:txBody>
          <a:bodyPr wrap="square" lIns="0" tIns="0" rIns="0" bIns="0" rtlCol="0" anchor="ctr"/>
          <a:lstStyle/>
          <a:p>
            <a:pPr marL="0" indent="0">
              <a:buNone/>
            </a:pPr>
            <a:r>
              <a:rPr lang="en-US" sz="1400" b="1">
                <a:solidFill>
                  <a:srgbClr val="DC2626"/>
                </a:solidFill>
                <a:latin typeface="Cambria"/>
                <a:ea typeface="Cambria"/>
                <a:cs typeface="Cambria" pitchFamily="34" charset="-120"/>
              </a:rPr>
              <a:t>Conservation (XAI) </a:t>
            </a:r>
            <a:endParaRPr lang="en-US" sz="1400" b="1">
              <a:solidFill>
                <a:srgbClr val="1A2E4A"/>
              </a:solidFill>
              <a:latin typeface="Cambria"/>
              <a:ea typeface="Cambria"/>
              <a:cs typeface="Calibri"/>
            </a:endParaRPr>
          </a:p>
        </p:txBody>
      </p:sp>
      <p:sp>
        <p:nvSpPr>
          <p:cNvPr id="25" name="Text 23"/>
          <p:cNvSpPr/>
          <p:nvPr/>
        </p:nvSpPr>
        <p:spPr>
          <a:xfrm rot="-10800000" flipV="1">
            <a:off x="433252" y="2651325"/>
            <a:ext cx="3913413" cy="126492"/>
          </a:xfrm>
          <a:prstGeom prst="rect">
            <a:avLst/>
          </a:prstGeom>
          <a:noFill/>
          <a:ln/>
        </p:spPr>
        <p:txBody>
          <a:bodyPr wrap="square" lIns="91440" tIns="45720" rIns="91440" bIns="45720" rtlCol="0" anchor="ctr"/>
          <a:lstStyle/>
          <a:p>
            <a:pPr marL="0" indent="0">
              <a:buNone/>
            </a:pPr>
            <a:r>
              <a:rPr lang="en-US" sz="1200" dirty="0">
                <a:solidFill>
                  <a:srgbClr val="111111"/>
                </a:solidFill>
                <a:latin typeface="Calibri"/>
                <a:ea typeface="Calibri"/>
                <a:cs typeface="Calibri"/>
              </a:rPr>
              <a:t>What it tells us: Quantifies how much the model's output changes relative to the total input signal magnitude. It tests whether the model is genuinely transforming its input (high conservation) vs. hallucinating output regardless of input.</a:t>
            </a:r>
            <a:endParaRPr lang="en-US" sz="1200">
              <a:latin typeface="Calibri"/>
              <a:ea typeface="Calibri"/>
              <a:cs typeface="Calibri"/>
            </a:endParaRPr>
          </a:p>
        </p:txBody>
      </p:sp>
      <p:sp>
        <p:nvSpPr>
          <p:cNvPr id="26" name="Text 24"/>
          <p:cNvSpPr/>
          <p:nvPr/>
        </p:nvSpPr>
        <p:spPr>
          <a:xfrm>
            <a:off x="411480" y="3395254"/>
            <a:ext cx="3886200" cy="201168"/>
          </a:xfrm>
          <a:prstGeom prst="rect">
            <a:avLst/>
          </a:prstGeom>
          <a:noFill/>
          <a:ln/>
        </p:spPr>
        <p:txBody>
          <a:bodyPr wrap="square" lIns="91440" tIns="45720" rIns="91440" bIns="45720" rtlCol="0" anchor="ctr"/>
          <a:lstStyle/>
          <a:p>
            <a:r>
              <a:rPr lang="en-US" sz="1200" b="1">
                <a:solidFill>
                  <a:srgbClr val="DC2626"/>
                </a:solidFill>
                <a:latin typeface="Calibri"/>
                <a:ea typeface="Calibri"/>
                <a:cs typeface="Calibri"/>
              </a:rPr>
              <a:t>Our result: Conservation of 3.010 indicates the SR output </a:t>
            </a:r>
            <a:r>
              <a:rPr lang="en-US" sz="1200" b="1" dirty="0">
                <a:solidFill>
                  <a:srgbClr val="DC2626"/>
                </a:solidFill>
                <a:latin typeface="Calibri"/>
                <a:ea typeface="Calibri"/>
                <a:cs typeface="Calibri"/>
              </a:rPr>
              <a:t>meaningfully depends on the input LR signal — the model is not producing hallucinated textures independent of the data.</a:t>
            </a:r>
            <a:endParaRPr lang="en-US" sz="1200">
              <a:latin typeface="Calibri"/>
              <a:ea typeface="Calibri"/>
              <a:cs typeface="Calibri"/>
            </a:endParaRPr>
          </a:p>
        </p:txBody>
      </p:sp>
      <p:sp>
        <p:nvSpPr>
          <p:cNvPr id="27" name="Shape 25"/>
          <p:cNvSpPr/>
          <p:nvPr/>
        </p:nvSpPr>
        <p:spPr>
          <a:xfrm>
            <a:off x="251460" y="4032941"/>
            <a:ext cx="8521338" cy="1029786"/>
          </a:xfrm>
          <a:prstGeom prst="roundRect">
            <a:avLst>
              <a:gd name="adj" fmla="val 7778"/>
            </a:avLst>
          </a:prstGeom>
          <a:solidFill>
            <a:srgbClr val="FFFFFF"/>
          </a:solidFill>
          <a:ln w="15240">
            <a:solidFill>
              <a:srgbClr val="EA580C"/>
            </a:solidFill>
            <a:prstDash val="solid"/>
          </a:ln>
          <a:effectLst>
            <a:outerShdw blurRad="101600" dist="25400" dir="2700000" algn="bl" rotWithShape="0">
              <a:srgbClr val="000000">
                <a:alpha val="10000"/>
              </a:srgbClr>
            </a:outerShdw>
          </a:effectLst>
        </p:spPr>
      </p:sp>
      <p:sp>
        <p:nvSpPr>
          <p:cNvPr id="28" name="Text 26"/>
          <p:cNvSpPr/>
          <p:nvPr/>
        </p:nvSpPr>
        <p:spPr>
          <a:xfrm>
            <a:off x="397329" y="4033375"/>
            <a:ext cx="3886200" cy="223158"/>
          </a:xfrm>
          <a:prstGeom prst="rect">
            <a:avLst/>
          </a:prstGeom>
          <a:noFill/>
          <a:ln/>
        </p:spPr>
        <p:txBody>
          <a:bodyPr wrap="square" lIns="0" tIns="0" rIns="0" bIns="0" rtlCol="0" anchor="ctr"/>
          <a:lstStyle/>
          <a:p>
            <a:pPr marL="0" indent="0">
              <a:buNone/>
            </a:pPr>
            <a:r>
              <a:rPr lang="en-US" sz="1400" b="1">
                <a:solidFill>
                  <a:srgbClr val="EA580C"/>
                </a:solidFill>
                <a:latin typeface="Cambria"/>
                <a:ea typeface="Cambria"/>
                <a:cs typeface="Cambria" pitchFamily="34" charset="-120"/>
              </a:rPr>
              <a:t>A-SSIM (Abundance SSIM) </a:t>
            </a:r>
            <a:endParaRPr lang="en-US" sz="1400" b="1">
              <a:solidFill>
                <a:srgbClr val="1A2E4A"/>
              </a:solidFill>
              <a:latin typeface="Cambria"/>
              <a:ea typeface="Cambria"/>
              <a:cs typeface="Calibri"/>
            </a:endParaRPr>
          </a:p>
        </p:txBody>
      </p:sp>
      <p:sp>
        <p:nvSpPr>
          <p:cNvPr id="29" name="Text 27"/>
          <p:cNvSpPr/>
          <p:nvPr/>
        </p:nvSpPr>
        <p:spPr>
          <a:xfrm>
            <a:off x="250374" y="4263719"/>
            <a:ext cx="8333012" cy="374249"/>
          </a:xfrm>
          <a:prstGeom prst="rect">
            <a:avLst/>
          </a:prstGeom>
          <a:noFill/>
          <a:ln/>
        </p:spPr>
        <p:txBody>
          <a:bodyPr wrap="square" lIns="91440" tIns="45720" rIns="91440" bIns="45720" rtlCol="0" anchor="ctr"/>
          <a:lstStyle/>
          <a:p>
            <a:r>
              <a:rPr lang="en-US" sz="1200">
                <a:solidFill>
                  <a:srgbClr val="111111"/>
                </a:solidFill>
                <a:ea typeface="+mn-lt"/>
                <a:cs typeface="+mn-lt"/>
              </a:rPr>
              <a:t>What it tells us: Measures structural similarity between predicted and ground-truth abundance maps, confirming that learned endmember distributions are spatially consistent with physical reality.</a:t>
            </a:r>
            <a:endParaRPr lang="en-US">
              <a:ea typeface="+mn-lt"/>
              <a:cs typeface="+mn-lt"/>
            </a:endParaRPr>
          </a:p>
        </p:txBody>
      </p:sp>
      <p:sp>
        <p:nvSpPr>
          <p:cNvPr id="30" name="Text 28"/>
          <p:cNvSpPr/>
          <p:nvPr/>
        </p:nvSpPr>
        <p:spPr>
          <a:xfrm>
            <a:off x="255815" y="4675181"/>
            <a:ext cx="8305800" cy="272658"/>
          </a:xfrm>
          <a:prstGeom prst="rect">
            <a:avLst/>
          </a:prstGeom>
          <a:noFill/>
          <a:ln/>
        </p:spPr>
        <p:txBody>
          <a:bodyPr wrap="square" lIns="91440" tIns="45720" rIns="91440" bIns="45720" rtlCol="0" anchor="ctr"/>
          <a:lstStyle/>
          <a:p>
            <a:pPr marL="0" indent="0">
              <a:buNone/>
            </a:pPr>
            <a:r>
              <a:rPr lang="en-US" sz="1200" b="1">
                <a:solidFill>
                  <a:srgbClr val="EA580C"/>
                </a:solidFill>
                <a:latin typeface="Calibri"/>
                <a:ea typeface="Calibri"/>
                <a:cs typeface="Calibri"/>
              </a:rPr>
              <a:t>Our result: qualitatively the maps match well, but the computed A-SSIM returned ≈4.7×10⁻⁸ — several orders of magnitude off, flagged as an unresolved scale-mismatch issue (see Limitations)</a:t>
            </a: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7">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9144000" cy="594360"/>
          </a:xfrm>
          <a:prstGeom prst="rect">
            <a:avLst/>
          </a:prstGeom>
          <a:solidFill>
            <a:srgbClr val="1A2E4A"/>
          </a:solidFill>
          <a:ln w="12700">
            <a:solidFill>
              <a:srgbClr val="1A2E4A"/>
            </a:solidFill>
            <a:prstDash val="solid"/>
          </a:ln>
        </p:spPr>
      </p:sp>
      <p:sp>
        <p:nvSpPr>
          <p:cNvPr id="3" name="Text 1"/>
          <p:cNvSpPr/>
          <p:nvPr/>
        </p:nvSpPr>
        <p:spPr>
          <a:xfrm>
            <a:off x="457200" y="45720"/>
            <a:ext cx="8229600" cy="502920"/>
          </a:xfrm>
          <a:prstGeom prst="rect">
            <a:avLst/>
          </a:prstGeom>
          <a:noFill/>
          <a:ln/>
        </p:spPr>
        <p:txBody>
          <a:bodyPr wrap="square" lIns="0" tIns="0" rIns="0" bIns="0" rtlCol="0" anchor="ctr"/>
          <a:lstStyle/>
          <a:p>
            <a:pPr marL="0" indent="0" algn="l">
              <a:buNone/>
            </a:pPr>
            <a:r>
              <a:rPr lang="en-US" sz="2600" b="1" dirty="0">
                <a:solidFill>
                  <a:srgbClr val="FFFFFF"/>
                </a:solidFill>
                <a:latin typeface="Cambria" pitchFamily="34" charset="0"/>
                <a:ea typeface="Cambria" pitchFamily="34" charset="-122"/>
                <a:cs typeface="Cambria" pitchFamily="34" charset="-120"/>
              </a:rPr>
              <a:t>Visual Results — SR vs Ground Truth</a:t>
            </a:r>
            <a:endParaRPr lang="en-US" sz="2600" dirty="0"/>
          </a:p>
        </p:txBody>
      </p:sp>
      <p:sp>
        <p:nvSpPr>
          <p:cNvPr id="5" name="Text 2"/>
          <p:cNvSpPr/>
          <p:nvPr/>
        </p:nvSpPr>
        <p:spPr>
          <a:xfrm>
            <a:off x="456111" y="2699604"/>
            <a:ext cx="8503920" cy="256032"/>
          </a:xfrm>
          <a:prstGeom prst="rect">
            <a:avLst/>
          </a:prstGeom>
          <a:noFill/>
          <a:ln/>
        </p:spPr>
        <p:txBody>
          <a:bodyPr wrap="square" rtlCol="0" anchor="ctr"/>
          <a:lstStyle/>
          <a:p>
            <a:pPr marL="0" indent="0" algn="ctr">
              <a:buNone/>
            </a:pPr>
            <a:r>
              <a:rPr lang="en-US" sz="900" dirty="0">
                <a:solidFill>
                  <a:srgbClr val="6B7280"/>
                </a:solidFill>
                <a:latin typeface="Calibri" pitchFamily="34" charset="0"/>
                <a:ea typeface="Calibri" pitchFamily="34" charset="-122"/>
                <a:cs typeface="Calibri" pitchFamily="34" charset="-120"/>
              </a:rPr>
              <a:t>LR Input (32×32)  ↔  Super-Resolved (64×64) — PSNR 33.85 dB, SSIM 0.9517  ↔  Ground Truth (64×64)</a:t>
            </a:r>
            <a:endParaRPr lang="en-US" sz="900" dirty="0"/>
          </a:p>
        </p:txBody>
      </p:sp>
      <p:sp>
        <p:nvSpPr>
          <p:cNvPr id="8" name="Text 3"/>
          <p:cNvSpPr/>
          <p:nvPr/>
        </p:nvSpPr>
        <p:spPr>
          <a:xfrm>
            <a:off x="320040" y="4873752"/>
            <a:ext cx="4114800" cy="182880"/>
          </a:xfrm>
          <a:prstGeom prst="rect">
            <a:avLst/>
          </a:prstGeom>
          <a:noFill/>
          <a:ln/>
        </p:spPr>
        <p:txBody>
          <a:bodyPr wrap="square" rtlCol="0" anchor="ctr"/>
          <a:lstStyle/>
          <a:p>
            <a:pPr marL="0" indent="0" algn="ctr">
              <a:buNone/>
            </a:pPr>
            <a:r>
              <a:rPr lang="en-US" sz="800" dirty="0">
                <a:solidFill>
                  <a:srgbClr val="6B7280"/>
                </a:solidFill>
                <a:latin typeface="Calibri" pitchFamily="34" charset="0"/>
                <a:ea typeface="Calibri" pitchFamily="34" charset="-122"/>
                <a:cs typeface="Calibri" pitchFamily="34" charset="-120"/>
              </a:rPr>
              <a:t>Spectral Signature of Center Pixel — GT vs Super-Resolved across 103 bands</a:t>
            </a:r>
            <a:endParaRPr lang="en-US" sz="800" dirty="0"/>
          </a:p>
        </p:txBody>
      </p:sp>
      <p:sp>
        <p:nvSpPr>
          <p:cNvPr id="9" name="Text 4"/>
          <p:cNvSpPr/>
          <p:nvPr/>
        </p:nvSpPr>
        <p:spPr>
          <a:xfrm>
            <a:off x="4937760" y="4873752"/>
            <a:ext cx="3840480" cy="182880"/>
          </a:xfrm>
          <a:prstGeom prst="rect">
            <a:avLst/>
          </a:prstGeom>
          <a:noFill/>
          <a:ln/>
        </p:spPr>
        <p:txBody>
          <a:bodyPr wrap="square" rtlCol="0" anchor="ctr"/>
          <a:lstStyle/>
          <a:p>
            <a:pPr marL="0" indent="0" algn="ctr">
              <a:buNone/>
            </a:pPr>
            <a:r>
              <a:rPr lang="en-US" sz="800" dirty="0">
                <a:solidFill>
                  <a:srgbClr val="6B7280"/>
                </a:solidFill>
                <a:latin typeface="Calibri" pitchFamily="34" charset="0"/>
                <a:ea typeface="Calibri" pitchFamily="34" charset="-122"/>
                <a:cs typeface="Calibri" pitchFamily="34" charset="-120"/>
              </a:rPr>
              <a:t>Adaptive Rank Map — Yellow = high rank (complex), Purple = low rank (homogeneous)</a:t>
            </a:r>
            <a:endParaRPr lang="en-US" sz="800" dirty="0"/>
          </a:p>
        </p:txBody>
      </p:sp>
      <p:pic>
        <p:nvPicPr>
          <p:cNvPr id="6" name="Picture 5" descr="A purple and orange image&#10;&#10;AI-generated content may be incorrect.">
            <a:extLst>
              <a:ext uri="{FF2B5EF4-FFF2-40B4-BE49-F238E27FC236}">
                <a16:creationId xmlns:a16="http://schemas.microsoft.com/office/drawing/2014/main" id="{42F7C7C8-0BE7-166E-BBFD-C35A78845F95}"/>
              </a:ext>
            </a:extLst>
          </p:cNvPr>
          <p:cNvPicPr>
            <a:picLocks noChangeAspect="1"/>
          </p:cNvPicPr>
          <p:nvPr/>
        </p:nvPicPr>
        <p:blipFill>
          <a:blip r:embed="rId3"/>
          <a:stretch>
            <a:fillRect/>
          </a:stretch>
        </p:blipFill>
        <p:spPr>
          <a:xfrm>
            <a:off x="1322615" y="593799"/>
            <a:ext cx="6221188" cy="2105333"/>
          </a:xfrm>
          <a:prstGeom prst="rect">
            <a:avLst/>
          </a:prstGeom>
        </p:spPr>
      </p:pic>
      <p:pic>
        <p:nvPicPr>
          <p:cNvPr id="7" name="Picture 6" descr="A graph of a line graph&#10;&#10;AI-generated content may be incorrect.">
            <a:extLst>
              <a:ext uri="{FF2B5EF4-FFF2-40B4-BE49-F238E27FC236}">
                <a16:creationId xmlns:a16="http://schemas.microsoft.com/office/drawing/2014/main" id="{D16E3992-BDB0-91C5-BDE3-E8B04D287BC2}"/>
              </a:ext>
            </a:extLst>
          </p:cNvPr>
          <p:cNvPicPr>
            <a:picLocks noChangeAspect="1"/>
          </p:cNvPicPr>
          <p:nvPr/>
        </p:nvPicPr>
        <p:blipFill>
          <a:blip r:embed="rId4"/>
          <a:stretch>
            <a:fillRect/>
          </a:stretch>
        </p:blipFill>
        <p:spPr>
          <a:xfrm>
            <a:off x="1226484" y="2933699"/>
            <a:ext cx="2549019" cy="1953988"/>
          </a:xfrm>
          <a:prstGeom prst="rect">
            <a:avLst/>
          </a:prstGeom>
        </p:spPr>
      </p:pic>
      <p:pic>
        <p:nvPicPr>
          <p:cNvPr id="12" name="Picture 11">
            <a:extLst>
              <a:ext uri="{FF2B5EF4-FFF2-40B4-BE49-F238E27FC236}">
                <a16:creationId xmlns:a16="http://schemas.microsoft.com/office/drawing/2014/main" id="{06B9BEF4-03AA-2193-3685-5F8B3DFB7D2D}"/>
              </a:ext>
            </a:extLst>
          </p:cNvPr>
          <p:cNvPicPr>
            <a:picLocks noChangeAspect="1"/>
          </p:cNvPicPr>
          <p:nvPr/>
        </p:nvPicPr>
        <p:blipFill>
          <a:blip r:embed="rId5"/>
          <a:stretch>
            <a:fillRect/>
          </a:stretch>
        </p:blipFill>
        <p:spPr>
          <a:xfrm>
            <a:off x="5323795" y="2922812"/>
            <a:ext cx="2230211" cy="1970313"/>
          </a:xfrm>
          <a:prstGeom prst="rect">
            <a:avLst/>
          </a:prstGeom>
        </p:spPr>
      </p:pic>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8">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9144000" cy="594360"/>
          </a:xfrm>
          <a:prstGeom prst="rect">
            <a:avLst/>
          </a:prstGeom>
          <a:solidFill>
            <a:srgbClr val="1A2E4A"/>
          </a:solidFill>
          <a:ln w="12700">
            <a:solidFill>
              <a:srgbClr val="1A2E4A"/>
            </a:solidFill>
            <a:prstDash val="solid"/>
          </a:ln>
        </p:spPr>
      </p:sp>
      <p:sp>
        <p:nvSpPr>
          <p:cNvPr id="3" name="Text 1"/>
          <p:cNvSpPr/>
          <p:nvPr/>
        </p:nvSpPr>
        <p:spPr>
          <a:xfrm>
            <a:off x="457200" y="45720"/>
            <a:ext cx="8229600" cy="502920"/>
          </a:xfrm>
          <a:prstGeom prst="rect">
            <a:avLst/>
          </a:prstGeom>
          <a:noFill/>
          <a:ln/>
        </p:spPr>
        <p:txBody>
          <a:bodyPr wrap="square" lIns="0" tIns="0" rIns="0" bIns="0" rtlCol="0" anchor="ctr"/>
          <a:lstStyle/>
          <a:p>
            <a:pPr marL="0" indent="0" algn="l">
              <a:buNone/>
            </a:pPr>
            <a:r>
              <a:rPr lang="en-US" sz="2600" b="1" dirty="0">
                <a:solidFill>
                  <a:srgbClr val="FFFFFF"/>
                </a:solidFill>
                <a:latin typeface="Cambria" pitchFamily="34" charset="0"/>
                <a:ea typeface="Cambria" pitchFamily="34" charset="-122"/>
                <a:cs typeface="Cambria" pitchFamily="34" charset="-120"/>
              </a:rPr>
              <a:t>Causal Inter-Band Analysis</a:t>
            </a:r>
            <a:endParaRPr lang="en-US" sz="2600" dirty="0"/>
          </a:p>
        </p:txBody>
      </p:sp>
      <p:sp>
        <p:nvSpPr>
          <p:cNvPr id="5" name="Text 2"/>
          <p:cNvSpPr/>
          <p:nvPr/>
        </p:nvSpPr>
        <p:spPr>
          <a:xfrm>
            <a:off x="3710939" y="2133519"/>
            <a:ext cx="1161508" cy="439782"/>
          </a:xfrm>
          <a:prstGeom prst="rect">
            <a:avLst/>
          </a:prstGeom>
          <a:noFill/>
          <a:ln/>
        </p:spPr>
        <p:txBody>
          <a:bodyPr wrap="square" lIns="91440" tIns="45720" rIns="91440" bIns="45720" rtlCol="0" anchor="ctr"/>
          <a:lstStyle/>
          <a:p>
            <a:pPr algn="ctr"/>
            <a:r>
              <a:rPr lang="en-US" sz="800" b="1" dirty="0">
                <a:solidFill>
                  <a:schemeClr val="accent1">
                    <a:lumMod val="49000"/>
                  </a:schemeClr>
                </a:solidFill>
                <a:latin typeface="Calibri"/>
                <a:ea typeface="Calibri"/>
                <a:cs typeface="Calibri"/>
              </a:rPr>
              <a:t>Causal Relationship Matrix (103×103) — Inter-band </a:t>
            </a:r>
            <a:r>
              <a:rPr lang="en-US" sz="800" b="1">
                <a:solidFill>
                  <a:schemeClr val="accent1">
                    <a:lumMod val="49000"/>
                  </a:schemeClr>
                </a:solidFill>
                <a:latin typeface="Calibri"/>
                <a:ea typeface="Calibri"/>
                <a:cs typeface="Calibri"/>
              </a:rPr>
              <a:t>causal strengths.</a:t>
            </a:r>
            <a:endParaRPr lang="en-US">
              <a:solidFill>
                <a:schemeClr val="accent1">
                  <a:lumMod val="49000"/>
                </a:schemeClr>
              </a:solidFill>
            </a:endParaRPr>
          </a:p>
          <a:p>
            <a:pPr algn="ctr"/>
            <a:r>
              <a:rPr lang="en-US" sz="800" b="1" dirty="0">
                <a:solidFill>
                  <a:schemeClr val="accent1">
                    <a:lumMod val="49000"/>
                  </a:schemeClr>
                </a:solidFill>
                <a:latin typeface="Calibri"/>
                <a:ea typeface="Calibri"/>
                <a:cs typeface="Calibri"/>
              </a:rPr>
              <a:t>Yellow = strong positive </a:t>
            </a:r>
            <a:r>
              <a:rPr lang="en-US" sz="800" b="1">
                <a:solidFill>
                  <a:schemeClr val="accent1">
                    <a:lumMod val="49000"/>
                  </a:schemeClr>
                </a:solidFill>
                <a:latin typeface="Calibri"/>
                <a:ea typeface="Calibri"/>
                <a:cs typeface="Calibri"/>
              </a:rPr>
              <a:t>causation,</a:t>
            </a:r>
            <a:endParaRPr lang="en-US">
              <a:solidFill>
                <a:schemeClr val="accent1">
                  <a:lumMod val="49000"/>
                </a:schemeClr>
              </a:solidFill>
              <a:latin typeface="Calibri"/>
              <a:ea typeface="Calibri"/>
              <a:cs typeface="Calibri"/>
            </a:endParaRPr>
          </a:p>
          <a:p>
            <a:pPr algn="ctr"/>
            <a:r>
              <a:rPr lang="en-US" sz="800" b="1">
                <a:solidFill>
                  <a:schemeClr val="accent1">
                    <a:lumMod val="49000"/>
                  </a:schemeClr>
                </a:solidFill>
                <a:latin typeface="Calibri"/>
                <a:ea typeface="Calibri"/>
                <a:cs typeface="Calibri"/>
              </a:rPr>
              <a:t>Black = negative/suppressive</a:t>
            </a:r>
            <a:endParaRPr lang="en-US">
              <a:solidFill>
                <a:schemeClr val="accent1">
                  <a:lumMod val="49000"/>
                </a:schemeClr>
              </a:solidFill>
              <a:ea typeface="Calibri"/>
              <a:cs typeface="Calibri"/>
            </a:endParaRPr>
          </a:p>
        </p:txBody>
      </p:sp>
      <p:sp>
        <p:nvSpPr>
          <p:cNvPr id="7" name="Text 3"/>
          <p:cNvSpPr/>
          <p:nvPr/>
        </p:nvSpPr>
        <p:spPr>
          <a:xfrm>
            <a:off x="320040" y="4873752"/>
            <a:ext cx="4389120" cy="182880"/>
          </a:xfrm>
          <a:prstGeom prst="rect">
            <a:avLst/>
          </a:prstGeom>
          <a:noFill/>
          <a:ln/>
        </p:spPr>
        <p:txBody>
          <a:bodyPr wrap="square" lIns="91440" tIns="45720" rIns="91440" bIns="45720" rtlCol="0" anchor="ctr"/>
          <a:lstStyle/>
          <a:p>
            <a:pPr marL="0" indent="0" algn="ctr">
              <a:buNone/>
            </a:pPr>
            <a:r>
              <a:rPr lang="en-US" sz="800" b="1" dirty="0">
                <a:solidFill>
                  <a:schemeClr val="accent1">
                    <a:lumMod val="49000"/>
                  </a:schemeClr>
                </a:solidFill>
                <a:latin typeface="Calibri"/>
                <a:ea typeface="Calibri"/>
                <a:cs typeface="Calibri"/>
              </a:rPr>
              <a:t>Band Importance from Causal Graph — relative causal importance scores across 103 spectral ba</a:t>
            </a:r>
            <a:r>
              <a:rPr lang="en-US" sz="800" b="1" dirty="0">
                <a:solidFill>
                  <a:srgbClr val="6B7280"/>
                </a:solidFill>
                <a:latin typeface="Calibri"/>
                <a:ea typeface="Calibri"/>
                <a:cs typeface="Calibri"/>
              </a:rPr>
              <a:t>nds</a:t>
            </a:r>
            <a:endParaRPr lang="en-US" sz="800" b="1">
              <a:latin typeface="Calibri"/>
              <a:ea typeface="Calibri"/>
              <a:cs typeface="Calibri"/>
            </a:endParaRPr>
          </a:p>
        </p:txBody>
      </p:sp>
      <p:sp>
        <p:nvSpPr>
          <p:cNvPr id="8" name="Text 4"/>
          <p:cNvSpPr/>
          <p:nvPr/>
        </p:nvSpPr>
        <p:spPr>
          <a:xfrm>
            <a:off x="5029200" y="713232"/>
            <a:ext cx="3794760" cy="274320"/>
          </a:xfrm>
          <a:prstGeom prst="rect">
            <a:avLst/>
          </a:prstGeom>
          <a:noFill/>
          <a:ln/>
        </p:spPr>
        <p:txBody>
          <a:bodyPr wrap="square" lIns="91440" tIns="45720" rIns="91440" bIns="45720" rtlCol="0" anchor="ctr"/>
          <a:lstStyle/>
          <a:p>
            <a:pPr marL="0" indent="0">
              <a:buNone/>
            </a:pPr>
            <a:r>
              <a:rPr lang="en-US" sz="1400" b="1" dirty="0">
                <a:solidFill>
                  <a:srgbClr val="1A2E4A"/>
                </a:solidFill>
                <a:latin typeface="Cambria"/>
                <a:ea typeface="Cambria"/>
                <a:cs typeface="Cambria" pitchFamily="34" charset="-120"/>
              </a:rPr>
              <a:t>How the Causal Graph Works</a:t>
            </a:r>
            <a:endParaRPr lang="en-US" sz="1400">
              <a:latin typeface="Cambria"/>
              <a:ea typeface="Cambria"/>
              <a:cs typeface="Calibri"/>
            </a:endParaRPr>
          </a:p>
        </p:txBody>
      </p:sp>
      <p:sp>
        <p:nvSpPr>
          <p:cNvPr id="9" name="Text 5"/>
          <p:cNvSpPr/>
          <p:nvPr/>
        </p:nvSpPr>
        <p:spPr>
          <a:xfrm>
            <a:off x="5029200" y="1024128"/>
            <a:ext cx="3794760" cy="530352"/>
          </a:xfrm>
          <a:prstGeom prst="rect">
            <a:avLst/>
          </a:prstGeom>
          <a:noFill/>
          <a:ln/>
        </p:spPr>
        <p:txBody>
          <a:bodyPr wrap="square" lIns="91440" tIns="45720" rIns="91440" bIns="45720" rtlCol="0" anchor="ctr"/>
          <a:lstStyle/>
          <a:p>
            <a:pPr marL="0" indent="0">
              <a:buNone/>
            </a:pPr>
            <a:r>
              <a:rPr lang="en-US" sz="1200" b="1" dirty="0">
                <a:solidFill>
                  <a:srgbClr val="1A2E4A"/>
                </a:solidFill>
                <a:latin typeface="Calibri"/>
                <a:ea typeface="Calibri"/>
                <a:cs typeface="Calibri"/>
              </a:rPr>
              <a:t>Input: </a:t>
            </a:r>
            <a:r>
              <a:rPr lang="en-US" sz="1200" dirty="0">
                <a:solidFill>
                  <a:srgbClr val="111111"/>
                </a:solidFill>
                <a:latin typeface="Calibri"/>
                <a:ea typeface="Calibri"/>
                <a:cs typeface="Calibri"/>
              </a:rPr>
              <a:t>SR image (B, 103, 64×64) is spatially flattened to (B, 103, 4096) — treating each band as a 1D signal over all pixels.</a:t>
            </a:r>
            <a:endParaRPr lang="en-US" sz="1200">
              <a:latin typeface="Calibri"/>
              <a:ea typeface="Calibri"/>
              <a:cs typeface="Calibri"/>
            </a:endParaRPr>
          </a:p>
        </p:txBody>
      </p:sp>
      <p:sp>
        <p:nvSpPr>
          <p:cNvPr id="11" name="Text 7"/>
          <p:cNvSpPr/>
          <p:nvPr/>
        </p:nvSpPr>
        <p:spPr>
          <a:xfrm>
            <a:off x="5029200" y="1665514"/>
            <a:ext cx="3794760" cy="530352"/>
          </a:xfrm>
          <a:prstGeom prst="rect">
            <a:avLst/>
          </a:prstGeom>
          <a:noFill/>
          <a:ln/>
        </p:spPr>
        <p:txBody>
          <a:bodyPr wrap="square" lIns="91440" tIns="45720" rIns="91440" bIns="45720" rtlCol="0" anchor="ctr"/>
          <a:lstStyle/>
          <a:p>
            <a:pPr marL="0" indent="0">
              <a:buNone/>
            </a:pPr>
            <a:r>
              <a:rPr lang="en-US" sz="1200" b="1" dirty="0">
                <a:solidFill>
                  <a:srgbClr val="1A2E4A"/>
                </a:solidFill>
                <a:latin typeface="Calibri"/>
                <a:ea typeface="Calibri"/>
                <a:cs typeface="Calibri"/>
              </a:rPr>
              <a:t>Processing: </a:t>
            </a:r>
            <a:r>
              <a:rPr lang="en-US" sz="1200" dirty="0">
                <a:solidFill>
                  <a:srgbClr val="111111"/>
                </a:solidFill>
                <a:latin typeface="Calibri"/>
                <a:ea typeface="Calibri"/>
                <a:cs typeface="Calibri"/>
              </a:rPr>
              <a:t>FastKANConv1D processes the flattened representation. Each filter learns how one band's spatial pattern relates to another's.</a:t>
            </a:r>
            <a:endParaRPr lang="en-US" sz="1200">
              <a:latin typeface="Calibri"/>
              <a:ea typeface="Calibri"/>
              <a:cs typeface="Calibri"/>
            </a:endParaRPr>
          </a:p>
        </p:txBody>
      </p:sp>
      <p:sp>
        <p:nvSpPr>
          <p:cNvPr id="13" name="Text 9"/>
          <p:cNvSpPr/>
          <p:nvPr/>
        </p:nvSpPr>
        <p:spPr>
          <a:xfrm>
            <a:off x="5029200" y="2138172"/>
            <a:ext cx="3794760" cy="726294"/>
          </a:xfrm>
          <a:prstGeom prst="rect">
            <a:avLst/>
          </a:prstGeom>
          <a:noFill/>
          <a:ln/>
        </p:spPr>
        <p:txBody>
          <a:bodyPr wrap="square" lIns="91440" tIns="45720" rIns="91440" bIns="45720" rtlCol="0" anchor="ctr"/>
          <a:lstStyle/>
          <a:p>
            <a:pPr marL="0" indent="0">
              <a:buNone/>
            </a:pPr>
            <a:r>
              <a:rPr lang="en-US" sz="1200" b="1" dirty="0">
                <a:solidFill>
                  <a:srgbClr val="1A2E4A"/>
                </a:solidFill>
                <a:latin typeface="Calibri"/>
                <a:ea typeface="Calibri"/>
                <a:cs typeface="Calibri"/>
              </a:rPr>
              <a:t>Output: </a:t>
            </a:r>
            <a:r>
              <a:rPr lang="en-US" sz="1200" dirty="0" err="1">
                <a:solidFill>
                  <a:srgbClr val="111111"/>
                </a:solidFill>
                <a:latin typeface="Calibri"/>
                <a:ea typeface="Calibri"/>
                <a:cs typeface="Calibri"/>
              </a:rPr>
              <a:t>causal_matrix</a:t>
            </a:r>
            <a:r>
              <a:rPr lang="en-US" sz="1200" dirty="0">
                <a:solidFill>
                  <a:srgbClr val="111111"/>
                </a:solidFill>
                <a:latin typeface="Calibri"/>
                <a:ea typeface="Calibri"/>
                <a:cs typeface="Calibri"/>
              </a:rPr>
              <a:t> (B, 103) — one importance score per band. These are the band-level causal influence weights.</a:t>
            </a:r>
            <a:endParaRPr lang="en-US" sz="1200">
              <a:latin typeface="Calibri"/>
              <a:ea typeface="Calibri"/>
              <a:cs typeface="Calibri"/>
            </a:endParaRPr>
          </a:p>
        </p:txBody>
      </p:sp>
      <p:sp>
        <p:nvSpPr>
          <p:cNvPr id="15" name="Text 11"/>
          <p:cNvSpPr/>
          <p:nvPr/>
        </p:nvSpPr>
        <p:spPr>
          <a:xfrm>
            <a:off x="5029200" y="2893858"/>
            <a:ext cx="3489960" cy="568451"/>
          </a:xfrm>
          <a:prstGeom prst="rect">
            <a:avLst/>
          </a:prstGeom>
          <a:noFill/>
          <a:ln/>
        </p:spPr>
        <p:txBody>
          <a:bodyPr wrap="square" lIns="91440" tIns="45720" rIns="91440" bIns="45720" rtlCol="0" anchor="ctr"/>
          <a:lstStyle/>
          <a:p>
            <a:pPr marL="0" indent="0">
              <a:buNone/>
            </a:pPr>
            <a:r>
              <a:rPr lang="en-US" sz="1200" b="1" dirty="0">
                <a:solidFill>
                  <a:srgbClr val="1A2E4A"/>
                </a:solidFill>
                <a:latin typeface="Calibri"/>
                <a:ea typeface="Calibri"/>
                <a:cs typeface="Calibri"/>
              </a:rPr>
              <a:t>Causal Loss: </a:t>
            </a:r>
            <a:r>
              <a:rPr lang="en-US" sz="1200" dirty="0">
                <a:solidFill>
                  <a:srgbClr val="111111"/>
                </a:solidFill>
                <a:latin typeface="Calibri"/>
                <a:ea typeface="Calibri"/>
                <a:cs typeface="Calibri"/>
              </a:rPr>
              <a:t>An L1 sparsity loss on </a:t>
            </a:r>
            <a:r>
              <a:rPr lang="en-US" sz="1200" dirty="0" err="1">
                <a:solidFill>
                  <a:srgbClr val="111111"/>
                </a:solidFill>
                <a:latin typeface="Calibri"/>
                <a:ea typeface="Calibri"/>
                <a:cs typeface="Calibri"/>
              </a:rPr>
              <a:t>causal_matrix</a:t>
            </a:r>
            <a:r>
              <a:rPr lang="en-US" sz="1200" dirty="0">
                <a:solidFill>
                  <a:srgbClr val="111111"/>
                </a:solidFill>
                <a:latin typeface="Calibri"/>
                <a:ea typeface="Calibri"/>
                <a:cs typeface="Calibri"/>
              </a:rPr>
              <a:t> (λ=0.01) forces the model to identify only the truly important bands, keeping explanations sparse and interpretable.</a:t>
            </a:r>
            <a:endParaRPr lang="en-US" sz="1200">
              <a:latin typeface="Calibri"/>
              <a:ea typeface="Calibri"/>
              <a:cs typeface="Calibri"/>
            </a:endParaRPr>
          </a:p>
        </p:txBody>
      </p:sp>
      <p:sp>
        <p:nvSpPr>
          <p:cNvPr id="17" name="Text 13"/>
          <p:cNvSpPr/>
          <p:nvPr/>
        </p:nvSpPr>
        <p:spPr>
          <a:xfrm>
            <a:off x="5029200" y="3633216"/>
            <a:ext cx="3794760" cy="530352"/>
          </a:xfrm>
          <a:prstGeom prst="rect">
            <a:avLst/>
          </a:prstGeom>
          <a:noFill/>
          <a:ln/>
        </p:spPr>
        <p:txBody>
          <a:bodyPr wrap="square" lIns="91440" tIns="45720" rIns="91440" bIns="45720" rtlCol="0" anchor="ctr"/>
          <a:lstStyle/>
          <a:p>
            <a:pPr marL="0" indent="0">
              <a:buNone/>
            </a:pPr>
            <a:r>
              <a:rPr lang="en-US" sz="1200" b="1" dirty="0">
                <a:solidFill>
                  <a:srgbClr val="1A2E4A"/>
                </a:solidFill>
                <a:latin typeface="Calibri"/>
                <a:ea typeface="Calibri"/>
                <a:cs typeface="Calibri"/>
              </a:rPr>
              <a:t>XAI Use: </a:t>
            </a:r>
            <a:r>
              <a:rPr lang="en-US" sz="1200" dirty="0">
                <a:solidFill>
                  <a:srgbClr val="111111"/>
                </a:solidFill>
                <a:latin typeface="Calibri"/>
                <a:ea typeface="Calibri"/>
                <a:cs typeface="Calibri"/>
              </a:rPr>
              <a:t>The top-5 bands by importance score are identified. Faithfulness is computed by zeroing these bands and measuring SR quality degradation.</a:t>
            </a:r>
            <a:endParaRPr lang="en-US" sz="1200">
              <a:latin typeface="Calibri"/>
              <a:ea typeface="Calibri"/>
              <a:cs typeface="Calibri"/>
            </a:endParaRPr>
          </a:p>
        </p:txBody>
      </p:sp>
      <p:sp>
        <p:nvSpPr>
          <p:cNvPr id="19" name="Text 15"/>
          <p:cNvSpPr/>
          <p:nvPr/>
        </p:nvSpPr>
        <p:spPr>
          <a:xfrm>
            <a:off x="5029200" y="4339917"/>
            <a:ext cx="3794760" cy="530352"/>
          </a:xfrm>
          <a:prstGeom prst="rect">
            <a:avLst/>
          </a:prstGeom>
          <a:noFill/>
          <a:ln/>
        </p:spPr>
        <p:txBody>
          <a:bodyPr wrap="square" lIns="91440" tIns="45720" rIns="91440" bIns="45720" rtlCol="0" anchor="ctr"/>
          <a:lstStyle/>
          <a:p>
            <a:pPr marL="0" indent="0">
              <a:buNone/>
            </a:pPr>
            <a:r>
              <a:rPr lang="en-US" sz="1200" b="1" dirty="0">
                <a:solidFill>
                  <a:srgbClr val="1A2E4A"/>
                </a:solidFill>
                <a:latin typeface="Calibri"/>
                <a:ea typeface="Calibri"/>
                <a:cs typeface="Calibri"/>
              </a:rPr>
              <a:t>Insight: </a:t>
            </a:r>
            <a:r>
              <a:rPr lang="en-US" sz="1200" dirty="0">
                <a:solidFill>
                  <a:srgbClr val="111111"/>
                </a:solidFill>
                <a:latin typeface="Calibri"/>
                <a:ea typeface="Calibri"/>
                <a:cs typeface="Calibri"/>
              </a:rPr>
              <a:t>The 103×103 causal matrix reveals spectral correlation clusters — groups of bands that co-influence each other's reconstruction (visible as block patterns in the heatmap).</a:t>
            </a:r>
            <a:endParaRPr lang="en-US" sz="1200">
              <a:latin typeface="Calibri"/>
              <a:ea typeface="Calibri"/>
              <a:cs typeface="Calibri"/>
            </a:endParaRPr>
          </a:p>
        </p:txBody>
      </p:sp>
      <p:pic>
        <p:nvPicPr>
          <p:cNvPr id="10" name="Picture 9" descr="A red and yellow squares&#10;&#10;AI-generated content may be incorrect.">
            <a:extLst>
              <a:ext uri="{FF2B5EF4-FFF2-40B4-BE49-F238E27FC236}">
                <a16:creationId xmlns:a16="http://schemas.microsoft.com/office/drawing/2014/main" id="{823E35E5-0954-34D9-4EE4-F415D5175396}"/>
              </a:ext>
            </a:extLst>
          </p:cNvPr>
          <p:cNvPicPr>
            <a:picLocks noChangeAspect="1"/>
          </p:cNvPicPr>
          <p:nvPr/>
        </p:nvPicPr>
        <p:blipFill>
          <a:blip r:embed="rId3"/>
          <a:stretch>
            <a:fillRect/>
          </a:stretch>
        </p:blipFill>
        <p:spPr>
          <a:xfrm>
            <a:off x="562595" y="713014"/>
            <a:ext cx="3142011" cy="2661558"/>
          </a:xfrm>
          <a:prstGeom prst="rect">
            <a:avLst/>
          </a:prstGeom>
        </p:spPr>
      </p:pic>
      <p:pic>
        <p:nvPicPr>
          <p:cNvPr id="12" name="Picture 11" descr="A graph with blue lines&#10;&#10;AI-generated content may be incorrect.">
            <a:extLst>
              <a:ext uri="{FF2B5EF4-FFF2-40B4-BE49-F238E27FC236}">
                <a16:creationId xmlns:a16="http://schemas.microsoft.com/office/drawing/2014/main" id="{D73FC689-3C84-1511-A340-24728258B56C}"/>
              </a:ext>
            </a:extLst>
          </p:cNvPr>
          <p:cNvPicPr>
            <a:picLocks noChangeAspect="1"/>
          </p:cNvPicPr>
          <p:nvPr/>
        </p:nvPicPr>
        <p:blipFill>
          <a:blip r:embed="rId4"/>
          <a:stretch>
            <a:fillRect/>
          </a:stretch>
        </p:blipFill>
        <p:spPr>
          <a:xfrm>
            <a:off x="457200" y="3374431"/>
            <a:ext cx="4305300" cy="1415423"/>
          </a:xfrm>
          <a:prstGeom prst="rect">
            <a:avLst/>
          </a:prstGeom>
        </p:spPr>
      </p:pic>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9">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9144000" cy="594360"/>
          </a:xfrm>
          <a:prstGeom prst="rect">
            <a:avLst/>
          </a:prstGeom>
          <a:solidFill>
            <a:srgbClr val="1A2E4A"/>
          </a:solidFill>
          <a:ln w="12700">
            <a:solidFill>
              <a:srgbClr val="1A2E4A"/>
            </a:solidFill>
            <a:prstDash val="solid"/>
          </a:ln>
        </p:spPr>
      </p:sp>
      <p:sp>
        <p:nvSpPr>
          <p:cNvPr id="3" name="Text 1"/>
          <p:cNvSpPr/>
          <p:nvPr/>
        </p:nvSpPr>
        <p:spPr>
          <a:xfrm>
            <a:off x="457200" y="45720"/>
            <a:ext cx="8229600" cy="502920"/>
          </a:xfrm>
          <a:prstGeom prst="rect">
            <a:avLst/>
          </a:prstGeom>
          <a:noFill/>
          <a:ln/>
        </p:spPr>
        <p:txBody>
          <a:bodyPr wrap="square" lIns="0" tIns="0" rIns="0" bIns="0" rtlCol="0" anchor="ctr"/>
          <a:lstStyle/>
          <a:p>
            <a:r>
              <a:rPr lang="en-US" sz="2100" b="1">
                <a:solidFill>
                  <a:srgbClr val="FFFFFF"/>
                </a:solidFill>
                <a:latin typeface="Cambria"/>
                <a:ea typeface="Cambria"/>
                <a:cs typeface="Cambria" pitchFamily="34" charset="-120"/>
              </a:rPr>
              <a:t>Physics-Guided Spectral Unmixing: 9 Endmember Abundance </a:t>
            </a:r>
            <a:r>
              <a:rPr lang="en-US" sz="2100" b="1" dirty="0">
                <a:solidFill>
                  <a:srgbClr val="FFFFFF"/>
                </a:solidFill>
                <a:latin typeface="Cambria"/>
                <a:ea typeface="Cambria"/>
                <a:cs typeface="Cambria" pitchFamily="34" charset="-120"/>
              </a:rPr>
              <a:t>Maps</a:t>
            </a:r>
            <a:endParaRPr lang="en-US" sz="2100" dirty="0">
              <a:latin typeface="Cambria"/>
              <a:ea typeface="Cambria"/>
            </a:endParaRPr>
          </a:p>
        </p:txBody>
      </p:sp>
      <p:sp>
        <p:nvSpPr>
          <p:cNvPr id="4" name="Text 2"/>
          <p:cNvSpPr/>
          <p:nvPr/>
        </p:nvSpPr>
        <p:spPr>
          <a:xfrm>
            <a:off x="318951" y="832539"/>
            <a:ext cx="8321040" cy="548640"/>
          </a:xfrm>
          <a:prstGeom prst="rect">
            <a:avLst/>
          </a:prstGeom>
          <a:noFill/>
          <a:ln/>
        </p:spPr>
        <p:txBody>
          <a:bodyPr wrap="square" lIns="91440" tIns="45720" rIns="91440" bIns="45720" rtlCol="0" anchor="ctr"/>
          <a:lstStyle/>
          <a:p>
            <a:pPr marL="0" indent="0">
              <a:buNone/>
            </a:pPr>
            <a:r>
              <a:rPr lang="en-US" sz="1200" dirty="0">
                <a:solidFill>
                  <a:srgbClr val="111111"/>
                </a:solidFill>
                <a:latin typeface="Calibri"/>
                <a:ea typeface="Calibri"/>
                <a:cs typeface="Calibri"/>
              </a:rPr>
              <a:t>Each pixel in the SR image is decomposed into a weighted combination of 9 pure material endmembers (e.g., asphalt, vegetation, rooftops, bare soil). The abundance maps below show the spatial distribution of each material across the scene. </a:t>
            </a:r>
            <a:r>
              <a:rPr lang="en-US" sz="1200" dirty="0" err="1">
                <a:solidFill>
                  <a:srgbClr val="111111"/>
                </a:solidFill>
                <a:latin typeface="Calibri"/>
                <a:ea typeface="Calibri"/>
                <a:cs typeface="Calibri"/>
              </a:rPr>
              <a:t>Softmax</a:t>
            </a:r>
            <a:r>
              <a:rPr lang="en-US" sz="1200" dirty="0">
                <a:solidFill>
                  <a:srgbClr val="111111"/>
                </a:solidFill>
                <a:latin typeface="Calibri"/>
                <a:ea typeface="Calibri"/>
                <a:cs typeface="Calibri"/>
              </a:rPr>
              <a:t> ensures abundances sum to 1.0 at every pixel — a physically meaningful constraint. A-SSIM measures how accurately these material maps match ground truth.</a:t>
            </a:r>
            <a:endParaRPr lang="en-US" sz="1200">
              <a:latin typeface="Calibri"/>
              <a:ea typeface="Calibri"/>
              <a:cs typeface="Calibri"/>
            </a:endParaRPr>
          </a:p>
        </p:txBody>
      </p:sp>
      <p:sp>
        <p:nvSpPr>
          <p:cNvPr id="6" name="Text 3"/>
          <p:cNvSpPr/>
          <p:nvPr/>
        </p:nvSpPr>
        <p:spPr>
          <a:xfrm>
            <a:off x="320040" y="4800600"/>
            <a:ext cx="8503920" cy="256032"/>
          </a:xfrm>
          <a:prstGeom prst="rect">
            <a:avLst/>
          </a:prstGeom>
          <a:noFill/>
          <a:ln/>
        </p:spPr>
        <p:txBody>
          <a:bodyPr wrap="square" lIns="91440" tIns="45720" rIns="91440" bIns="45720" rtlCol="0" anchor="ctr"/>
          <a:lstStyle/>
          <a:p>
            <a:pPr marL="0" indent="0" algn="ctr">
              <a:buNone/>
            </a:pPr>
            <a:r>
              <a:rPr lang="en-US" sz="850" b="1" dirty="0">
                <a:solidFill>
                  <a:schemeClr val="accent1">
                    <a:lumMod val="49000"/>
                  </a:schemeClr>
                </a:solidFill>
                <a:latin typeface="Calibri"/>
                <a:ea typeface="Calibri"/>
                <a:cs typeface="Calibri"/>
              </a:rPr>
              <a:t>9 Endmember Abundance Maps — Red = high abundance, Blue = low/absent. Each map corresponds to a distinct material type learned from the data.</a:t>
            </a:r>
          </a:p>
        </p:txBody>
      </p:sp>
      <p:pic>
        <p:nvPicPr>
          <p:cNvPr id="7" name="Picture 6" descr="A collage of images of buildings&#10;&#10;AI-generated content may be incorrect.">
            <a:extLst>
              <a:ext uri="{FF2B5EF4-FFF2-40B4-BE49-F238E27FC236}">
                <a16:creationId xmlns:a16="http://schemas.microsoft.com/office/drawing/2014/main" id="{10BB918C-3797-4BCC-9623-E5C101D0853A}"/>
              </a:ext>
            </a:extLst>
          </p:cNvPr>
          <p:cNvPicPr>
            <a:picLocks noChangeAspect="1"/>
          </p:cNvPicPr>
          <p:nvPr/>
        </p:nvPicPr>
        <p:blipFill>
          <a:blip r:embed="rId3"/>
          <a:stretch>
            <a:fillRect/>
          </a:stretch>
        </p:blipFill>
        <p:spPr>
          <a:xfrm>
            <a:off x="457203" y="1507427"/>
            <a:ext cx="7984668" cy="3315193"/>
          </a:xfrm>
          <a:prstGeom prst="rect">
            <a:avLst/>
          </a:prstGeom>
        </p:spPr>
      </p:pic>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9144000" cy="594360"/>
          </a:xfrm>
          <a:prstGeom prst="rect">
            <a:avLst/>
          </a:prstGeom>
          <a:solidFill>
            <a:srgbClr val="1A2E4A"/>
          </a:solidFill>
          <a:ln w="12700">
            <a:solidFill>
              <a:srgbClr val="1A2E4A"/>
            </a:solidFill>
            <a:prstDash val="solid"/>
          </a:ln>
        </p:spPr>
      </p:sp>
      <p:sp>
        <p:nvSpPr>
          <p:cNvPr id="3" name="Text 1"/>
          <p:cNvSpPr/>
          <p:nvPr/>
        </p:nvSpPr>
        <p:spPr>
          <a:xfrm>
            <a:off x="457200" y="45720"/>
            <a:ext cx="8229600" cy="502920"/>
          </a:xfrm>
          <a:prstGeom prst="rect">
            <a:avLst/>
          </a:prstGeom>
          <a:noFill/>
          <a:ln/>
        </p:spPr>
        <p:txBody>
          <a:bodyPr wrap="square" lIns="0" tIns="0" rIns="0" bIns="0" rtlCol="0" anchor="ctr"/>
          <a:lstStyle/>
          <a:p>
            <a:pPr marL="0" indent="0" algn="l">
              <a:buNone/>
            </a:pPr>
            <a:r>
              <a:rPr lang="en-US" sz="2400" b="1" dirty="0">
                <a:solidFill>
                  <a:srgbClr val="FFFFFF"/>
                </a:solidFill>
                <a:latin typeface="Cambria" pitchFamily="34" charset="0"/>
                <a:ea typeface="Cambria" pitchFamily="34" charset="-122"/>
                <a:cs typeface="Cambria" pitchFamily="34" charset="-120"/>
              </a:rPr>
              <a:t>Results — Pavia University ×2 Super-Resolution</a:t>
            </a:r>
            <a:endParaRPr lang="en-US" sz="2400" dirty="0"/>
          </a:p>
        </p:txBody>
      </p:sp>
      <p:sp>
        <p:nvSpPr>
          <p:cNvPr id="4" name="Text 2"/>
          <p:cNvSpPr/>
          <p:nvPr/>
        </p:nvSpPr>
        <p:spPr>
          <a:xfrm>
            <a:off x="367937" y="788997"/>
            <a:ext cx="8321040" cy="256032"/>
          </a:xfrm>
          <a:prstGeom prst="rect">
            <a:avLst/>
          </a:prstGeom>
          <a:noFill/>
          <a:ln/>
        </p:spPr>
        <p:txBody>
          <a:bodyPr wrap="square" lIns="91440" tIns="45720" rIns="91440" bIns="45720" rtlCol="0" anchor="ctr"/>
          <a:lstStyle/>
          <a:p>
            <a:pPr marL="0" indent="0" algn="ctr">
              <a:buNone/>
            </a:pPr>
            <a:r>
              <a:rPr lang="en-US" sz="1400" b="1">
                <a:solidFill>
                  <a:schemeClr val="accent1">
                    <a:lumMod val="49000"/>
                  </a:schemeClr>
                </a:solidFill>
                <a:latin typeface="Calibri"/>
                <a:ea typeface="Calibri"/>
                <a:cs typeface="Calibri"/>
              </a:rPr>
              <a:t>Dataset: Pavia University | 103 Spectral Bands | 2415 Training Patches </a:t>
            </a:r>
          </a:p>
        </p:txBody>
      </p:sp>
      <p:sp>
        <p:nvSpPr>
          <p:cNvPr id="5" name="Shape 3"/>
          <p:cNvSpPr/>
          <p:nvPr/>
        </p:nvSpPr>
        <p:spPr>
          <a:xfrm>
            <a:off x="502920" y="1571897"/>
            <a:ext cx="2651760" cy="1005840"/>
          </a:xfrm>
          <a:prstGeom prst="roundRect">
            <a:avLst>
              <a:gd name="adj" fmla="val 8182"/>
            </a:avLst>
          </a:prstGeom>
          <a:solidFill>
            <a:srgbClr val="FFFFFF"/>
          </a:solidFill>
          <a:ln w="25400">
            <a:solidFill>
              <a:srgbClr val="2563EB"/>
            </a:solidFill>
            <a:prstDash val="solid"/>
          </a:ln>
          <a:effectLst>
            <a:outerShdw blurRad="101600" dist="25400" dir="2700000" algn="bl" rotWithShape="0">
              <a:srgbClr val="000000">
                <a:alpha val="10000"/>
              </a:srgbClr>
            </a:outerShdw>
          </a:effectLst>
        </p:spPr>
      </p:sp>
      <p:sp>
        <p:nvSpPr>
          <p:cNvPr id="6" name="Text 4"/>
          <p:cNvSpPr/>
          <p:nvPr/>
        </p:nvSpPr>
        <p:spPr>
          <a:xfrm>
            <a:off x="459377" y="1755866"/>
            <a:ext cx="2651760" cy="475488"/>
          </a:xfrm>
          <a:prstGeom prst="rect">
            <a:avLst/>
          </a:prstGeom>
          <a:noFill/>
          <a:ln/>
        </p:spPr>
        <p:txBody>
          <a:bodyPr wrap="square" lIns="0" tIns="0" rIns="0" bIns="0" rtlCol="0" anchor="ctr"/>
          <a:lstStyle/>
          <a:p>
            <a:pPr marL="0" indent="0" algn="ctr">
              <a:buNone/>
            </a:pPr>
            <a:r>
              <a:rPr lang="en-US" sz="3200" b="1">
                <a:solidFill>
                  <a:srgbClr val="2563EB"/>
                </a:solidFill>
                <a:latin typeface="Cambria"/>
                <a:ea typeface="Cambria"/>
              </a:rPr>
              <a:t>34.04dB</a:t>
            </a:r>
            <a:endParaRPr lang="en-US" sz="3200">
              <a:latin typeface="Cambria"/>
              <a:ea typeface="Cambria"/>
            </a:endParaRPr>
          </a:p>
        </p:txBody>
      </p:sp>
      <p:sp>
        <p:nvSpPr>
          <p:cNvPr id="7" name="Text 5"/>
          <p:cNvSpPr/>
          <p:nvPr/>
        </p:nvSpPr>
        <p:spPr>
          <a:xfrm>
            <a:off x="459377" y="2242239"/>
            <a:ext cx="2651760" cy="237744"/>
          </a:xfrm>
          <a:prstGeom prst="rect">
            <a:avLst/>
          </a:prstGeom>
          <a:noFill/>
          <a:ln/>
        </p:spPr>
        <p:txBody>
          <a:bodyPr wrap="square" lIns="0" tIns="0" rIns="0" bIns="0" rtlCol="0" anchor="ctr"/>
          <a:lstStyle/>
          <a:p>
            <a:pPr marL="0" indent="0" algn="ctr">
              <a:buNone/>
            </a:pPr>
            <a:r>
              <a:rPr lang="en-US" b="1">
                <a:solidFill>
                  <a:srgbClr val="1A2E4A"/>
                </a:solidFill>
                <a:latin typeface="Calibri"/>
                <a:ea typeface="Calibri"/>
                <a:cs typeface="Calibri"/>
              </a:rPr>
              <a:t>PSNR </a:t>
            </a:r>
            <a:endParaRPr lang="en-US">
              <a:latin typeface="Calibri"/>
              <a:ea typeface="Calibri"/>
              <a:cs typeface="Calibri"/>
            </a:endParaRPr>
          </a:p>
        </p:txBody>
      </p:sp>
      <p:sp>
        <p:nvSpPr>
          <p:cNvPr id="9" name="Shape 7"/>
          <p:cNvSpPr/>
          <p:nvPr/>
        </p:nvSpPr>
        <p:spPr>
          <a:xfrm>
            <a:off x="3621677" y="1566454"/>
            <a:ext cx="2651760" cy="1005840"/>
          </a:xfrm>
          <a:prstGeom prst="roundRect">
            <a:avLst>
              <a:gd name="adj" fmla="val 8182"/>
            </a:avLst>
          </a:prstGeom>
          <a:solidFill>
            <a:srgbClr val="FFFFFF"/>
          </a:solidFill>
          <a:ln w="25400">
            <a:solidFill>
              <a:srgbClr val="0D9488"/>
            </a:solidFill>
            <a:prstDash val="solid"/>
          </a:ln>
          <a:effectLst>
            <a:outerShdw blurRad="101600" dist="25400" dir="2700000" algn="bl" rotWithShape="0">
              <a:srgbClr val="000000">
                <a:alpha val="10000"/>
              </a:srgbClr>
            </a:outerShdw>
          </a:effectLst>
        </p:spPr>
      </p:sp>
      <p:sp>
        <p:nvSpPr>
          <p:cNvPr id="10" name="Text 8"/>
          <p:cNvSpPr/>
          <p:nvPr/>
        </p:nvSpPr>
        <p:spPr>
          <a:xfrm>
            <a:off x="3703320" y="1755865"/>
            <a:ext cx="2651760" cy="475488"/>
          </a:xfrm>
          <a:prstGeom prst="rect">
            <a:avLst/>
          </a:prstGeom>
          <a:noFill/>
          <a:ln/>
        </p:spPr>
        <p:txBody>
          <a:bodyPr wrap="square" lIns="0" tIns="0" rIns="0" bIns="0" rtlCol="0" anchor="ctr"/>
          <a:lstStyle/>
          <a:p>
            <a:pPr marL="0" indent="0" algn="ctr">
              <a:buNone/>
            </a:pPr>
            <a:r>
              <a:rPr lang="en-US" sz="3200" b="1">
                <a:solidFill>
                  <a:srgbClr val="0D9488"/>
                </a:solidFill>
                <a:latin typeface="Cambria"/>
                <a:ea typeface="Cambria"/>
              </a:rPr>
              <a:t>0.01644</a:t>
            </a:r>
            <a:endParaRPr lang="en-US" sz="3200" b="1" dirty="0">
              <a:solidFill>
                <a:srgbClr val="0D9488"/>
              </a:solidFill>
              <a:latin typeface="Cambria"/>
              <a:ea typeface="Cambria"/>
            </a:endParaRPr>
          </a:p>
        </p:txBody>
      </p:sp>
      <p:sp>
        <p:nvSpPr>
          <p:cNvPr id="11" name="Text 9"/>
          <p:cNvSpPr/>
          <p:nvPr/>
        </p:nvSpPr>
        <p:spPr>
          <a:xfrm>
            <a:off x="3703320" y="2242240"/>
            <a:ext cx="2651760" cy="237744"/>
          </a:xfrm>
          <a:prstGeom prst="rect">
            <a:avLst/>
          </a:prstGeom>
          <a:noFill/>
          <a:ln/>
        </p:spPr>
        <p:txBody>
          <a:bodyPr wrap="square" lIns="0" tIns="0" rIns="0" bIns="0" rtlCol="0" anchor="ctr"/>
          <a:lstStyle/>
          <a:p>
            <a:pPr marL="0" indent="0" algn="ctr">
              <a:buNone/>
            </a:pPr>
            <a:r>
              <a:rPr lang="en-US" b="1">
                <a:solidFill>
                  <a:srgbClr val="1A2E4A"/>
                </a:solidFill>
                <a:ea typeface="Calibri"/>
                <a:cs typeface="Calibri"/>
              </a:rPr>
              <a:t>RMSE</a:t>
            </a:r>
          </a:p>
        </p:txBody>
      </p:sp>
      <p:sp>
        <p:nvSpPr>
          <p:cNvPr id="13" name="Shape 11"/>
          <p:cNvSpPr/>
          <p:nvPr/>
        </p:nvSpPr>
        <p:spPr>
          <a:xfrm>
            <a:off x="6740434" y="1571897"/>
            <a:ext cx="2148840" cy="1005840"/>
          </a:xfrm>
          <a:prstGeom prst="roundRect">
            <a:avLst>
              <a:gd name="adj" fmla="val 8182"/>
            </a:avLst>
          </a:prstGeom>
          <a:solidFill>
            <a:srgbClr val="FFFFFF"/>
          </a:solidFill>
          <a:ln w="25400">
            <a:solidFill>
              <a:srgbClr val="EA580C"/>
            </a:solidFill>
            <a:prstDash val="solid"/>
          </a:ln>
          <a:effectLst>
            <a:outerShdw blurRad="101600" dist="25400" dir="2700000" algn="bl" rotWithShape="0">
              <a:srgbClr val="000000">
                <a:alpha val="10000"/>
              </a:srgbClr>
            </a:outerShdw>
          </a:effectLst>
        </p:spPr>
      </p:sp>
      <p:sp>
        <p:nvSpPr>
          <p:cNvPr id="14" name="Text 12"/>
          <p:cNvSpPr/>
          <p:nvPr/>
        </p:nvSpPr>
        <p:spPr>
          <a:xfrm>
            <a:off x="6740434" y="1755866"/>
            <a:ext cx="2148840" cy="475488"/>
          </a:xfrm>
          <a:prstGeom prst="rect">
            <a:avLst/>
          </a:prstGeom>
          <a:noFill/>
          <a:ln/>
        </p:spPr>
        <p:txBody>
          <a:bodyPr wrap="square" lIns="0" tIns="0" rIns="0" bIns="0" rtlCol="0" anchor="ctr"/>
          <a:lstStyle/>
          <a:p>
            <a:pPr marL="0" indent="0" algn="ctr">
              <a:buNone/>
            </a:pPr>
            <a:r>
              <a:rPr lang="en-US" sz="3200" b="1" dirty="0">
                <a:solidFill>
                  <a:srgbClr val="EA580C"/>
                </a:solidFill>
                <a:latin typeface="Cambria" pitchFamily="34" charset="0"/>
                <a:ea typeface="Cambria" pitchFamily="34" charset="-122"/>
                <a:cs typeface="Cambria" pitchFamily="34" charset="-120"/>
              </a:rPr>
              <a:t>3.10°</a:t>
            </a:r>
            <a:endParaRPr lang="en-US" sz="3200" dirty="0"/>
          </a:p>
        </p:txBody>
      </p:sp>
      <p:sp>
        <p:nvSpPr>
          <p:cNvPr id="15" name="Text 13"/>
          <p:cNvSpPr/>
          <p:nvPr/>
        </p:nvSpPr>
        <p:spPr>
          <a:xfrm>
            <a:off x="6740435" y="2242239"/>
            <a:ext cx="2148840" cy="237744"/>
          </a:xfrm>
          <a:prstGeom prst="rect">
            <a:avLst/>
          </a:prstGeom>
          <a:noFill/>
          <a:ln/>
        </p:spPr>
        <p:txBody>
          <a:bodyPr wrap="square" lIns="0" tIns="0" rIns="0" bIns="0" rtlCol="0" anchor="ctr"/>
          <a:lstStyle/>
          <a:p>
            <a:pPr marL="0" indent="0" algn="ctr">
              <a:buNone/>
            </a:pPr>
            <a:r>
              <a:rPr lang="en-US" b="1">
                <a:solidFill>
                  <a:srgbClr val="1A2E4A"/>
                </a:solidFill>
                <a:latin typeface="Calibri"/>
                <a:ea typeface="Calibri"/>
                <a:cs typeface="Calibri"/>
              </a:rPr>
              <a:t>SAM</a:t>
            </a:r>
            <a:endParaRPr lang="en-US">
              <a:latin typeface="Calibri"/>
              <a:ea typeface="Calibri"/>
              <a:cs typeface="Calibri"/>
            </a:endParaRPr>
          </a:p>
        </p:txBody>
      </p:sp>
      <p:sp>
        <p:nvSpPr>
          <p:cNvPr id="16" name="Text 14"/>
          <p:cNvSpPr/>
          <p:nvPr/>
        </p:nvSpPr>
        <p:spPr>
          <a:xfrm>
            <a:off x="6903720" y="1810512"/>
            <a:ext cx="2148840" cy="182880"/>
          </a:xfrm>
          <a:prstGeom prst="rect">
            <a:avLst/>
          </a:prstGeom>
          <a:noFill/>
          <a:ln/>
        </p:spPr>
        <p:txBody>
          <a:bodyPr wrap="square" lIns="0" tIns="0" rIns="0" bIns="0" rtlCol="0" anchor="ctr"/>
          <a:lstStyle/>
          <a:p>
            <a:pPr marL="0" indent="0" algn="ctr">
              <a:buNone/>
            </a:pPr>
            <a:endParaRPr lang="en-US" sz="800" dirty="0">
              <a:solidFill>
                <a:srgbClr val="6B7280"/>
              </a:solidFill>
              <a:ea typeface="Calibri"/>
              <a:cs typeface="Calibri"/>
            </a:endParaRPr>
          </a:p>
        </p:txBody>
      </p:sp>
      <p:sp>
        <p:nvSpPr>
          <p:cNvPr id="17" name="Shape 15"/>
          <p:cNvSpPr/>
          <p:nvPr/>
        </p:nvSpPr>
        <p:spPr>
          <a:xfrm>
            <a:off x="502920" y="3415937"/>
            <a:ext cx="2651760" cy="1005840"/>
          </a:xfrm>
          <a:prstGeom prst="roundRect">
            <a:avLst>
              <a:gd name="adj" fmla="val 8182"/>
            </a:avLst>
          </a:prstGeom>
          <a:solidFill>
            <a:srgbClr val="FFFFFF"/>
          </a:solidFill>
          <a:ln w="25400">
            <a:solidFill>
              <a:srgbClr val="7C3AED"/>
            </a:solidFill>
            <a:prstDash val="solid"/>
          </a:ln>
          <a:effectLst>
            <a:outerShdw blurRad="101600" dist="25400" dir="2700000" algn="bl" rotWithShape="0">
              <a:srgbClr val="000000">
                <a:alpha val="10000"/>
              </a:srgbClr>
            </a:outerShdw>
          </a:effectLst>
        </p:spPr>
      </p:sp>
      <p:sp>
        <p:nvSpPr>
          <p:cNvPr id="18" name="Text 16"/>
          <p:cNvSpPr/>
          <p:nvPr/>
        </p:nvSpPr>
        <p:spPr>
          <a:xfrm>
            <a:off x="459377" y="3556363"/>
            <a:ext cx="2651760" cy="475488"/>
          </a:xfrm>
          <a:prstGeom prst="rect">
            <a:avLst/>
          </a:prstGeom>
          <a:noFill/>
          <a:ln/>
        </p:spPr>
        <p:txBody>
          <a:bodyPr wrap="square" lIns="0" tIns="0" rIns="0" bIns="0" rtlCol="0" anchor="ctr"/>
          <a:lstStyle/>
          <a:p>
            <a:pPr marL="0" indent="0" algn="ctr">
              <a:buNone/>
            </a:pPr>
            <a:r>
              <a:rPr lang="en-US" sz="3200" b="1" dirty="0">
                <a:solidFill>
                  <a:srgbClr val="7C3AED"/>
                </a:solidFill>
                <a:latin typeface="Cambria" pitchFamily="34" charset="0"/>
                <a:ea typeface="Cambria" pitchFamily="34" charset="-122"/>
                <a:cs typeface="Cambria" pitchFamily="34" charset="-120"/>
              </a:rPr>
              <a:t>0.9480</a:t>
            </a:r>
            <a:endParaRPr lang="en-US" sz="3200" dirty="0"/>
          </a:p>
        </p:txBody>
      </p:sp>
      <p:sp>
        <p:nvSpPr>
          <p:cNvPr id="19" name="Text 17"/>
          <p:cNvSpPr/>
          <p:nvPr/>
        </p:nvSpPr>
        <p:spPr>
          <a:xfrm>
            <a:off x="410391" y="4037294"/>
            <a:ext cx="2651760" cy="237744"/>
          </a:xfrm>
          <a:prstGeom prst="rect">
            <a:avLst/>
          </a:prstGeom>
          <a:noFill/>
          <a:ln/>
        </p:spPr>
        <p:txBody>
          <a:bodyPr wrap="square" lIns="0" tIns="0" rIns="0" bIns="0" rtlCol="0" anchor="ctr"/>
          <a:lstStyle/>
          <a:p>
            <a:pPr marL="0" indent="0" algn="ctr">
              <a:buNone/>
            </a:pPr>
            <a:r>
              <a:rPr lang="en-US" b="1" dirty="0">
                <a:solidFill>
                  <a:srgbClr val="1A2E4A"/>
                </a:solidFill>
                <a:latin typeface="Calibri"/>
                <a:ea typeface="Calibri"/>
                <a:cs typeface="Calibri"/>
              </a:rPr>
              <a:t>SSIM</a:t>
            </a:r>
            <a:endParaRPr lang="en-US">
              <a:latin typeface="Calibri"/>
              <a:ea typeface="Calibri"/>
              <a:cs typeface="Calibri"/>
            </a:endParaRPr>
          </a:p>
        </p:txBody>
      </p:sp>
      <p:sp>
        <p:nvSpPr>
          <p:cNvPr id="21" name="Shape 19"/>
          <p:cNvSpPr/>
          <p:nvPr/>
        </p:nvSpPr>
        <p:spPr>
          <a:xfrm>
            <a:off x="3621677" y="3415937"/>
            <a:ext cx="2651760" cy="1005840"/>
          </a:xfrm>
          <a:prstGeom prst="roundRect">
            <a:avLst>
              <a:gd name="adj" fmla="val 8182"/>
            </a:avLst>
          </a:prstGeom>
          <a:solidFill>
            <a:srgbClr val="FFFFFF"/>
          </a:solidFill>
          <a:ln w="25400">
            <a:solidFill>
              <a:srgbClr val="DC2626"/>
            </a:solidFill>
            <a:prstDash val="solid"/>
          </a:ln>
          <a:effectLst>
            <a:outerShdw blurRad="101600" dist="25400" dir="2700000" algn="bl" rotWithShape="0">
              <a:srgbClr val="000000">
                <a:alpha val="10000"/>
              </a:srgbClr>
            </a:outerShdw>
          </a:effectLst>
        </p:spPr>
      </p:sp>
      <p:sp>
        <p:nvSpPr>
          <p:cNvPr id="22" name="Text 20"/>
          <p:cNvSpPr/>
          <p:nvPr/>
        </p:nvSpPr>
        <p:spPr>
          <a:xfrm>
            <a:off x="3621677" y="3556363"/>
            <a:ext cx="2651760" cy="475488"/>
          </a:xfrm>
          <a:prstGeom prst="rect">
            <a:avLst/>
          </a:prstGeom>
          <a:noFill/>
          <a:ln/>
        </p:spPr>
        <p:txBody>
          <a:bodyPr wrap="square" lIns="0" tIns="0" rIns="0" bIns="0" rtlCol="0" anchor="ctr"/>
          <a:lstStyle/>
          <a:p>
            <a:pPr marL="0" indent="0" algn="ctr">
              <a:buNone/>
            </a:pPr>
            <a:r>
              <a:rPr lang="en-US" sz="3200" b="1">
                <a:solidFill>
                  <a:srgbClr val="DC2626"/>
                </a:solidFill>
                <a:latin typeface="Cambria"/>
                <a:ea typeface="Cambria"/>
              </a:rPr>
              <a:t>9.20</a:t>
            </a:r>
            <a:endParaRPr lang="en-US" sz="3200" b="1" dirty="0">
              <a:solidFill>
                <a:srgbClr val="DC2626"/>
              </a:solidFill>
              <a:latin typeface="Cambria"/>
              <a:ea typeface="Cambria"/>
            </a:endParaRPr>
          </a:p>
        </p:txBody>
      </p:sp>
      <p:sp>
        <p:nvSpPr>
          <p:cNvPr id="23" name="Text 21"/>
          <p:cNvSpPr/>
          <p:nvPr/>
        </p:nvSpPr>
        <p:spPr>
          <a:xfrm>
            <a:off x="3703320" y="4037294"/>
            <a:ext cx="2651760" cy="237744"/>
          </a:xfrm>
          <a:prstGeom prst="rect">
            <a:avLst/>
          </a:prstGeom>
          <a:noFill/>
          <a:ln/>
        </p:spPr>
        <p:txBody>
          <a:bodyPr wrap="square" lIns="0" tIns="0" rIns="0" bIns="0" rtlCol="0" anchor="ctr"/>
          <a:lstStyle/>
          <a:p>
            <a:pPr marL="0" indent="0" algn="ctr">
              <a:buNone/>
            </a:pPr>
            <a:r>
              <a:rPr lang="en-US" b="1" dirty="0">
                <a:solidFill>
                  <a:srgbClr val="1A2E4A"/>
                </a:solidFill>
                <a:latin typeface="Calibri"/>
                <a:ea typeface="Calibri"/>
                <a:cs typeface="Calibri"/>
              </a:rPr>
              <a:t>Faithfulness</a:t>
            </a:r>
            <a:endParaRPr lang="en-US">
              <a:latin typeface="Calibri"/>
              <a:ea typeface="Calibri"/>
              <a:cs typeface="Calibri"/>
            </a:endParaRPr>
          </a:p>
        </p:txBody>
      </p:sp>
      <p:sp>
        <p:nvSpPr>
          <p:cNvPr id="25" name="Shape 23"/>
          <p:cNvSpPr/>
          <p:nvPr/>
        </p:nvSpPr>
        <p:spPr>
          <a:xfrm>
            <a:off x="6740434" y="3415937"/>
            <a:ext cx="2148840" cy="1005840"/>
          </a:xfrm>
          <a:prstGeom prst="roundRect">
            <a:avLst>
              <a:gd name="adj" fmla="val 8182"/>
            </a:avLst>
          </a:prstGeom>
          <a:solidFill>
            <a:srgbClr val="FFFFFF"/>
          </a:solidFill>
          <a:ln w="25400">
            <a:solidFill>
              <a:srgbClr val="16A34A"/>
            </a:solidFill>
            <a:prstDash val="solid"/>
          </a:ln>
          <a:effectLst>
            <a:outerShdw blurRad="101600" dist="25400" dir="2700000" algn="bl" rotWithShape="0">
              <a:srgbClr val="000000">
                <a:alpha val="10000"/>
              </a:srgbClr>
            </a:outerShdw>
          </a:effectLst>
        </p:spPr>
      </p:sp>
      <p:sp>
        <p:nvSpPr>
          <p:cNvPr id="26" name="Text 24"/>
          <p:cNvSpPr/>
          <p:nvPr/>
        </p:nvSpPr>
        <p:spPr>
          <a:xfrm>
            <a:off x="6577149" y="3556363"/>
            <a:ext cx="2148840" cy="475488"/>
          </a:xfrm>
          <a:prstGeom prst="rect">
            <a:avLst/>
          </a:prstGeom>
          <a:noFill/>
          <a:ln/>
        </p:spPr>
        <p:txBody>
          <a:bodyPr wrap="square" lIns="0" tIns="0" rIns="0" bIns="0" rtlCol="0" anchor="ctr"/>
          <a:lstStyle/>
          <a:p>
            <a:pPr marL="0" indent="0" algn="ctr">
              <a:buNone/>
            </a:pPr>
            <a:r>
              <a:rPr lang="en-US" sz="3200" b="1" dirty="0">
                <a:solidFill>
                  <a:srgbClr val="16A34A"/>
                </a:solidFill>
                <a:latin typeface="Cambria" pitchFamily="34" charset="0"/>
                <a:ea typeface="Cambria" pitchFamily="34" charset="-122"/>
                <a:cs typeface="Cambria" pitchFamily="34" charset="-120"/>
              </a:rPr>
              <a:t>3.01</a:t>
            </a:r>
            <a:endParaRPr lang="en-US" sz="3200" dirty="0"/>
          </a:p>
        </p:txBody>
      </p:sp>
      <p:sp>
        <p:nvSpPr>
          <p:cNvPr id="27" name="Text 25"/>
          <p:cNvSpPr/>
          <p:nvPr/>
        </p:nvSpPr>
        <p:spPr>
          <a:xfrm>
            <a:off x="6740435" y="4037293"/>
            <a:ext cx="2148840" cy="237744"/>
          </a:xfrm>
          <a:prstGeom prst="rect">
            <a:avLst/>
          </a:prstGeom>
          <a:noFill/>
          <a:ln/>
        </p:spPr>
        <p:txBody>
          <a:bodyPr wrap="square" lIns="0" tIns="0" rIns="0" bIns="0" rtlCol="0" anchor="ctr"/>
          <a:lstStyle/>
          <a:p>
            <a:pPr marL="0" indent="0" algn="ctr">
              <a:buNone/>
            </a:pPr>
            <a:r>
              <a:rPr lang="en-US" b="1" dirty="0">
                <a:solidFill>
                  <a:srgbClr val="1A2E4A"/>
                </a:solidFill>
                <a:latin typeface="Calibri"/>
                <a:ea typeface="Calibri"/>
                <a:cs typeface="Calibri"/>
              </a:rPr>
              <a:t>Conservation</a:t>
            </a:r>
            <a:endParaRPr lang="en-US">
              <a:latin typeface="Calibri"/>
              <a:ea typeface="Calibri"/>
              <a:cs typeface="Calibri"/>
            </a:endParaRP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3">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9144000" cy="594360"/>
          </a:xfrm>
          <a:prstGeom prst="rect">
            <a:avLst/>
          </a:prstGeom>
          <a:solidFill>
            <a:srgbClr val="1A2E4A"/>
          </a:solidFill>
          <a:ln w="12700">
            <a:solidFill>
              <a:srgbClr val="1A2E4A"/>
            </a:solidFill>
            <a:prstDash val="solid"/>
          </a:ln>
        </p:spPr>
      </p:sp>
      <p:sp>
        <p:nvSpPr>
          <p:cNvPr id="3" name="Text 1"/>
          <p:cNvSpPr/>
          <p:nvPr/>
        </p:nvSpPr>
        <p:spPr>
          <a:xfrm>
            <a:off x="457200" y="45720"/>
            <a:ext cx="8229600" cy="502920"/>
          </a:xfrm>
          <a:prstGeom prst="rect">
            <a:avLst/>
          </a:prstGeom>
          <a:noFill/>
          <a:ln/>
        </p:spPr>
        <p:txBody>
          <a:bodyPr wrap="square" lIns="0" tIns="0" rIns="0" bIns="0" rtlCol="0" anchor="ctr"/>
          <a:lstStyle/>
          <a:p>
            <a:pPr marL="0" indent="0" algn="l">
              <a:buNone/>
            </a:pPr>
            <a:r>
              <a:rPr lang="en-US" sz="2600" b="1" dirty="0">
                <a:solidFill>
                  <a:srgbClr val="FFFFFF"/>
                </a:solidFill>
                <a:latin typeface="Cambria" pitchFamily="34" charset="0"/>
                <a:ea typeface="Cambria" pitchFamily="34" charset="-122"/>
                <a:cs typeface="Cambria" pitchFamily="34" charset="-120"/>
              </a:rPr>
              <a:t>Comparative Study vs. Prior Methods</a:t>
            </a:r>
            <a:endParaRPr lang="en-US" sz="2600" dirty="0"/>
          </a:p>
        </p:txBody>
      </p:sp>
      <p:sp>
        <p:nvSpPr>
          <p:cNvPr id="109" name="Text 109"/>
          <p:cNvSpPr/>
          <p:nvPr/>
        </p:nvSpPr>
        <p:spPr>
          <a:xfrm>
            <a:off x="411480" y="640000"/>
            <a:ext cx="8321040" cy="280000"/>
          </a:xfrm>
          <a:prstGeom prst="rect">
            <a:avLst/>
          </a:prstGeom>
          <a:noFill/>
          <a:ln/>
        </p:spPr>
        <p:txBody>
          <a:bodyPr wrap="square" lIns="0" tIns="0" rIns="0" bIns="0" rtlCol="0" anchor="ctr"/>
          <a:lstStyle/>
          <a:p>
            <a:pPr marL="0" indent="0" algn="l">
              <a:buNone/>
            </a:pPr>
            <a:r>
              <a:rPr lang="en-US" sz="1200" i="1" dirty="0">
                <a:solidFill>
                  <a:srgbClr val="475569"/>
                </a:solidFill>
                <a:latin typeface="Calibri"/>
                <a:ea typeface="Calibri"/>
                <a:cs typeface="Calibri"/>
              </a:rPr>
              <a:t>Six representative baselines + the two closest KAN-based predecessors, evaluated on Pavia University ×2</a:t>
            </a:r>
          </a:p>
        </p:txBody>
      </p:sp>
      <p:graphicFrame>
        <p:nvGraphicFramePr>
          <p:cNvPr id="110" name="Table 110"/>
          <p:cNvGraphicFramePr>
            <a:graphicFrameLocks noGrp="1"/>
          </p:cNvGraphicFramePr>
          <p:nvPr/>
        </p:nvGraphicFramePr>
        <p:xfrm>
          <a:off x="411480" y="1000000"/>
          <a:ext cx="8321040" cy="2715000"/>
        </p:xfrm>
        <a:graphic>
          <a:graphicData uri="http://schemas.openxmlformats.org/drawingml/2006/table">
            <a:tbl>
              <a:tblPr firstRow="1">
                <a:tableStyleId>{5940675A-B579-460E-94D1-54222C63F5DA}</a:tableStyleId>
              </a:tblPr>
              <a:tblGrid>
                <a:gridCol w="2200000">
                  <a:extLst>
                    <a:ext uri="{9D8B030D-6E8A-4147-A177-3AD203B41FA5}">
                      <a16:colId xmlns:a16="http://schemas.microsoft.com/office/drawing/2014/main" val="20000"/>
                    </a:ext>
                  </a:extLst>
                </a:gridCol>
                <a:gridCol w="1000000">
                  <a:extLst>
                    <a:ext uri="{9D8B030D-6E8A-4147-A177-3AD203B41FA5}">
                      <a16:colId xmlns:a16="http://schemas.microsoft.com/office/drawing/2014/main" val="20001"/>
                    </a:ext>
                  </a:extLst>
                </a:gridCol>
                <a:gridCol w="1050000">
                  <a:extLst>
                    <a:ext uri="{9D8B030D-6E8A-4147-A177-3AD203B41FA5}">
                      <a16:colId xmlns:a16="http://schemas.microsoft.com/office/drawing/2014/main" val="20002"/>
                    </a:ext>
                  </a:extLst>
                </a:gridCol>
                <a:gridCol w="1050000">
                  <a:extLst>
                    <a:ext uri="{9D8B030D-6E8A-4147-A177-3AD203B41FA5}">
                      <a16:colId xmlns:a16="http://schemas.microsoft.com/office/drawing/2014/main" val="20003"/>
                    </a:ext>
                  </a:extLst>
                </a:gridCol>
                <a:gridCol w="1000000">
                  <a:extLst>
                    <a:ext uri="{9D8B030D-6E8A-4147-A177-3AD203B41FA5}">
                      <a16:colId xmlns:a16="http://schemas.microsoft.com/office/drawing/2014/main" val="20004"/>
                    </a:ext>
                  </a:extLst>
                </a:gridCol>
                <a:gridCol w="1050000">
                  <a:extLst>
                    <a:ext uri="{9D8B030D-6E8A-4147-A177-3AD203B41FA5}">
                      <a16:colId xmlns:a16="http://schemas.microsoft.com/office/drawing/2014/main" val="20005"/>
                    </a:ext>
                  </a:extLst>
                </a:gridCol>
                <a:gridCol w="971040">
                  <a:extLst>
                    <a:ext uri="{9D8B030D-6E8A-4147-A177-3AD203B41FA5}">
                      <a16:colId xmlns:a16="http://schemas.microsoft.com/office/drawing/2014/main" val="20006"/>
                    </a:ext>
                  </a:extLst>
                </a:gridCol>
              </a:tblGrid>
              <a:tr h="315000">
                <a:tc>
                  <a:txBody>
                    <a:bodyPr/>
                    <a:lstStyle/>
                    <a:p>
                      <a:pPr algn="l">
                        <a:buNone/>
                      </a:pPr>
                      <a:r>
                        <a:rPr lang="en-US" sz="1100" b="1" dirty="0">
                          <a:solidFill>
                            <a:srgbClr val="FFFFFF"/>
                          </a:solidFill>
                          <a:latin typeface="Calibri"/>
                          <a:ea typeface="Calibri"/>
                          <a:cs typeface="Calibri"/>
                        </a:rPr>
                        <a:t>Model</a:t>
                      </a:r>
                    </a:p>
                  </a:txBody>
                  <a:tcPr>
                    <a:solidFill>
                      <a:srgbClr val="1A2E4A"/>
                    </a:solidFill>
                  </a:tcPr>
                </a:tc>
                <a:tc>
                  <a:txBody>
                    <a:bodyPr/>
                    <a:lstStyle/>
                    <a:p>
                      <a:pPr algn="ctr">
                        <a:buNone/>
                      </a:pPr>
                      <a:r>
                        <a:rPr lang="en-US" sz="1100" b="1" dirty="0">
                          <a:solidFill>
                            <a:srgbClr val="FFFFFF"/>
                          </a:solidFill>
                          <a:latin typeface="Calibri"/>
                          <a:ea typeface="Calibri"/>
                          <a:cs typeface="Calibri"/>
                        </a:rPr>
                        <a:t>Params (M)</a:t>
                      </a:r>
                    </a:p>
                  </a:txBody>
                  <a:tcPr>
                    <a:solidFill>
                      <a:srgbClr val="1A2E4A"/>
                    </a:solidFill>
                  </a:tcPr>
                </a:tc>
                <a:tc>
                  <a:txBody>
                    <a:bodyPr/>
                    <a:lstStyle/>
                    <a:p>
                      <a:pPr algn="ctr">
                        <a:buNone/>
                      </a:pPr>
                      <a:r>
                        <a:rPr lang="en-US" sz="1100" b="1" dirty="0">
                          <a:solidFill>
                            <a:srgbClr val="FFFFFF"/>
                          </a:solidFill>
                          <a:latin typeface="Calibri"/>
                          <a:ea typeface="Calibri"/>
                          <a:cs typeface="Calibri"/>
                        </a:rPr>
                        <a:t>PSNR (dB)</a:t>
                      </a:r>
                    </a:p>
                  </a:txBody>
                  <a:tcPr>
                    <a:solidFill>
                      <a:srgbClr val="1A2E4A"/>
                    </a:solidFill>
                  </a:tcPr>
                </a:tc>
                <a:tc>
                  <a:txBody>
                    <a:bodyPr/>
                    <a:lstStyle/>
                    <a:p>
                      <a:pPr algn="ctr">
                        <a:buNone/>
                      </a:pPr>
                      <a:r>
                        <a:rPr lang="en-US" sz="1100" b="1" dirty="0">
                          <a:solidFill>
                            <a:srgbClr val="FFFFFF"/>
                          </a:solidFill>
                          <a:latin typeface="Calibri"/>
                          <a:ea typeface="Calibri"/>
                          <a:cs typeface="Calibri"/>
                        </a:rPr>
                        <a:t>SSIM</a:t>
                      </a:r>
                    </a:p>
                  </a:txBody>
                  <a:tcPr>
                    <a:solidFill>
                      <a:srgbClr val="1A2E4A"/>
                    </a:solidFill>
                  </a:tcPr>
                </a:tc>
                <a:tc>
                  <a:txBody>
                    <a:bodyPr/>
                    <a:lstStyle/>
                    <a:p>
                      <a:pPr algn="ctr">
                        <a:buNone/>
                      </a:pPr>
                      <a:r>
                        <a:rPr lang="en-US" sz="1100" b="1" dirty="0">
                          <a:solidFill>
                            <a:srgbClr val="FFFFFF"/>
                          </a:solidFill>
                          <a:latin typeface="Calibri"/>
                          <a:ea typeface="Calibri"/>
                          <a:cs typeface="Calibri"/>
                        </a:rPr>
                        <a:t>SAM (°)</a:t>
                      </a:r>
                    </a:p>
                  </a:txBody>
                  <a:tcPr>
                    <a:solidFill>
                      <a:srgbClr val="1A2E4A"/>
                    </a:solidFill>
                  </a:tcPr>
                </a:tc>
                <a:tc>
                  <a:txBody>
                    <a:bodyPr/>
                    <a:lstStyle/>
                    <a:p>
                      <a:pPr algn="ctr">
                        <a:buNone/>
                      </a:pPr>
                      <a:r>
                        <a:rPr lang="en-US" sz="1100" b="1" dirty="0">
                          <a:solidFill>
                            <a:srgbClr val="FFFFFF"/>
                          </a:solidFill>
                          <a:latin typeface="Calibri"/>
                          <a:ea typeface="Calibri"/>
                          <a:cs typeface="Calibri"/>
                        </a:rPr>
                        <a:t>RMSE</a:t>
                      </a:r>
                    </a:p>
                  </a:txBody>
                  <a:tcPr>
                    <a:solidFill>
                      <a:srgbClr val="1A2E4A"/>
                    </a:solidFill>
                  </a:tcPr>
                </a:tc>
                <a:tc>
                  <a:txBody>
                    <a:bodyPr/>
                    <a:lstStyle/>
                    <a:p>
                      <a:pPr algn="ctr">
                        <a:buNone/>
                      </a:pPr>
                      <a:r>
                        <a:rPr lang="en-US" sz="1100" b="1" dirty="0">
                          <a:solidFill>
                            <a:srgbClr val="FFFFFF"/>
                          </a:solidFill>
                          <a:latin typeface="Calibri"/>
                          <a:ea typeface="Calibri"/>
                          <a:cs typeface="Calibri"/>
                        </a:rPr>
                        <a:t>ERGAS</a:t>
                      </a:r>
                    </a:p>
                  </a:txBody>
                  <a:tcPr>
                    <a:solidFill>
                      <a:srgbClr val="1A2E4A"/>
                    </a:solidFill>
                  </a:tcPr>
                </a:tc>
                <a:extLst>
                  <a:ext uri="{0D108BD9-81ED-4DB2-BD59-A6C34878D82A}">
                    <a16:rowId xmlns:a16="http://schemas.microsoft.com/office/drawing/2014/main" val="10000"/>
                  </a:ext>
                </a:extLst>
              </a:tr>
              <a:tr h="300000">
                <a:tc>
                  <a:txBody>
                    <a:bodyPr/>
                    <a:lstStyle/>
                    <a:p>
                      <a:pPr algn="l">
                        <a:buNone/>
                      </a:pPr>
                      <a:r>
                        <a:rPr lang="en-US" sz="1100" dirty="0">
                          <a:solidFill>
                            <a:srgbClr val="111111"/>
                          </a:solidFill>
                          <a:latin typeface="Calibri"/>
                          <a:ea typeface="Calibri"/>
                          <a:cs typeface="Calibri"/>
                        </a:rPr>
                        <a:t>Bicubic</a:t>
                      </a:r>
                    </a:p>
                  </a:txBody>
                  <a:tcPr>
                    <a:noFill/>
                  </a:tcPr>
                </a:tc>
                <a:tc>
                  <a:txBody>
                    <a:bodyPr/>
                    <a:lstStyle/>
                    <a:p>
                      <a:pPr algn="ctr">
                        <a:buNone/>
                      </a:pPr>
                      <a:r>
                        <a:rPr lang="en-US" sz="1100" dirty="0">
                          <a:solidFill>
                            <a:srgbClr val="111111"/>
                          </a:solidFill>
                          <a:latin typeface="Calibri"/>
                          <a:ea typeface="Calibri"/>
                          <a:cs typeface="Calibri"/>
                        </a:rPr>
                        <a:t>–</a:t>
                      </a:r>
                    </a:p>
                  </a:txBody>
                  <a:tcPr>
                    <a:noFill/>
                  </a:tcPr>
                </a:tc>
                <a:tc>
                  <a:txBody>
                    <a:bodyPr/>
                    <a:lstStyle/>
                    <a:p>
                      <a:pPr algn="ctr">
                        <a:buNone/>
                      </a:pPr>
                      <a:r>
                        <a:rPr lang="en-US" sz="1100" dirty="0">
                          <a:solidFill>
                            <a:srgbClr val="111111"/>
                          </a:solidFill>
                          <a:latin typeface="Calibri"/>
                          <a:ea typeface="Calibri"/>
                          <a:cs typeface="Calibri"/>
                        </a:rPr>
                        <a:t>26.60</a:t>
                      </a:r>
                    </a:p>
                  </a:txBody>
                  <a:tcPr>
                    <a:noFill/>
                  </a:tcPr>
                </a:tc>
                <a:tc>
                  <a:txBody>
                    <a:bodyPr/>
                    <a:lstStyle/>
                    <a:p>
                      <a:pPr algn="ctr">
                        <a:buNone/>
                      </a:pPr>
                      <a:r>
                        <a:rPr lang="en-US" sz="1100" dirty="0">
                          <a:solidFill>
                            <a:srgbClr val="111111"/>
                          </a:solidFill>
                          <a:latin typeface="Calibri"/>
                          <a:ea typeface="Calibri"/>
                          <a:cs typeface="Calibri"/>
                        </a:rPr>
                        <a:t>0.8892</a:t>
                      </a:r>
                    </a:p>
                  </a:txBody>
                  <a:tcPr>
                    <a:noFill/>
                  </a:tcPr>
                </a:tc>
                <a:tc>
                  <a:txBody>
                    <a:bodyPr/>
                    <a:lstStyle/>
                    <a:p>
                      <a:pPr algn="ctr">
                        <a:buNone/>
                      </a:pPr>
                      <a:r>
                        <a:rPr lang="en-US" sz="1100" dirty="0">
                          <a:solidFill>
                            <a:srgbClr val="111111"/>
                          </a:solidFill>
                          <a:latin typeface="Calibri"/>
                          <a:ea typeface="Calibri"/>
                          <a:cs typeface="Calibri"/>
                        </a:rPr>
                        <a:t>3.76</a:t>
                      </a:r>
                    </a:p>
                  </a:txBody>
                  <a:tcPr>
                    <a:noFill/>
                  </a:tcPr>
                </a:tc>
                <a:tc>
                  <a:txBody>
                    <a:bodyPr/>
                    <a:lstStyle/>
                    <a:p>
                      <a:pPr algn="ctr">
                        <a:buNone/>
                      </a:pPr>
                      <a:r>
                        <a:rPr lang="en-US" sz="1100" dirty="0">
                          <a:solidFill>
                            <a:srgbClr val="111111"/>
                          </a:solidFill>
                          <a:latin typeface="Calibri"/>
                          <a:ea typeface="Calibri"/>
                          <a:cs typeface="Calibri"/>
                        </a:rPr>
                        <a:t>0.050</a:t>
                      </a:r>
                    </a:p>
                  </a:txBody>
                  <a:tcPr>
                    <a:noFill/>
                  </a:tcPr>
                </a:tc>
                <a:tc>
                  <a:txBody>
                    <a:bodyPr/>
                    <a:lstStyle/>
                    <a:p>
                      <a:pPr algn="ctr">
                        <a:buNone/>
                      </a:pPr>
                      <a:r>
                        <a:rPr lang="en-US" sz="1100" dirty="0">
                          <a:solidFill>
                            <a:srgbClr val="111111"/>
                          </a:solidFill>
                          <a:latin typeface="Calibri"/>
                          <a:ea typeface="Calibri"/>
                          <a:cs typeface="Calibri"/>
                        </a:rPr>
                        <a:t>11.42</a:t>
                      </a:r>
                    </a:p>
                  </a:txBody>
                  <a:tcPr>
                    <a:noFill/>
                  </a:tcPr>
                </a:tc>
                <a:extLst>
                  <a:ext uri="{0D108BD9-81ED-4DB2-BD59-A6C34878D82A}">
                    <a16:rowId xmlns:a16="http://schemas.microsoft.com/office/drawing/2014/main" val="10001"/>
                  </a:ext>
                </a:extLst>
              </a:tr>
              <a:tr h="300000">
                <a:tc>
                  <a:txBody>
                    <a:bodyPr/>
                    <a:lstStyle/>
                    <a:p>
                      <a:pPr algn="l">
                        <a:buNone/>
                      </a:pPr>
                      <a:r>
                        <a:rPr lang="en-US" sz="1100" dirty="0">
                          <a:solidFill>
                            <a:srgbClr val="111111"/>
                          </a:solidFill>
                          <a:latin typeface="Calibri"/>
                          <a:ea typeface="Calibri"/>
                          <a:cs typeface="Calibri"/>
                        </a:rPr>
                        <a:t>3D-FCNN</a:t>
                      </a:r>
                    </a:p>
                  </a:txBody>
                  <a:tcPr>
                    <a:solidFill>
                      <a:srgbClr val="F8FAFC"/>
                    </a:solidFill>
                  </a:tcPr>
                </a:tc>
                <a:tc>
                  <a:txBody>
                    <a:bodyPr/>
                    <a:lstStyle/>
                    <a:p>
                      <a:pPr algn="ctr">
                        <a:buNone/>
                      </a:pPr>
                      <a:r>
                        <a:rPr lang="en-US" sz="1100" dirty="0">
                          <a:solidFill>
                            <a:srgbClr val="111111"/>
                          </a:solidFill>
                          <a:latin typeface="Calibri"/>
                          <a:ea typeface="Calibri"/>
                          <a:cs typeface="Calibri"/>
                        </a:rPr>
                        <a:t>11.03</a:t>
                      </a:r>
                    </a:p>
                  </a:txBody>
                  <a:tcPr>
                    <a:solidFill>
                      <a:srgbClr val="F8FAFC"/>
                    </a:solidFill>
                  </a:tcPr>
                </a:tc>
                <a:tc>
                  <a:txBody>
                    <a:bodyPr/>
                    <a:lstStyle/>
                    <a:p>
                      <a:pPr algn="ctr">
                        <a:buNone/>
                      </a:pPr>
                      <a:r>
                        <a:rPr lang="en-US" sz="1100" dirty="0">
                          <a:solidFill>
                            <a:srgbClr val="111111"/>
                          </a:solidFill>
                          <a:latin typeface="Calibri"/>
                          <a:ea typeface="Calibri"/>
                          <a:cs typeface="Calibri"/>
                        </a:rPr>
                        <a:t>27.30</a:t>
                      </a:r>
                    </a:p>
                  </a:txBody>
                  <a:tcPr>
                    <a:solidFill>
                      <a:srgbClr val="F8FAFC"/>
                    </a:solidFill>
                  </a:tcPr>
                </a:tc>
                <a:tc>
                  <a:txBody>
                    <a:bodyPr/>
                    <a:lstStyle/>
                    <a:p>
                      <a:pPr algn="ctr">
                        <a:buNone/>
                      </a:pPr>
                      <a:r>
                        <a:rPr lang="en-US" sz="1100" dirty="0">
                          <a:solidFill>
                            <a:srgbClr val="111111"/>
                          </a:solidFill>
                          <a:latin typeface="Calibri"/>
                          <a:ea typeface="Calibri"/>
                          <a:cs typeface="Calibri"/>
                        </a:rPr>
                        <a:t>0.8987</a:t>
                      </a:r>
                    </a:p>
                  </a:txBody>
                  <a:tcPr>
                    <a:solidFill>
                      <a:srgbClr val="F8FAFC"/>
                    </a:solidFill>
                  </a:tcPr>
                </a:tc>
                <a:tc>
                  <a:txBody>
                    <a:bodyPr/>
                    <a:lstStyle/>
                    <a:p>
                      <a:pPr algn="ctr">
                        <a:buNone/>
                      </a:pPr>
                      <a:r>
                        <a:rPr lang="en-US" sz="1100" dirty="0">
                          <a:solidFill>
                            <a:srgbClr val="111111"/>
                          </a:solidFill>
                          <a:latin typeface="Calibri"/>
                          <a:ea typeface="Calibri"/>
                          <a:cs typeface="Calibri"/>
                        </a:rPr>
                        <a:t>3.64</a:t>
                      </a:r>
                    </a:p>
                  </a:txBody>
                  <a:tcPr>
                    <a:solidFill>
                      <a:srgbClr val="F8FAFC"/>
                    </a:solidFill>
                  </a:tcPr>
                </a:tc>
                <a:tc>
                  <a:txBody>
                    <a:bodyPr/>
                    <a:lstStyle/>
                    <a:p>
                      <a:pPr algn="ctr">
                        <a:buNone/>
                      </a:pPr>
                      <a:r>
                        <a:rPr lang="en-US" sz="1100" dirty="0">
                          <a:solidFill>
                            <a:srgbClr val="111111"/>
                          </a:solidFill>
                          <a:latin typeface="Calibri"/>
                          <a:ea typeface="Calibri"/>
                          <a:cs typeface="Calibri"/>
                        </a:rPr>
                        <a:t>0.040</a:t>
                      </a:r>
                    </a:p>
                  </a:txBody>
                  <a:tcPr>
                    <a:solidFill>
                      <a:srgbClr val="F8FAFC"/>
                    </a:solidFill>
                  </a:tcPr>
                </a:tc>
                <a:tc>
                  <a:txBody>
                    <a:bodyPr/>
                    <a:lstStyle/>
                    <a:p>
                      <a:pPr algn="ctr">
                        <a:buNone/>
                      </a:pPr>
                      <a:r>
                        <a:rPr lang="en-US" sz="1100" dirty="0">
                          <a:solidFill>
                            <a:srgbClr val="111111"/>
                          </a:solidFill>
                          <a:latin typeface="Calibri"/>
                          <a:ea typeface="Calibri"/>
                          <a:cs typeface="Calibri"/>
                        </a:rPr>
                        <a:t>9.47</a:t>
                      </a:r>
                    </a:p>
                  </a:txBody>
                  <a:tcPr>
                    <a:solidFill>
                      <a:srgbClr val="F8FAFC"/>
                    </a:solidFill>
                  </a:tcPr>
                </a:tc>
                <a:extLst>
                  <a:ext uri="{0D108BD9-81ED-4DB2-BD59-A6C34878D82A}">
                    <a16:rowId xmlns:a16="http://schemas.microsoft.com/office/drawing/2014/main" val="10002"/>
                  </a:ext>
                </a:extLst>
              </a:tr>
              <a:tr h="300000">
                <a:tc>
                  <a:txBody>
                    <a:bodyPr/>
                    <a:lstStyle/>
                    <a:p>
                      <a:pPr algn="l">
                        <a:buNone/>
                      </a:pPr>
                      <a:r>
                        <a:rPr lang="en-US" sz="1100" dirty="0">
                          <a:solidFill>
                            <a:srgbClr val="111111"/>
                          </a:solidFill>
                          <a:latin typeface="Calibri"/>
                          <a:ea typeface="Calibri"/>
                          <a:cs typeface="Calibri"/>
                        </a:rPr>
                        <a:t>SSPSR</a:t>
                      </a:r>
                    </a:p>
                  </a:txBody>
                  <a:tcPr>
                    <a:noFill/>
                  </a:tcPr>
                </a:tc>
                <a:tc>
                  <a:txBody>
                    <a:bodyPr/>
                    <a:lstStyle/>
                    <a:p>
                      <a:pPr algn="ctr">
                        <a:buNone/>
                      </a:pPr>
                      <a:r>
                        <a:rPr lang="en-US" sz="1100" dirty="0">
                          <a:solidFill>
                            <a:srgbClr val="111111"/>
                          </a:solidFill>
                          <a:latin typeface="Calibri"/>
                          <a:ea typeface="Calibri"/>
                          <a:cs typeface="Calibri"/>
                        </a:rPr>
                        <a:t>1.70</a:t>
                      </a:r>
                    </a:p>
                  </a:txBody>
                  <a:tcPr>
                    <a:noFill/>
                  </a:tcPr>
                </a:tc>
                <a:tc>
                  <a:txBody>
                    <a:bodyPr/>
                    <a:lstStyle/>
                    <a:p>
                      <a:pPr algn="ctr">
                        <a:buNone/>
                      </a:pPr>
                      <a:r>
                        <a:rPr lang="en-US" sz="1100" dirty="0">
                          <a:solidFill>
                            <a:srgbClr val="111111"/>
                          </a:solidFill>
                          <a:latin typeface="Calibri"/>
                          <a:ea typeface="Calibri"/>
                          <a:cs typeface="Calibri"/>
                        </a:rPr>
                        <a:t>30.67</a:t>
                      </a:r>
                    </a:p>
                  </a:txBody>
                  <a:tcPr>
                    <a:noFill/>
                  </a:tcPr>
                </a:tc>
                <a:tc>
                  <a:txBody>
                    <a:bodyPr/>
                    <a:lstStyle/>
                    <a:p>
                      <a:pPr algn="ctr">
                        <a:buNone/>
                      </a:pPr>
                      <a:r>
                        <a:rPr lang="en-US" sz="1100" dirty="0">
                          <a:solidFill>
                            <a:srgbClr val="111111"/>
                          </a:solidFill>
                          <a:latin typeface="Calibri"/>
                          <a:ea typeface="Calibri"/>
                          <a:cs typeface="Calibri"/>
                        </a:rPr>
                        <a:t>0.9367</a:t>
                      </a:r>
                    </a:p>
                  </a:txBody>
                  <a:tcPr>
                    <a:noFill/>
                  </a:tcPr>
                </a:tc>
                <a:tc>
                  <a:txBody>
                    <a:bodyPr/>
                    <a:lstStyle/>
                    <a:p>
                      <a:pPr algn="ctr">
                        <a:buNone/>
                      </a:pPr>
                      <a:r>
                        <a:rPr lang="en-US" sz="1100" dirty="0">
                          <a:solidFill>
                            <a:srgbClr val="111111"/>
                          </a:solidFill>
                          <a:latin typeface="Calibri"/>
                          <a:ea typeface="Calibri"/>
                          <a:cs typeface="Calibri"/>
                        </a:rPr>
                        <a:t>3.19</a:t>
                      </a:r>
                    </a:p>
                  </a:txBody>
                  <a:tcPr>
                    <a:noFill/>
                  </a:tcPr>
                </a:tc>
                <a:tc>
                  <a:txBody>
                    <a:bodyPr/>
                    <a:lstStyle/>
                    <a:p>
                      <a:pPr algn="ctr">
                        <a:buNone/>
                      </a:pPr>
                      <a:r>
                        <a:rPr lang="en-US" sz="1100" dirty="0">
                          <a:solidFill>
                            <a:srgbClr val="111111"/>
                          </a:solidFill>
                          <a:latin typeface="Calibri"/>
                          <a:ea typeface="Calibri"/>
                          <a:cs typeface="Calibri"/>
                        </a:rPr>
                        <a:t>0.030</a:t>
                      </a:r>
                    </a:p>
                  </a:txBody>
                  <a:tcPr>
                    <a:noFill/>
                  </a:tcPr>
                </a:tc>
                <a:tc>
                  <a:txBody>
                    <a:bodyPr/>
                    <a:lstStyle/>
                    <a:p>
                      <a:pPr algn="ctr">
                        <a:buNone/>
                      </a:pPr>
                      <a:r>
                        <a:rPr lang="en-US" sz="1100" dirty="0">
                          <a:solidFill>
                            <a:srgbClr val="111111"/>
                          </a:solidFill>
                          <a:latin typeface="Calibri"/>
                          <a:ea typeface="Calibri"/>
                          <a:cs typeface="Calibri"/>
                        </a:rPr>
                        <a:t>6.29</a:t>
                      </a:r>
                    </a:p>
                  </a:txBody>
                  <a:tcPr>
                    <a:noFill/>
                  </a:tcPr>
                </a:tc>
                <a:extLst>
                  <a:ext uri="{0D108BD9-81ED-4DB2-BD59-A6C34878D82A}">
                    <a16:rowId xmlns:a16="http://schemas.microsoft.com/office/drawing/2014/main" val="10003"/>
                  </a:ext>
                </a:extLst>
              </a:tr>
              <a:tr h="300000">
                <a:tc>
                  <a:txBody>
                    <a:bodyPr/>
                    <a:lstStyle/>
                    <a:p>
                      <a:pPr algn="l">
                        <a:buNone/>
                      </a:pPr>
                      <a:r>
                        <a:rPr lang="en-US" sz="1100" dirty="0">
                          <a:solidFill>
                            <a:srgbClr val="111111"/>
                          </a:solidFill>
                          <a:latin typeface="Calibri"/>
                          <a:ea typeface="Calibri"/>
                          <a:cs typeface="Calibri"/>
                        </a:rPr>
                        <a:t>SRDNet</a:t>
                      </a:r>
                    </a:p>
                  </a:txBody>
                  <a:tcPr>
                    <a:solidFill>
                      <a:srgbClr val="F8FAFC"/>
                    </a:solidFill>
                  </a:tcPr>
                </a:tc>
                <a:tc>
                  <a:txBody>
                    <a:bodyPr/>
                    <a:lstStyle/>
                    <a:p>
                      <a:pPr algn="ctr">
                        <a:buNone/>
                      </a:pPr>
                      <a:r>
                        <a:rPr lang="en-US" sz="1100" dirty="0">
                          <a:solidFill>
                            <a:srgbClr val="111111"/>
                          </a:solidFill>
                          <a:latin typeface="Calibri"/>
                          <a:ea typeface="Calibri"/>
                          <a:cs typeface="Calibri"/>
                        </a:rPr>
                        <a:t>12.34</a:t>
                      </a:r>
                    </a:p>
                  </a:txBody>
                  <a:tcPr>
                    <a:solidFill>
                      <a:srgbClr val="F8FAFC"/>
                    </a:solidFill>
                  </a:tcPr>
                </a:tc>
                <a:tc>
                  <a:txBody>
                    <a:bodyPr/>
                    <a:lstStyle/>
                    <a:p>
                      <a:pPr algn="ctr">
                        <a:buNone/>
                      </a:pPr>
                      <a:r>
                        <a:rPr lang="en-US" sz="1100" dirty="0">
                          <a:solidFill>
                            <a:srgbClr val="111111"/>
                          </a:solidFill>
                          <a:latin typeface="Calibri"/>
                          <a:ea typeface="Calibri"/>
                          <a:cs typeface="Calibri"/>
                        </a:rPr>
                        <a:t>26.17</a:t>
                      </a:r>
                    </a:p>
                  </a:txBody>
                  <a:tcPr>
                    <a:solidFill>
                      <a:srgbClr val="F8FAFC"/>
                    </a:solidFill>
                  </a:tcPr>
                </a:tc>
                <a:tc>
                  <a:txBody>
                    <a:bodyPr/>
                    <a:lstStyle/>
                    <a:p>
                      <a:pPr algn="ctr">
                        <a:buNone/>
                      </a:pPr>
                      <a:r>
                        <a:rPr lang="en-US" sz="1100" dirty="0">
                          <a:solidFill>
                            <a:srgbClr val="111111"/>
                          </a:solidFill>
                          <a:latin typeface="Calibri"/>
                          <a:ea typeface="Calibri"/>
                          <a:cs typeface="Calibri"/>
                        </a:rPr>
                        <a:t>0.8828</a:t>
                      </a:r>
                    </a:p>
                  </a:txBody>
                  <a:tcPr>
                    <a:solidFill>
                      <a:srgbClr val="F8FAFC"/>
                    </a:solidFill>
                  </a:tcPr>
                </a:tc>
                <a:tc>
                  <a:txBody>
                    <a:bodyPr/>
                    <a:lstStyle/>
                    <a:p>
                      <a:pPr algn="ctr">
                        <a:buNone/>
                      </a:pPr>
                      <a:r>
                        <a:rPr lang="en-US" sz="1100" dirty="0">
                          <a:solidFill>
                            <a:srgbClr val="111111"/>
                          </a:solidFill>
                          <a:latin typeface="Calibri"/>
                          <a:ea typeface="Calibri"/>
                          <a:cs typeface="Calibri"/>
                        </a:rPr>
                        <a:t>5.04</a:t>
                      </a:r>
                    </a:p>
                  </a:txBody>
                  <a:tcPr>
                    <a:solidFill>
                      <a:srgbClr val="F8FAFC"/>
                    </a:solidFill>
                  </a:tcPr>
                </a:tc>
                <a:tc>
                  <a:txBody>
                    <a:bodyPr/>
                    <a:lstStyle/>
                    <a:p>
                      <a:pPr algn="ctr">
                        <a:buNone/>
                      </a:pPr>
                      <a:r>
                        <a:rPr lang="en-US" sz="1100" dirty="0">
                          <a:solidFill>
                            <a:srgbClr val="111111"/>
                          </a:solidFill>
                          <a:latin typeface="Calibri"/>
                          <a:ea typeface="Calibri"/>
                          <a:cs typeface="Calibri"/>
                        </a:rPr>
                        <a:t>0.040</a:t>
                      </a:r>
                    </a:p>
                  </a:txBody>
                  <a:tcPr>
                    <a:solidFill>
                      <a:srgbClr val="F8FAFC"/>
                    </a:solidFill>
                  </a:tcPr>
                </a:tc>
                <a:tc>
                  <a:txBody>
                    <a:bodyPr/>
                    <a:lstStyle/>
                    <a:p>
                      <a:pPr algn="ctr">
                        <a:buNone/>
                      </a:pPr>
                      <a:r>
                        <a:rPr lang="en-US" sz="1100" dirty="0">
                          <a:solidFill>
                            <a:srgbClr val="111111"/>
                          </a:solidFill>
                          <a:latin typeface="Calibri"/>
                          <a:ea typeface="Calibri"/>
                          <a:cs typeface="Calibri"/>
                        </a:rPr>
                        <a:t>10.74</a:t>
                      </a:r>
                    </a:p>
                  </a:txBody>
                  <a:tcPr>
                    <a:solidFill>
                      <a:srgbClr val="F8FAFC"/>
                    </a:solidFill>
                  </a:tcPr>
                </a:tc>
                <a:extLst>
                  <a:ext uri="{0D108BD9-81ED-4DB2-BD59-A6C34878D82A}">
                    <a16:rowId xmlns:a16="http://schemas.microsoft.com/office/drawing/2014/main" val="10004"/>
                  </a:ext>
                </a:extLst>
              </a:tr>
              <a:tr h="300000">
                <a:tc>
                  <a:txBody>
                    <a:bodyPr/>
                    <a:lstStyle/>
                    <a:p>
                      <a:pPr algn="l">
                        <a:buNone/>
                      </a:pPr>
                      <a:r>
                        <a:rPr lang="en-US" sz="1100" dirty="0">
                          <a:solidFill>
                            <a:srgbClr val="111111"/>
                          </a:solidFill>
                          <a:latin typeface="Calibri"/>
                          <a:ea typeface="Calibri"/>
                          <a:cs typeface="Calibri"/>
                        </a:rPr>
                        <a:t>MSDFormer</a:t>
                      </a:r>
                    </a:p>
                  </a:txBody>
                  <a:tcPr>
                    <a:noFill/>
                  </a:tcPr>
                </a:tc>
                <a:tc>
                  <a:txBody>
                    <a:bodyPr/>
                    <a:lstStyle/>
                    <a:p>
                      <a:pPr algn="ctr">
                        <a:buNone/>
                      </a:pPr>
                      <a:r>
                        <a:rPr lang="en-US" sz="1100" dirty="0">
                          <a:solidFill>
                            <a:srgbClr val="111111"/>
                          </a:solidFill>
                          <a:latin typeface="Calibri"/>
                          <a:ea typeface="Calibri"/>
                          <a:cs typeface="Calibri"/>
                        </a:rPr>
                        <a:t>5.02</a:t>
                      </a:r>
                    </a:p>
                  </a:txBody>
                  <a:tcPr>
                    <a:noFill/>
                  </a:tcPr>
                </a:tc>
                <a:tc>
                  <a:txBody>
                    <a:bodyPr/>
                    <a:lstStyle/>
                    <a:p>
                      <a:pPr algn="ctr">
                        <a:buNone/>
                      </a:pPr>
                      <a:r>
                        <a:rPr lang="en-US" sz="1100" dirty="0">
                          <a:solidFill>
                            <a:srgbClr val="111111"/>
                          </a:solidFill>
                          <a:latin typeface="Calibri"/>
                          <a:ea typeface="Calibri"/>
                          <a:cs typeface="Calibri"/>
                        </a:rPr>
                        <a:t>28.29</a:t>
                      </a:r>
                    </a:p>
                  </a:txBody>
                  <a:tcPr>
                    <a:noFill/>
                  </a:tcPr>
                </a:tc>
                <a:tc>
                  <a:txBody>
                    <a:bodyPr/>
                    <a:lstStyle/>
                    <a:p>
                      <a:pPr algn="ctr">
                        <a:buNone/>
                      </a:pPr>
                      <a:r>
                        <a:rPr lang="en-US" sz="1100" dirty="0">
                          <a:solidFill>
                            <a:srgbClr val="111111"/>
                          </a:solidFill>
                          <a:latin typeface="Calibri"/>
                          <a:ea typeface="Calibri"/>
                          <a:cs typeface="Calibri"/>
                        </a:rPr>
                        <a:t>0.9106</a:t>
                      </a:r>
                    </a:p>
                  </a:txBody>
                  <a:tcPr>
                    <a:noFill/>
                  </a:tcPr>
                </a:tc>
                <a:tc>
                  <a:txBody>
                    <a:bodyPr/>
                    <a:lstStyle/>
                    <a:p>
                      <a:pPr algn="ctr">
                        <a:buNone/>
                      </a:pPr>
                      <a:r>
                        <a:rPr lang="en-US" sz="1100" dirty="0">
                          <a:solidFill>
                            <a:srgbClr val="111111"/>
                          </a:solidFill>
                          <a:latin typeface="Calibri"/>
                          <a:ea typeface="Calibri"/>
                          <a:cs typeface="Calibri"/>
                        </a:rPr>
                        <a:t>4.08</a:t>
                      </a:r>
                    </a:p>
                  </a:txBody>
                  <a:tcPr>
                    <a:noFill/>
                  </a:tcPr>
                </a:tc>
                <a:tc>
                  <a:txBody>
                    <a:bodyPr/>
                    <a:lstStyle/>
                    <a:p>
                      <a:pPr algn="ctr">
                        <a:buNone/>
                      </a:pPr>
                      <a:r>
                        <a:rPr lang="en-US" sz="1100" dirty="0">
                          <a:solidFill>
                            <a:srgbClr val="111111"/>
                          </a:solidFill>
                          <a:latin typeface="Calibri"/>
                          <a:ea typeface="Calibri"/>
                          <a:cs typeface="Calibri"/>
                        </a:rPr>
                        <a:t>0.030</a:t>
                      </a:r>
                    </a:p>
                  </a:txBody>
                  <a:tcPr>
                    <a:noFill/>
                  </a:tcPr>
                </a:tc>
                <a:tc>
                  <a:txBody>
                    <a:bodyPr/>
                    <a:lstStyle/>
                    <a:p>
                      <a:pPr algn="ctr">
                        <a:buNone/>
                      </a:pPr>
                      <a:r>
                        <a:rPr lang="en-US" sz="1100" dirty="0">
                          <a:solidFill>
                            <a:srgbClr val="111111"/>
                          </a:solidFill>
                          <a:latin typeface="Calibri"/>
                          <a:ea typeface="Calibri"/>
                          <a:cs typeface="Calibri"/>
                        </a:rPr>
                        <a:t>8.19</a:t>
                      </a:r>
                    </a:p>
                  </a:txBody>
                  <a:tcPr>
                    <a:noFill/>
                  </a:tcPr>
                </a:tc>
                <a:extLst>
                  <a:ext uri="{0D108BD9-81ED-4DB2-BD59-A6C34878D82A}">
                    <a16:rowId xmlns:a16="http://schemas.microsoft.com/office/drawing/2014/main" val="10005"/>
                  </a:ext>
                </a:extLst>
              </a:tr>
              <a:tr h="300000">
                <a:tc>
                  <a:txBody>
                    <a:bodyPr/>
                    <a:lstStyle/>
                    <a:p>
                      <a:pPr algn="l">
                        <a:buNone/>
                      </a:pPr>
                      <a:r>
                        <a:rPr lang="en-US" sz="1100" dirty="0">
                          <a:solidFill>
                            <a:srgbClr val="111111"/>
                          </a:solidFill>
                          <a:latin typeface="Calibri"/>
                          <a:ea typeface="Calibri"/>
                          <a:cs typeface="Calibri"/>
                        </a:rPr>
                        <a:t>KAEXNet</a:t>
                      </a:r>
                    </a:p>
                  </a:txBody>
                  <a:tcPr>
                    <a:solidFill>
                      <a:srgbClr val="F8FAFC"/>
                    </a:solidFill>
                  </a:tcPr>
                </a:tc>
                <a:tc>
                  <a:txBody>
                    <a:bodyPr/>
                    <a:lstStyle/>
                    <a:p>
                      <a:pPr algn="ctr">
                        <a:buNone/>
                      </a:pPr>
                      <a:r>
                        <a:rPr lang="en-US" sz="1100" dirty="0">
                          <a:solidFill>
                            <a:srgbClr val="111111"/>
                          </a:solidFill>
                          <a:latin typeface="Calibri"/>
                          <a:ea typeface="Calibri"/>
                          <a:cs typeface="Calibri"/>
                        </a:rPr>
                        <a:t>1.73</a:t>
                      </a:r>
                    </a:p>
                  </a:txBody>
                  <a:tcPr>
                    <a:solidFill>
                      <a:srgbClr val="F8FAFC"/>
                    </a:solidFill>
                  </a:tcPr>
                </a:tc>
                <a:tc>
                  <a:txBody>
                    <a:bodyPr/>
                    <a:lstStyle/>
                    <a:p>
                      <a:pPr algn="ctr">
                        <a:buNone/>
                      </a:pPr>
                      <a:r>
                        <a:rPr lang="en-US" sz="1100" dirty="0">
                          <a:solidFill>
                            <a:srgbClr val="111111"/>
                          </a:solidFill>
                          <a:latin typeface="Calibri"/>
                          <a:ea typeface="Calibri"/>
                          <a:cs typeface="Calibri"/>
                        </a:rPr>
                        <a:t>32.43</a:t>
                      </a:r>
                    </a:p>
                  </a:txBody>
                  <a:tcPr>
                    <a:solidFill>
                      <a:srgbClr val="F8FAFC"/>
                    </a:solidFill>
                  </a:tcPr>
                </a:tc>
                <a:tc>
                  <a:txBody>
                    <a:bodyPr/>
                    <a:lstStyle/>
                    <a:p>
                      <a:pPr algn="ctr">
                        <a:buNone/>
                      </a:pPr>
                      <a:r>
                        <a:rPr lang="en-US" sz="1100" dirty="0">
                          <a:solidFill>
                            <a:srgbClr val="111111"/>
                          </a:solidFill>
                          <a:latin typeface="Calibri"/>
                          <a:ea typeface="Calibri"/>
                          <a:cs typeface="Calibri"/>
                        </a:rPr>
                        <a:t>0.9476</a:t>
                      </a:r>
                    </a:p>
                  </a:txBody>
                  <a:tcPr>
                    <a:solidFill>
                      <a:srgbClr val="F8FAFC"/>
                    </a:solidFill>
                  </a:tcPr>
                </a:tc>
                <a:tc>
                  <a:txBody>
                    <a:bodyPr/>
                    <a:lstStyle/>
                    <a:p>
                      <a:pPr algn="ctr">
                        <a:buNone/>
                      </a:pPr>
                      <a:r>
                        <a:rPr lang="en-US" sz="1100" dirty="0">
                          <a:solidFill>
                            <a:srgbClr val="111111"/>
                          </a:solidFill>
                          <a:latin typeface="Calibri"/>
                          <a:ea typeface="Calibri"/>
                          <a:cs typeface="Calibri"/>
                        </a:rPr>
                        <a:t>2.91</a:t>
                      </a:r>
                    </a:p>
                  </a:txBody>
                  <a:tcPr>
                    <a:solidFill>
                      <a:srgbClr val="F8FAFC"/>
                    </a:solidFill>
                  </a:tcPr>
                </a:tc>
                <a:tc>
                  <a:txBody>
                    <a:bodyPr/>
                    <a:lstStyle/>
                    <a:p>
                      <a:pPr algn="ctr">
                        <a:buNone/>
                      </a:pPr>
                      <a:r>
                        <a:rPr lang="en-US" sz="1100" dirty="0">
                          <a:solidFill>
                            <a:srgbClr val="111111"/>
                          </a:solidFill>
                          <a:latin typeface="Calibri"/>
                          <a:ea typeface="Calibri"/>
                          <a:cs typeface="Calibri"/>
                        </a:rPr>
                        <a:t>0.020</a:t>
                      </a:r>
                    </a:p>
                  </a:txBody>
                  <a:tcPr>
                    <a:solidFill>
                      <a:srgbClr val="F8FAFC"/>
                    </a:solidFill>
                  </a:tcPr>
                </a:tc>
                <a:tc>
                  <a:txBody>
                    <a:bodyPr/>
                    <a:lstStyle/>
                    <a:p>
                      <a:pPr algn="ctr">
                        <a:buNone/>
                      </a:pPr>
                      <a:r>
                        <a:rPr lang="en-US" sz="1100" dirty="0">
                          <a:solidFill>
                            <a:srgbClr val="111111"/>
                          </a:solidFill>
                          <a:latin typeface="Calibri"/>
                          <a:ea typeface="Calibri"/>
                          <a:cs typeface="Calibri"/>
                        </a:rPr>
                        <a:t>5.32</a:t>
                      </a:r>
                    </a:p>
                  </a:txBody>
                  <a:tcPr>
                    <a:solidFill>
                      <a:srgbClr val="F8FAFC"/>
                    </a:solidFill>
                  </a:tcPr>
                </a:tc>
                <a:extLst>
                  <a:ext uri="{0D108BD9-81ED-4DB2-BD59-A6C34878D82A}">
                    <a16:rowId xmlns:a16="http://schemas.microsoft.com/office/drawing/2014/main" val="10006"/>
                  </a:ext>
                </a:extLst>
              </a:tr>
              <a:tr h="300000">
                <a:tc>
                  <a:txBody>
                    <a:bodyPr/>
                    <a:lstStyle/>
                    <a:p>
                      <a:pPr algn="l">
                        <a:buNone/>
                      </a:pPr>
                      <a:r>
                        <a:rPr lang="en-US" sz="1100" dirty="0">
                          <a:solidFill>
                            <a:srgbClr val="111111"/>
                          </a:solidFill>
                          <a:latin typeface="Calibri"/>
                          <a:ea typeface="Calibri"/>
                          <a:cs typeface="Calibri"/>
                        </a:rPr>
                        <a:t>KAN-GAN / FBD-KAN</a:t>
                      </a:r>
                    </a:p>
                  </a:txBody>
                  <a:tcPr>
                    <a:noFill/>
                  </a:tcPr>
                </a:tc>
                <a:tc>
                  <a:txBody>
                    <a:bodyPr/>
                    <a:lstStyle/>
                    <a:p>
                      <a:pPr algn="ctr">
                        <a:buNone/>
                      </a:pPr>
                      <a:r>
                        <a:rPr lang="en-US" sz="1100" dirty="0">
                          <a:solidFill>
                            <a:srgbClr val="111111"/>
                          </a:solidFill>
                          <a:latin typeface="Calibri"/>
                          <a:ea typeface="Calibri"/>
                          <a:cs typeface="Calibri"/>
                        </a:rPr>
                        <a:t>0.44</a:t>
                      </a:r>
                    </a:p>
                  </a:txBody>
                  <a:tcPr>
                    <a:noFill/>
                  </a:tcPr>
                </a:tc>
                <a:tc>
                  <a:txBody>
                    <a:bodyPr/>
                    <a:lstStyle/>
                    <a:p>
                      <a:pPr algn="ctr">
                        <a:buNone/>
                      </a:pPr>
                      <a:r>
                        <a:rPr lang="en-US" sz="1100" dirty="0">
                          <a:solidFill>
                            <a:srgbClr val="111111"/>
                          </a:solidFill>
                          <a:latin typeface="Calibri"/>
                          <a:ea typeface="Calibri"/>
                          <a:cs typeface="Calibri"/>
                        </a:rPr>
                        <a:t>33.20</a:t>
                      </a:r>
                    </a:p>
                  </a:txBody>
                  <a:tcPr>
                    <a:noFill/>
                  </a:tcPr>
                </a:tc>
                <a:tc>
                  <a:txBody>
                    <a:bodyPr/>
                    <a:lstStyle/>
                    <a:p>
                      <a:pPr algn="ctr">
                        <a:buNone/>
                      </a:pPr>
                      <a:r>
                        <a:rPr lang="en-US" sz="1100" dirty="0">
                          <a:solidFill>
                            <a:srgbClr val="111111"/>
                          </a:solidFill>
                          <a:latin typeface="Calibri"/>
                          <a:ea typeface="Calibri"/>
                          <a:cs typeface="Calibri"/>
                        </a:rPr>
                        <a:t>0.9420</a:t>
                      </a:r>
                    </a:p>
                  </a:txBody>
                  <a:tcPr>
                    <a:noFill/>
                  </a:tcPr>
                </a:tc>
                <a:tc>
                  <a:txBody>
                    <a:bodyPr/>
                    <a:lstStyle/>
                    <a:p>
                      <a:pPr algn="ctr">
                        <a:buNone/>
                      </a:pPr>
                      <a:r>
                        <a:rPr lang="en-US" sz="1100" dirty="0">
                          <a:solidFill>
                            <a:srgbClr val="111111"/>
                          </a:solidFill>
                          <a:latin typeface="Calibri"/>
                          <a:ea typeface="Calibri"/>
                          <a:cs typeface="Calibri"/>
                        </a:rPr>
                        <a:t>3.45</a:t>
                      </a:r>
                    </a:p>
                  </a:txBody>
                  <a:tcPr>
                    <a:noFill/>
                  </a:tcPr>
                </a:tc>
                <a:tc>
                  <a:txBody>
                    <a:bodyPr/>
                    <a:lstStyle/>
                    <a:p>
                      <a:pPr algn="ctr">
                        <a:buNone/>
                      </a:pPr>
                      <a:r>
                        <a:rPr lang="en-US" sz="1100" dirty="0">
                          <a:solidFill>
                            <a:srgbClr val="111111"/>
                          </a:solidFill>
                          <a:latin typeface="Calibri"/>
                          <a:ea typeface="Calibri"/>
                          <a:cs typeface="Calibri"/>
                        </a:rPr>
                        <a:t>0.0185</a:t>
                      </a:r>
                    </a:p>
                  </a:txBody>
                  <a:tcPr>
                    <a:noFill/>
                  </a:tcPr>
                </a:tc>
                <a:tc>
                  <a:txBody>
                    <a:bodyPr/>
                    <a:lstStyle/>
                    <a:p>
                      <a:pPr algn="ctr">
                        <a:buNone/>
                      </a:pPr>
                      <a:r>
                        <a:rPr lang="en-US" sz="1100" dirty="0">
                          <a:solidFill>
                            <a:srgbClr val="111111"/>
                          </a:solidFill>
                          <a:latin typeface="Calibri"/>
                          <a:ea typeface="Calibri"/>
                          <a:cs typeface="Calibri"/>
                        </a:rPr>
                        <a:t>5.60</a:t>
                      </a:r>
                    </a:p>
                  </a:txBody>
                  <a:tcPr>
                    <a:noFill/>
                  </a:tcPr>
                </a:tc>
                <a:extLst>
                  <a:ext uri="{0D108BD9-81ED-4DB2-BD59-A6C34878D82A}">
                    <a16:rowId xmlns:a16="http://schemas.microsoft.com/office/drawing/2014/main" val="10007"/>
                  </a:ext>
                </a:extLst>
              </a:tr>
              <a:tr h="300000">
                <a:tc>
                  <a:txBody>
                    <a:bodyPr/>
                    <a:lstStyle/>
                    <a:p>
                      <a:pPr algn="l">
                        <a:buNone/>
                      </a:pPr>
                      <a:r>
                        <a:rPr lang="en-US" sz="1100" b="1" dirty="0">
                          <a:solidFill>
                            <a:srgbClr val="1D4ED8"/>
                          </a:solidFill>
                          <a:latin typeface="Calibri"/>
                          <a:ea typeface="Calibri"/>
                          <a:cs typeface="Calibri"/>
                        </a:rPr>
                        <a:t>KAN-DiffCausal (Ours)</a:t>
                      </a:r>
                    </a:p>
                  </a:txBody>
                  <a:tcPr>
                    <a:solidFill>
                      <a:srgbClr val="DBEAFE"/>
                    </a:solidFill>
                  </a:tcPr>
                </a:tc>
                <a:tc>
                  <a:txBody>
                    <a:bodyPr/>
                    <a:lstStyle/>
                    <a:p>
                      <a:pPr algn="ctr">
                        <a:buNone/>
                      </a:pPr>
                      <a:r>
                        <a:rPr lang="en-US" sz="1100" b="1" dirty="0">
                          <a:solidFill>
                            <a:srgbClr val="111111"/>
                          </a:solidFill>
                          <a:latin typeface="Calibri"/>
                          <a:ea typeface="Calibri"/>
                          <a:cs typeface="Calibri"/>
                        </a:rPr>
                        <a:t>1.44</a:t>
                      </a:r>
                    </a:p>
                  </a:txBody>
                  <a:tcPr>
                    <a:solidFill>
                      <a:srgbClr val="DBEAFE"/>
                    </a:solidFill>
                  </a:tcPr>
                </a:tc>
                <a:tc>
                  <a:txBody>
                    <a:bodyPr/>
                    <a:lstStyle/>
                    <a:p>
                      <a:pPr algn="ctr">
                        <a:buNone/>
                      </a:pPr>
                      <a:r>
                        <a:rPr lang="en-US" sz="1100" b="1" dirty="0">
                          <a:solidFill>
                            <a:srgbClr val="111111"/>
                          </a:solidFill>
                          <a:latin typeface="Calibri"/>
                          <a:ea typeface="Calibri"/>
                          <a:cs typeface="Calibri"/>
                        </a:rPr>
                        <a:t>34.04</a:t>
                      </a:r>
                    </a:p>
                  </a:txBody>
                  <a:tcPr>
                    <a:solidFill>
                      <a:srgbClr val="DBEAFE"/>
                    </a:solidFill>
                  </a:tcPr>
                </a:tc>
                <a:tc>
                  <a:txBody>
                    <a:bodyPr/>
                    <a:lstStyle/>
                    <a:p>
                      <a:pPr algn="ctr">
                        <a:buNone/>
                      </a:pPr>
                      <a:r>
                        <a:rPr lang="en-US" sz="1100" b="1" dirty="0">
                          <a:solidFill>
                            <a:srgbClr val="111111"/>
                          </a:solidFill>
                          <a:latin typeface="Calibri"/>
                          <a:ea typeface="Calibri"/>
                          <a:cs typeface="Calibri"/>
                        </a:rPr>
                        <a:t>0.9480</a:t>
                      </a:r>
                    </a:p>
                  </a:txBody>
                  <a:tcPr>
                    <a:solidFill>
                      <a:srgbClr val="DBEAFE"/>
                    </a:solidFill>
                  </a:tcPr>
                </a:tc>
                <a:tc>
                  <a:txBody>
                    <a:bodyPr/>
                    <a:lstStyle/>
                    <a:p>
                      <a:pPr algn="ctr">
                        <a:buNone/>
                      </a:pPr>
                      <a:r>
                        <a:rPr lang="en-US" sz="1100" b="1" dirty="0">
                          <a:solidFill>
                            <a:srgbClr val="111111"/>
                          </a:solidFill>
                          <a:latin typeface="Calibri"/>
                          <a:ea typeface="Calibri"/>
                          <a:cs typeface="Calibri"/>
                        </a:rPr>
                        <a:t>3.10</a:t>
                      </a:r>
                    </a:p>
                  </a:txBody>
                  <a:tcPr>
                    <a:solidFill>
                      <a:srgbClr val="DBEAFE"/>
                    </a:solidFill>
                  </a:tcPr>
                </a:tc>
                <a:tc>
                  <a:txBody>
                    <a:bodyPr/>
                    <a:lstStyle/>
                    <a:p>
                      <a:pPr algn="ctr">
                        <a:buNone/>
                      </a:pPr>
                      <a:r>
                        <a:rPr lang="en-US" sz="1100" b="1" dirty="0">
                          <a:solidFill>
                            <a:srgbClr val="111111"/>
                          </a:solidFill>
                          <a:latin typeface="Calibri"/>
                          <a:ea typeface="Calibri"/>
                          <a:cs typeface="Calibri"/>
                        </a:rPr>
                        <a:t>0.01644</a:t>
                      </a:r>
                    </a:p>
                  </a:txBody>
                  <a:tcPr>
                    <a:solidFill>
                      <a:srgbClr val="DBEAFE"/>
                    </a:solidFill>
                  </a:tcPr>
                </a:tc>
                <a:tc>
                  <a:txBody>
                    <a:bodyPr/>
                    <a:lstStyle/>
                    <a:p>
                      <a:pPr algn="ctr">
                        <a:buNone/>
                      </a:pPr>
                      <a:r>
                        <a:rPr lang="en-US" sz="1100" b="1" dirty="0">
                          <a:solidFill>
                            <a:srgbClr val="111111"/>
                          </a:solidFill>
                          <a:latin typeface="Calibri"/>
                          <a:ea typeface="Calibri"/>
                          <a:cs typeface="Calibri"/>
                        </a:rPr>
                        <a:t>5.25</a:t>
                      </a:r>
                    </a:p>
                  </a:txBody>
                  <a:tcPr>
                    <a:solidFill>
                      <a:srgbClr val="DBEAFE"/>
                    </a:solidFill>
                  </a:tcPr>
                </a:tc>
                <a:extLst>
                  <a:ext uri="{0D108BD9-81ED-4DB2-BD59-A6C34878D82A}">
                    <a16:rowId xmlns:a16="http://schemas.microsoft.com/office/drawing/2014/main" val="10008"/>
                  </a:ext>
                </a:extLst>
              </a:tr>
            </a:tbl>
          </a:graphicData>
        </a:graphic>
      </p:graphicFrame>
      <p:sp>
        <p:nvSpPr>
          <p:cNvPr id="111" name="Text 111"/>
          <p:cNvSpPr/>
          <p:nvPr/>
        </p:nvSpPr>
        <p:spPr>
          <a:xfrm>
            <a:off x="411480" y="0"/>
            <a:ext cx="8321040" cy="260000"/>
          </a:xfrm>
          <a:prstGeom prst="rect">
            <a:avLst/>
          </a:prstGeom>
          <a:noFill/>
          <a:ln/>
        </p:spPr>
        <p:txBody>
          <a:bodyPr wrap="square" lIns="0" tIns="0" rIns="0" bIns="0" rtlCol="0" anchor="ctr"/>
          <a:lstStyle/>
          <a:p>
            <a:pPr marL="0" indent="0" algn="l">
              <a:buNone/>
            </a:pPr>
            <a:r>
              <a:rPr lang="en-US" sz="1000" i="1" dirty="0">
                <a:solidFill>
                  <a:srgbClr val="64748B"/>
                </a:solidFill>
                <a:latin typeface="Calibri"/>
                <a:ea typeface="Calibri"/>
                <a:cs typeface="Calibri"/>
              </a:rPr>
              <a:t>Baseline values are representative approximations compiled under comparable settings — not a strictly controlled head-to-head re-implementation (differing patch sizes, normalization, splits).</a:t>
            </a:r>
          </a:p>
        </p:txBody>
      </p:sp>
      <p:sp>
        <p:nvSpPr>
          <p:cNvPr id="112" name="Chip 112"/>
          <p:cNvSpPr/>
          <p:nvPr/>
        </p:nvSpPr>
        <p:spPr>
          <a:xfrm>
            <a:off x="411480" y="4135000"/>
            <a:ext cx="2650000" cy="900000"/>
          </a:xfrm>
          <a:prstGeom prst="roundRect">
            <a:avLst>
              <a:gd name="adj" fmla="val 10000"/>
            </a:avLst>
          </a:prstGeom>
          <a:solidFill>
            <a:srgbClr val="FFFFFF"/>
          </a:solidFill>
          <a:ln w="19050">
            <a:solidFill>
              <a:srgbClr val="16A34A"/>
            </a:solidFill>
            <a:prstDash val="solid"/>
          </a:ln>
          <a:effectLst>
            <a:outerShdw blurRad="101600" dist="25400" dir="2700000" algn="bl" rotWithShape="0">
              <a:srgbClr val="000000">
                <a:alpha val="10000"/>
              </a:srgbClr>
            </a:outerShdw>
          </a:effectLst>
        </p:spPr>
      </p:sp>
      <p:sp>
        <p:nvSpPr>
          <p:cNvPr id="113" name="Text 113"/>
          <p:cNvSpPr/>
          <p:nvPr/>
        </p:nvSpPr>
        <p:spPr>
          <a:xfrm>
            <a:off x="411480" y="4352842"/>
            <a:ext cx="2650000" cy="0"/>
          </a:xfrm>
          <a:prstGeom prst="rect">
            <a:avLst/>
          </a:prstGeom>
          <a:noFill/>
          <a:ln/>
        </p:spPr>
        <p:txBody>
          <a:bodyPr wrap="square" lIns="0" tIns="0" rIns="0" bIns="0" rtlCol="0" anchor="ctr"/>
          <a:lstStyle/>
          <a:p>
            <a:pPr marL="0" indent="0" algn="ctr">
              <a:buNone/>
            </a:pPr>
            <a:r>
              <a:rPr lang="en-US" sz="1800" b="1" dirty="0">
                <a:solidFill>
                  <a:srgbClr val="16A34A"/>
                </a:solidFill>
                <a:latin typeface="Cambria"/>
                <a:ea typeface="Cambria"/>
                <a:cs typeface="Cambria"/>
              </a:rPr>
              <a:t>+1.6 dB</a:t>
            </a:r>
          </a:p>
        </p:txBody>
      </p:sp>
      <p:sp>
        <p:nvSpPr>
          <p:cNvPr id="114" name="Text 114"/>
          <p:cNvSpPr/>
          <p:nvPr/>
        </p:nvSpPr>
        <p:spPr>
          <a:xfrm>
            <a:off x="411480" y="0"/>
            <a:ext cx="2650000" cy="0"/>
          </a:xfrm>
          <a:prstGeom prst="rect">
            <a:avLst/>
          </a:prstGeom>
          <a:noFill/>
          <a:ln/>
        </p:spPr>
        <p:txBody>
          <a:bodyPr wrap="square" lIns="0" tIns="0" rIns="0" bIns="0" rtlCol="0" anchor="ctr"/>
          <a:lstStyle/>
          <a:p>
            <a:pPr marL="0" indent="0" algn="ctr">
              <a:buNone/>
            </a:pPr>
            <a:r>
              <a:rPr lang="en-US" sz="1000" b="1" dirty="0">
                <a:solidFill>
                  <a:srgbClr val="1A2E4A"/>
                </a:solidFill>
                <a:latin typeface="Calibri"/>
                <a:ea typeface="Calibri"/>
                <a:cs typeface="Calibri"/>
              </a:rPr>
              <a:t>PSNR vs. KAEXNet</a:t>
            </a:r>
          </a:p>
        </p:txBody>
      </p:sp>
      <p:sp>
        <p:nvSpPr>
          <p:cNvPr id="115" name="Chip 115"/>
          <p:cNvSpPr/>
          <p:nvPr/>
        </p:nvSpPr>
        <p:spPr>
          <a:xfrm>
            <a:off x="3252443" y="4135000"/>
            <a:ext cx="2650000" cy="900000"/>
          </a:xfrm>
          <a:prstGeom prst="roundRect">
            <a:avLst>
              <a:gd name="adj" fmla="val 10000"/>
            </a:avLst>
          </a:prstGeom>
          <a:solidFill>
            <a:srgbClr val="FFFFFF"/>
          </a:solidFill>
          <a:ln w="19050">
            <a:solidFill>
              <a:srgbClr val="0070C0"/>
            </a:solidFill>
            <a:prstDash val="solid"/>
          </a:ln>
          <a:effectLst>
            <a:outerShdw blurRad="101600" dist="25400" dir="2700000" algn="bl" rotWithShape="0">
              <a:srgbClr val="000000">
                <a:alpha val="10000"/>
              </a:srgbClr>
            </a:outerShdw>
          </a:effectLst>
        </p:spPr>
      </p:sp>
      <p:sp>
        <p:nvSpPr>
          <p:cNvPr id="116" name="Text 116"/>
          <p:cNvSpPr/>
          <p:nvPr/>
        </p:nvSpPr>
        <p:spPr>
          <a:xfrm>
            <a:off x="3252443" y="4358286"/>
            <a:ext cx="2650000" cy="0"/>
          </a:xfrm>
          <a:prstGeom prst="rect">
            <a:avLst/>
          </a:prstGeom>
          <a:noFill/>
          <a:ln/>
        </p:spPr>
        <p:txBody>
          <a:bodyPr wrap="square" lIns="0" tIns="0" rIns="0" bIns="0" rtlCol="0" anchor="ctr"/>
          <a:lstStyle/>
          <a:p>
            <a:pPr marL="0" indent="0" algn="ctr">
              <a:buNone/>
            </a:pPr>
            <a:r>
              <a:rPr lang="en-US" sz="1800" b="1" dirty="0">
                <a:solidFill>
                  <a:srgbClr val="0070C0"/>
                </a:solidFill>
                <a:latin typeface="Cambria"/>
                <a:ea typeface="Cambria"/>
                <a:cs typeface="Cambria"/>
              </a:rPr>
              <a:t>–18%</a:t>
            </a:r>
          </a:p>
        </p:txBody>
      </p:sp>
      <p:sp>
        <p:nvSpPr>
          <p:cNvPr id="117" name="Text 117"/>
          <p:cNvSpPr/>
          <p:nvPr/>
        </p:nvSpPr>
        <p:spPr>
          <a:xfrm>
            <a:off x="3247000" y="0"/>
            <a:ext cx="2650000" cy="0"/>
          </a:xfrm>
          <a:prstGeom prst="rect">
            <a:avLst/>
          </a:prstGeom>
          <a:noFill/>
          <a:ln/>
        </p:spPr>
        <p:txBody>
          <a:bodyPr wrap="square" lIns="0" tIns="0" rIns="0" bIns="0" rtlCol="0" anchor="ctr"/>
          <a:lstStyle/>
          <a:p>
            <a:pPr marL="0" indent="0" algn="ctr">
              <a:buNone/>
            </a:pPr>
            <a:r>
              <a:rPr lang="en-US" sz="1000" b="1" dirty="0">
                <a:solidFill>
                  <a:srgbClr val="1A2E4A"/>
                </a:solidFill>
                <a:latin typeface="Calibri"/>
                <a:ea typeface="Calibri"/>
                <a:cs typeface="Calibri"/>
              </a:rPr>
              <a:t>RMSE vs. KAEXNet</a:t>
            </a:r>
          </a:p>
        </p:txBody>
      </p:sp>
      <p:sp>
        <p:nvSpPr>
          <p:cNvPr id="118" name="Chip 118"/>
          <p:cNvSpPr/>
          <p:nvPr/>
        </p:nvSpPr>
        <p:spPr>
          <a:xfrm>
            <a:off x="6082520" y="4135000"/>
            <a:ext cx="2650000" cy="900000"/>
          </a:xfrm>
          <a:prstGeom prst="roundRect">
            <a:avLst>
              <a:gd name="adj" fmla="val 10000"/>
            </a:avLst>
          </a:prstGeom>
          <a:solidFill>
            <a:srgbClr val="FFFFFF"/>
          </a:solidFill>
          <a:ln w="19050">
            <a:solidFill>
              <a:srgbClr val="EA580C"/>
            </a:solidFill>
            <a:prstDash val="solid"/>
          </a:ln>
          <a:effectLst>
            <a:outerShdw blurRad="101600" dist="25400" dir="2700000" algn="bl" rotWithShape="0">
              <a:srgbClr val="000000">
                <a:alpha val="10000"/>
              </a:srgbClr>
            </a:outerShdw>
          </a:effectLst>
        </p:spPr>
      </p:sp>
      <p:sp>
        <p:nvSpPr>
          <p:cNvPr id="119" name="Text 119"/>
          <p:cNvSpPr/>
          <p:nvPr/>
        </p:nvSpPr>
        <p:spPr>
          <a:xfrm>
            <a:off x="6038977" y="4363728"/>
            <a:ext cx="2650000" cy="0"/>
          </a:xfrm>
          <a:prstGeom prst="rect">
            <a:avLst/>
          </a:prstGeom>
          <a:noFill/>
          <a:ln/>
        </p:spPr>
        <p:txBody>
          <a:bodyPr wrap="square" lIns="0" tIns="0" rIns="0" bIns="0" rtlCol="0" anchor="ctr"/>
          <a:lstStyle/>
          <a:p>
            <a:pPr marL="0" indent="0" algn="ctr">
              <a:buNone/>
            </a:pPr>
            <a:r>
              <a:rPr lang="en-US" sz="1800" b="1" dirty="0">
                <a:solidFill>
                  <a:srgbClr val="EA580C"/>
                </a:solidFill>
                <a:latin typeface="Cambria"/>
                <a:ea typeface="Cambria"/>
                <a:cs typeface="Cambria"/>
              </a:rPr>
              <a:t>2.91° vs 3.10°</a:t>
            </a:r>
          </a:p>
        </p:txBody>
      </p:sp>
      <p:sp>
        <p:nvSpPr>
          <p:cNvPr id="120" name="Text 120"/>
          <p:cNvSpPr/>
          <p:nvPr/>
        </p:nvSpPr>
        <p:spPr>
          <a:xfrm>
            <a:off x="6082520" y="0"/>
            <a:ext cx="2650000" cy="0"/>
          </a:xfrm>
          <a:prstGeom prst="rect">
            <a:avLst/>
          </a:prstGeom>
          <a:noFill/>
          <a:ln/>
        </p:spPr>
        <p:txBody>
          <a:bodyPr wrap="square" lIns="0" tIns="0" rIns="0" bIns="0" rtlCol="0" anchor="ctr"/>
          <a:lstStyle/>
          <a:p>
            <a:pPr marL="0" indent="0" algn="ctr">
              <a:buNone/>
            </a:pPr>
            <a:r>
              <a:rPr lang="en-US" sz="1000" b="1" dirty="0">
                <a:solidFill>
                  <a:srgbClr val="1A2E4A"/>
                </a:solidFill>
                <a:latin typeface="Calibri"/>
                <a:ea typeface="Calibri"/>
                <a:cs typeface="Calibri"/>
              </a:rPr>
              <a:t>KAEXNet still tighter on SAM</a:t>
            </a:r>
          </a:p>
        </p:txBody>
      </p:sp>
      <p:sp>
        <p:nvSpPr>
          <p:cNvPr id="4" name="TextBox 3">
            <a:extLst>
              <a:ext uri="{FF2B5EF4-FFF2-40B4-BE49-F238E27FC236}">
                <a16:creationId xmlns:a16="http://schemas.microsoft.com/office/drawing/2014/main" id="{FF8541A3-DDAA-1068-7988-FD3DA66B8C76}"/>
              </a:ext>
            </a:extLst>
          </p:cNvPr>
          <p:cNvSpPr txBox="1"/>
          <p:nvPr/>
        </p:nvSpPr>
        <p:spPr>
          <a:xfrm>
            <a:off x="459532" y="4490357"/>
            <a:ext cx="2502936" cy="461665"/>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1200" dirty="0">
                <a:ea typeface="+mn-lt"/>
                <a:cs typeface="+mn-lt"/>
              </a:rPr>
              <a:t>PSNR gain over </a:t>
            </a:r>
            <a:r>
              <a:rPr lang="en-US" sz="1200" dirty="0" err="1">
                <a:ea typeface="+mn-lt"/>
                <a:cs typeface="+mn-lt"/>
              </a:rPr>
              <a:t>KAEXNet</a:t>
            </a:r>
            <a:r>
              <a:rPr lang="en-US" sz="1200" dirty="0">
                <a:ea typeface="+mn-lt"/>
                <a:cs typeface="+mn-lt"/>
              </a:rPr>
              <a:t>, the closest explainability-focused baseline</a:t>
            </a:r>
            <a:endParaRPr lang="en-US" sz="1200" dirty="0">
              <a:ea typeface="Calibri"/>
              <a:cs typeface="Calibri"/>
            </a:endParaRPr>
          </a:p>
        </p:txBody>
      </p:sp>
      <p:sp>
        <p:nvSpPr>
          <p:cNvPr id="5" name="TextBox 4">
            <a:extLst>
              <a:ext uri="{FF2B5EF4-FFF2-40B4-BE49-F238E27FC236}">
                <a16:creationId xmlns:a16="http://schemas.microsoft.com/office/drawing/2014/main" id="{3E2826B7-B3BF-0094-FA39-90BC7F18B3ED}"/>
              </a:ext>
            </a:extLst>
          </p:cNvPr>
          <p:cNvSpPr txBox="1"/>
          <p:nvPr/>
        </p:nvSpPr>
        <p:spPr>
          <a:xfrm>
            <a:off x="3253273" y="4442149"/>
            <a:ext cx="2676330" cy="1021105"/>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1200" dirty="0">
                <a:ea typeface="+mn-lt"/>
                <a:cs typeface="+mn-lt"/>
              </a:rPr>
              <a:t>RMSE reduction vs. </a:t>
            </a:r>
            <a:r>
              <a:rPr lang="en-US" sz="1200" dirty="0" err="1">
                <a:ea typeface="+mn-lt"/>
                <a:cs typeface="+mn-lt"/>
              </a:rPr>
              <a:t>KAEXNet</a:t>
            </a:r>
            <a:r>
              <a:rPr lang="en-US" sz="1200" dirty="0">
                <a:ea typeface="+mn-lt"/>
                <a:cs typeface="+mn-lt"/>
              </a:rPr>
              <a:t>, reflecting the benefit of iterative diffusion refinement</a:t>
            </a:r>
            <a:endParaRPr lang="en-US" sz="1200" dirty="0">
              <a:ea typeface="Calibri"/>
              <a:cs typeface="Calibri"/>
            </a:endParaRPr>
          </a:p>
          <a:p>
            <a:pPr marL="285750" indent="-285750">
              <a:buFont typeface="Arial"/>
              <a:buChar char="•"/>
            </a:pPr>
            <a:endParaRPr lang="en-US" sz="1200" dirty="0">
              <a:ea typeface="Calibri"/>
              <a:cs typeface="Calibri"/>
            </a:endParaRPr>
          </a:p>
          <a:p>
            <a:pPr algn="l"/>
            <a:endParaRPr lang="en-US" sz="1200" dirty="0">
              <a:ea typeface="Calibri"/>
              <a:cs typeface="Calibri"/>
            </a:endParaRPr>
          </a:p>
        </p:txBody>
      </p:sp>
      <p:sp>
        <p:nvSpPr>
          <p:cNvPr id="6" name="TextBox 5">
            <a:extLst>
              <a:ext uri="{FF2B5EF4-FFF2-40B4-BE49-F238E27FC236}">
                <a16:creationId xmlns:a16="http://schemas.microsoft.com/office/drawing/2014/main" id="{B831197D-CF22-0DBC-0566-4134B0FF5D46}"/>
              </a:ext>
            </a:extLst>
          </p:cNvPr>
          <p:cNvSpPr txBox="1"/>
          <p:nvPr/>
        </p:nvSpPr>
        <p:spPr>
          <a:xfrm>
            <a:off x="6210299" y="4397829"/>
            <a:ext cx="2519264" cy="640888"/>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1200" dirty="0">
                <a:ea typeface="+mn-lt"/>
                <a:cs typeface="+mn-lt"/>
              </a:rPr>
              <a:t>The one metric where </a:t>
            </a:r>
            <a:r>
              <a:rPr lang="en-US" sz="1200" dirty="0" err="1">
                <a:ea typeface="+mn-lt"/>
                <a:cs typeface="+mn-lt"/>
              </a:rPr>
              <a:t>KAEXNet's</a:t>
            </a:r>
            <a:r>
              <a:rPr lang="en-US" sz="1200" dirty="0">
                <a:ea typeface="+mn-lt"/>
                <a:cs typeface="+mn-lt"/>
              </a:rPr>
              <a:t> explicit band supervision still edges out KAN-</a:t>
            </a:r>
            <a:r>
              <a:rPr lang="en-US" sz="1200" dirty="0" err="1">
                <a:ea typeface="+mn-lt"/>
                <a:cs typeface="+mn-lt"/>
              </a:rPr>
              <a:t>DiffCausal</a:t>
            </a:r>
            <a:endParaRPr lang="en-US" sz="1200" dirty="0" err="1">
              <a:ea typeface="Calibri"/>
              <a:cs typeface="Calibri"/>
            </a:endParaRP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4">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9144000" cy="594360"/>
          </a:xfrm>
          <a:prstGeom prst="rect">
            <a:avLst/>
          </a:prstGeom>
          <a:solidFill>
            <a:srgbClr val="1A2E4A"/>
          </a:solidFill>
          <a:ln w="12700">
            <a:solidFill>
              <a:srgbClr val="1A2E4A"/>
            </a:solidFill>
            <a:prstDash val="solid"/>
          </a:ln>
        </p:spPr>
      </p:sp>
      <p:sp>
        <p:nvSpPr>
          <p:cNvPr id="3" name="Text 1"/>
          <p:cNvSpPr/>
          <p:nvPr/>
        </p:nvSpPr>
        <p:spPr>
          <a:xfrm>
            <a:off x="457200" y="45720"/>
            <a:ext cx="8229600" cy="502920"/>
          </a:xfrm>
          <a:prstGeom prst="rect">
            <a:avLst/>
          </a:prstGeom>
          <a:noFill/>
          <a:ln/>
        </p:spPr>
        <p:txBody>
          <a:bodyPr wrap="square" lIns="0" tIns="0" rIns="0" bIns="0" rtlCol="0" anchor="ctr"/>
          <a:lstStyle/>
          <a:p>
            <a:pPr marL="0" indent="0" algn="l">
              <a:buNone/>
            </a:pPr>
            <a:r>
              <a:rPr lang="en-US" sz="2600" b="1" dirty="0">
                <a:solidFill>
                  <a:srgbClr val="FFFFFF"/>
                </a:solidFill>
                <a:latin typeface="Cambria" pitchFamily="34" charset="0"/>
                <a:ea typeface="Cambria" pitchFamily="34" charset="-122"/>
                <a:cs typeface="Cambria" pitchFamily="34" charset="-120"/>
              </a:rPr>
              <a:t>Ablation Study — Isolating Each Component</a:t>
            </a:r>
            <a:endParaRPr lang="en-US" sz="2600" dirty="0"/>
          </a:p>
        </p:txBody>
      </p:sp>
      <p:sp>
        <p:nvSpPr>
          <p:cNvPr id="121" name="Text 121"/>
          <p:cNvSpPr/>
          <p:nvPr/>
        </p:nvSpPr>
        <p:spPr>
          <a:xfrm>
            <a:off x="411480" y="640000"/>
            <a:ext cx="8321040" cy="280000"/>
          </a:xfrm>
          <a:prstGeom prst="rect">
            <a:avLst/>
          </a:prstGeom>
          <a:noFill/>
          <a:ln/>
        </p:spPr>
        <p:txBody>
          <a:bodyPr wrap="square" lIns="0" tIns="0" rIns="0" bIns="0" rtlCol="0" anchor="ctr"/>
          <a:lstStyle/>
          <a:p>
            <a:pPr marL="0" indent="0" algn="l">
              <a:buNone/>
            </a:pPr>
            <a:r>
              <a:rPr lang="en-US" sz="1200" i="1" dirty="0">
                <a:solidFill>
                  <a:srgbClr val="475569"/>
                </a:solidFill>
                <a:latin typeface="Calibri"/>
                <a:ea typeface="Calibri"/>
                <a:cs typeface="Calibri"/>
              </a:rPr>
              <a:t>One component removed or replaced at a time; all other settings (incl. training schedule) unchanged</a:t>
            </a:r>
          </a:p>
        </p:txBody>
      </p:sp>
      <p:graphicFrame>
        <p:nvGraphicFramePr>
          <p:cNvPr id="122" name="Table 122"/>
          <p:cNvGraphicFramePr>
            <a:graphicFrameLocks noGrp="1"/>
          </p:cNvGraphicFramePr>
          <p:nvPr/>
        </p:nvGraphicFramePr>
        <p:xfrm>
          <a:off x="411480" y="950000"/>
          <a:ext cx="8321040" cy="2256000"/>
        </p:xfrm>
        <a:graphic>
          <a:graphicData uri="http://schemas.openxmlformats.org/drawingml/2006/table">
            <a:tbl>
              <a:tblPr firstRow="1">
                <a:tableStyleId>{5940675A-B579-460E-94D1-54222C63F5DA}</a:tableStyleId>
              </a:tblPr>
              <a:tblGrid>
                <a:gridCol w="2600000">
                  <a:extLst>
                    <a:ext uri="{9D8B030D-6E8A-4147-A177-3AD203B41FA5}">
                      <a16:colId xmlns:a16="http://schemas.microsoft.com/office/drawing/2014/main" val="20000"/>
                    </a:ext>
                  </a:extLst>
                </a:gridCol>
                <a:gridCol w="950000">
                  <a:extLst>
                    <a:ext uri="{9D8B030D-6E8A-4147-A177-3AD203B41FA5}">
                      <a16:colId xmlns:a16="http://schemas.microsoft.com/office/drawing/2014/main" val="20001"/>
                    </a:ext>
                  </a:extLst>
                </a:gridCol>
                <a:gridCol w="950000">
                  <a:extLst>
                    <a:ext uri="{9D8B030D-6E8A-4147-A177-3AD203B41FA5}">
                      <a16:colId xmlns:a16="http://schemas.microsoft.com/office/drawing/2014/main" val="20002"/>
                    </a:ext>
                  </a:extLst>
                </a:gridCol>
                <a:gridCol w="900000">
                  <a:extLst>
                    <a:ext uri="{9D8B030D-6E8A-4147-A177-3AD203B41FA5}">
                      <a16:colId xmlns:a16="http://schemas.microsoft.com/office/drawing/2014/main" val="20003"/>
                    </a:ext>
                  </a:extLst>
                </a:gridCol>
                <a:gridCol w="1000000">
                  <a:extLst>
                    <a:ext uri="{9D8B030D-6E8A-4147-A177-3AD203B41FA5}">
                      <a16:colId xmlns:a16="http://schemas.microsoft.com/office/drawing/2014/main" val="20004"/>
                    </a:ext>
                  </a:extLst>
                </a:gridCol>
                <a:gridCol w="1000000">
                  <a:extLst>
                    <a:ext uri="{9D8B030D-6E8A-4147-A177-3AD203B41FA5}">
                      <a16:colId xmlns:a16="http://schemas.microsoft.com/office/drawing/2014/main" val="20005"/>
                    </a:ext>
                  </a:extLst>
                </a:gridCol>
                <a:gridCol w="921040">
                  <a:extLst>
                    <a:ext uri="{9D8B030D-6E8A-4147-A177-3AD203B41FA5}">
                      <a16:colId xmlns:a16="http://schemas.microsoft.com/office/drawing/2014/main" val="20006"/>
                    </a:ext>
                  </a:extLst>
                </a:gridCol>
              </a:tblGrid>
              <a:tr h="336000">
                <a:tc>
                  <a:txBody>
                    <a:bodyPr/>
                    <a:lstStyle/>
                    <a:p>
                      <a:pPr algn="l">
                        <a:buNone/>
                      </a:pPr>
                      <a:r>
                        <a:rPr lang="en-US" sz="1100" b="1" dirty="0">
                          <a:solidFill>
                            <a:srgbClr val="FFFFFF"/>
                          </a:solidFill>
                          <a:latin typeface="Calibri"/>
                          <a:ea typeface="Calibri"/>
                          <a:cs typeface="Calibri"/>
                        </a:rPr>
                        <a:t>Configuration</a:t>
                      </a:r>
                    </a:p>
                  </a:txBody>
                  <a:tcPr>
                    <a:solidFill>
                      <a:srgbClr val="1A2E4A"/>
                    </a:solidFill>
                  </a:tcPr>
                </a:tc>
                <a:tc>
                  <a:txBody>
                    <a:bodyPr/>
                    <a:lstStyle/>
                    <a:p>
                      <a:pPr algn="ctr">
                        <a:buNone/>
                      </a:pPr>
                      <a:r>
                        <a:rPr lang="en-US" sz="1100" b="1" dirty="0">
                          <a:solidFill>
                            <a:srgbClr val="FFFFFF"/>
                          </a:solidFill>
                          <a:latin typeface="Calibri"/>
                          <a:ea typeface="Calibri"/>
                          <a:cs typeface="Calibri"/>
                        </a:rPr>
                        <a:t>PSNR</a:t>
                      </a:r>
                    </a:p>
                  </a:txBody>
                  <a:tcPr>
                    <a:solidFill>
                      <a:srgbClr val="1A2E4A"/>
                    </a:solidFill>
                  </a:tcPr>
                </a:tc>
                <a:tc>
                  <a:txBody>
                    <a:bodyPr/>
                    <a:lstStyle/>
                    <a:p>
                      <a:pPr algn="ctr">
                        <a:buNone/>
                      </a:pPr>
                      <a:r>
                        <a:rPr lang="en-US" sz="1100" b="1" dirty="0">
                          <a:solidFill>
                            <a:srgbClr val="FFFFFF"/>
                          </a:solidFill>
                          <a:latin typeface="Calibri"/>
                          <a:ea typeface="Calibri"/>
                          <a:cs typeface="Calibri"/>
                        </a:rPr>
                        <a:t>SSIM</a:t>
                      </a:r>
                    </a:p>
                  </a:txBody>
                  <a:tcPr>
                    <a:solidFill>
                      <a:srgbClr val="1A2E4A"/>
                    </a:solidFill>
                  </a:tcPr>
                </a:tc>
                <a:tc>
                  <a:txBody>
                    <a:bodyPr/>
                    <a:lstStyle/>
                    <a:p>
                      <a:pPr algn="ctr">
                        <a:buNone/>
                      </a:pPr>
                      <a:r>
                        <a:rPr lang="en-US" sz="1100" b="1" dirty="0">
                          <a:solidFill>
                            <a:srgbClr val="FFFFFF"/>
                          </a:solidFill>
                          <a:latin typeface="Calibri"/>
                          <a:ea typeface="Calibri"/>
                          <a:cs typeface="Calibri"/>
                        </a:rPr>
                        <a:t>SAM (°)</a:t>
                      </a:r>
                    </a:p>
                  </a:txBody>
                  <a:tcPr>
                    <a:solidFill>
                      <a:srgbClr val="1A2E4A"/>
                    </a:solidFill>
                  </a:tcPr>
                </a:tc>
                <a:tc>
                  <a:txBody>
                    <a:bodyPr/>
                    <a:lstStyle/>
                    <a:p>
                      <a:pPr algn="ctr">
                        <a:buNone/>
                      </a:pPr>
                      <a:r>
                        <a:rPr lang="en-US" sz="1100" b="1" dirty="0">
                          <a:solidFill>
                            <a:srgbClr val="FFFFFF"/>
                          </a:solidFill>
                          <a:latin typeface="Calibri"/>
                          <a:ea typeface="Calibri"/>
                          <a:cs typeface="Calibri"/>
                        </a:rPr>
                        <a:t>RMSE</a:t>
                      </a:r>
                    </a:p>
                  </a:txBody>
                  <a:tcPr>
                    <a:solidFill>
                      <a:srgbClr val="1A2E4A"/>
                    </a:solidFill>
                  </a:tcPr>
                </a:tc>
                <a:tc>
                  <a:txBody>
                    <a:bodyPr/>
                    <a:lstStyle/>
                    <a:p>
                      <a:pPr algn="ctr">
                        <a:buNone/>
                      </a:pPr>
                      <a:r>
                        <a:rPr lang="en-US" sz="1100" b="1" dirty="0">
                          <a:solidFill>
                            <a:srgbClr val="FFFFFF"/>
                          </a:solidFill>
                          <a:latin typeface="Calibri"/>
                          <a:ea typeface="Calibri"/>
                          <a:cs typeface="Calibri"/>
                        </a:rPr>
                        <a:t>Faithfulness</a:t>
                      </a:r>
                    </a:p>
                  </a:txBody>
                  <a:tcPr>
                    <a:solidFill>
                      <a:srgbClr val="1A2E4A"/>
                    </a:solidFill>
                  </a:tcPr>
                </a:tc>
                <a:tc>
                  <a:txBody>
                    <a:bodyPr/>
                    <a:lstStyle/>
                    <a:p>
                      <a:pPr algn="ctr">
                        <a:buNone/>
                      </a:pPr>
                      <a:r>
                        <a:rPr lang="en-US" sz="1100" b="1" dirty="0">
                          <a:solidFill>
                            <a:srgbClr val="FFFFFF"/>
                          </a:solidFill>
                          <a:latin typeface="Calibri"/>
                          <a:ea typeface="Calibri"/>
                          <a:cs typeface="Calibri"/>
                        </a:rPr>
                        <a:t>Params (M)</a:t>
                      </a:r>
                    </a:p>
                  </a:txBody>
                  <a:tcPr>
                    <a:solidFill>
                      <a:srgbClr val="1A2E4A"/>
                    </a:solidFill>
                  </a:tcPr>
                </a:tc>
                <a:extLst>
                  <a:ext uri="{0D108BD9-81ED-4DB2-BD59-A6C34878D82A}">
                    <a16:rowId xmlns:a16="http://schemas.microsoft.com/office/drawing/2014/main" val="10000"/>
                  </a:ext>
                </a:extLst>
              </a:tr>
              <a:tr h="320000">
                <a:tc>
                  <a:txBody>
                    <a:bodyPr/>
                    <a:lstStyle/>
                    <a:p>
                      <a:pPr algn="l">
                        <a:buNone/>
                      </a:pPr>
                      <a:r>
                        <a:rPr lang="en-US" sz="1100" b="1" dirty="0">
                          <a:solidFill>
                            <a:srgbClr val="1D4ED8"/>
                          </a:solidFill>
                          <a:latin typeface="Calibri"/>
                          <a:ea typeface="Calibri"/>
                          <a:cs typeface="Calibri"/>
                        </a:rPr>
                        <a:t>Full model (KAN-DiffCausal)</a:t>
                      </a:r>
                    </a:p>
                  </a:txBody>
                  <a:tcPr>
                    <a:solidFill>
                      <a:srgbClr val="DBEAFE"/>
                    </a:solidFill>
                  </a:tcPr>
                </a:tc>
                <a:tc>
                  <a:txBody>
                    <a:bodyPr/>
                    <a:lstStyle/>
                    <a:p>
                      <a:pPr algn="ctr">
                        <a:buNone/>
                      </a:pPr>
                      <a:r>
                        <a:rPr lang="en-US" sz="1100" b="1" dirty="0">
                          <a:solidFill>
                            <a:srgbClr val="111111"/>
                          </a:solidFill>
                          <a:latin typeface="Calibri"/>
                          <a:ea typeface="Calibri"/>
                          <a:cs typeface="Calibri"/>
                        </a:rPr>
                        <a:t>34.04</a:t>
                      </a:r>
                    </a:p>
                  </a:txBody>
                  <a:tcPr>
                    <a:solidFill>
                      <a:srgbClr val="DBEAFE"/>
                    </a:solidFill>
                  </a:tcPr>
                </a:tc>
                <a:tc>
                  <a:txBody>
                    <a:bodyPr/>
                    <a:lstStyle/>
                    <a:p>
                      <a:pPr algn="ctr">
                        <a:buNone/>
                      </a:pPr>
                      <a:r>
                        <a:rPr lang="en-US" sz="1100" b="1" dirty="0">
                          <a:solidFill>
                            <a:srgbClr val="111111"/>
                          </a:solidFill>
                          <a:latin typeface="Calibri"/>
                          <a:ea typeface="Calibri"/>
                          <a:cs typeface="Calibri"/>
                        </a:rPr>
                        <a:t>0.9480</a:t>
                      </a:r>
                    </a:p>
                  </a:txBody>
                  <a:tcPr>
                    <a:solidFill>
                      <a:srgbClr val="DBEAFE"/>
                    </a:solidFill>
                  </a:tcPr>
                </a:tc>
                <a:tc>
                  <a:txBody>
                    <a:bodyPr/>
                    <a:lstStyle/>
                    <a:p>
                      <a:pPr algn="ctr">
                        <a:buNone/>
                      </a:pPr>
                      <a:r>
                        <a:rPr lang="en-US" sz="1100" b="1" dirty="0">
                          <a:solidFill>
                            <a:srgbClr val="111111"/>
                          </a:solidFill>
                          <a:latin typeface="Calibri"/>
                          <a:ea typeface="Calibri"/>
                          <a:cs typeface="Calibri"/>
                        </a:rPr>
                        <a:t>3.10</a:t>
                      </a:r>
                    </a:p>
                  </a:txBody>
                  <a:tcPr>
                    <a:solidFill>
                      <a:srgbClr val="DBEAFE"/>
                    </a:solidFill>
                  </a:tcPr>
                </a:tc>
                <a:tc>
                  <a:txBody>
                    <a:bodyPr/>
                    <a:lstStyle/>
                    <a:p>
                      <a:pPr algn="ctr">
                        <a:buNone/>
                      </a:pPr>
                      <a:r>
                        <a:rPr lang="en-US" sz="1100" b="1" dirty="0">
                          <a:solidFill>
                            <a:srgbClr val="111111"/>
                          </a:solidFill>
                          <a:latin typeface="Calibri"/>
                          <a:ea typeface="Calibri"/>
                          <a:cs typeface="Calibri"/>
                        </a:rPr>
                        <a:t>0.01644</a:t>
                      </a:r>
                    </a:p>
                  </a:txBody>
                  <a:tcPr>
                    <a:solidFill>
                      <a:srgbClr val="DBEAFE"/>
                    </a:solidFill>
                  </a:tcPr>
                </a:tc>
                <a:tc>
                  <a:txBody>
                    <a:bodyPr/>
                    <a:lstStyle/>
                    <a:p>
                      <a:pPr algn="ctr">
                        <a:buNone/>
                      </a:pPr>
                      <a:r>
                        <a:rPr lang="en-US" sz="1100" b="1" dirty="0">
                          <a:solidFill>
                            <a:srgbClr val="111111"/>
                          </a:solidFill>
                          <a:latin typeface="Calibri"/>
                          <a:ea typeface="Calibri"/>
                          <a:cs typeface="Calibri"/>
                        </a:rPr>
                        <a:t>9.20</a:t>
                      </a:r>
                    </a:p>
                  </a:txBody>
                  <a:tcPr>
                    <a:solidFill>
                      <a:srgbClr val="DBEAFE"/>
                    </a:solidFill>
                  </a:tcPr>
                </a:tc>
                <a:tc>
                  <a:txBody>
                    <a:bodyPr/>
                    <a:lstStyle/>
                    <a:p>
                      <a:pPr algn="ctr">
                        <a:buNone/>
                      </a:pPr>
                      <a:r>
                        <a:rPr lang="en-US" sz="1100" b="1" dirty="0">
                          <a:solidFill>
                            <a:srgbClr val="111111"/>
                          </a:solidFill>
                          <a:latin typeface="Calibri"/>
                          <a:ea typeface="Calibri"/>
                          <a:cs typeface="Calibri"/>
                        </a:rPr>
                        <a:t>1.44</a:t>
                      </a:r>
                    </a:p>
                  </a:txBody>
                  <a:tcPr>
                    <a:solidFill>
                      <a:srgbClr val="DBEAFE"/>
                    </a:solidFill>
                  </a:tcPr>
                </a:tc>
                <a:extLst>
                  <a:ext uri="{0D108BD9-81ED-4DB2-BD59-A6C34878D82A}">
                    <a16:rowId xmlns:a16="http://schemas.microsoft.com/office/drawing/2014/main" val="10001"/>
                  </a:ext>
                </a:extLst>
              </a:tr>
              <a:tr h="320000">
                <a:tc>
                  <a:txBody>
                    <a:bodyPr/>
                    <a:lstStyle/>
                    <a:p>
                      <a:pPr algn="l">
                        <a:buNone/>
                      </a:pPr>
                      <a:r>
                        <a:rPr lang="en-US" sz="1100" dirty="0">
                          <a:solidFill>
                            <a:srgbClr val="111111"/>
                          </a:solidFill>
                          <a:latin typeface="Calibri"/>
                          <a:ea typeface="Calibri"/>
                          <a:cs typeface="Calibri"/>
                        </a:rPr>
                        <a:t>w/o adaptive rank (fixed rank 32)</a:t>
                      </a:r>
                    </a:p>
                  </a:txBody>
                  <a:tcPr>
                    <a:solidFill>
                      <a:srgbClr val="F8FAFC"/>
                    </a:solidFill>
                  </a:tcPr>
                </a:tc>
                <a:tc>
                  <a:txBody>
                    <a:bodyPr/>
                    <a:lstStyle/>
                    <a:p>
                      <a:pPr algn="ctr">
                        <a:buNone/>
                      </a:pPr>
                      <a:r>
                        <a:rPr lang="en-US" sz="1100" dirty="0">
                          <a:solidFill>
                            <a:srgbClr val="111111"/>
                          </a:solidFill>
                          <a:latin typeface="Calibri"/>
                          <a:ea typeface="Calibri"/>
                          <a:cs typeface="Calibri"/>
                        </a:rPr>
                        <a:t>33.10</a:t>
                      </a:r>
                    </a:p>
                  </a:txBody>
                  <a:tcPr>
                    <a:solidFill>
                      <a:srgbClr val="F8FAFC"/>
                    </a:solidFill>
                  </a:tcPr>
                </a:tc>
                <a:tc>
                  <a:txBody>
                    <a:bodyPr/>
                    <a:lstStyle/>
                    <a:p>
                      <a:pPr algn="ctr">
                        <a:buNone/>
                      </a:pPr>
                      <a:r>
                        <a:rPr lang="en-US" sz="1100" dirty="0">
                          <a:solidFill>
                            <a:srgbClr val="111111"/>
                          </a:solidFill>
                          <a:latin typeface="Calibri"/>
                          <a:ea typeface="Calibri"/>
                          <a:cs typeface="Calibri"/>
                        </a:rPr>
                        <a:t>0.9380</a:t>
                      </a:r>
                    </a:p>
                  </a:txBody>
                  <a:tcPr>
                    <a:solidFill>
                      <a:srgbClr val="F8FAFC"/>
                    </a:solidFill>
                  </a:tcPr>
                </a:tc>
                <a:tc>
                  <a:txBody>
                    <a:bodyPr/>
                    <a:lstStyle/>
                    <a:p>
                      <a:pPr algn="ctr">
                        <a:buNone/>
                      </a:pPr>
                      <a:r>
                        <a:rPr lang="en-US" sz="1100" dirty="0">
                          <a:solidFill>
                            <a:srgbClr val="111111"/>
                          </a:solidFill>
                          <a:latin typeface="Calibri"/>
                          <a:ea typeface="Calibri"/>
                          <a:cs typeface="Calibri"/>
                        </a:rPr>
                        <a:t>3.35</a:t>
                      </a:r>
                    </a:p>
                  </a:txBody>
                  <a:tcPr>
                    <a:solidFill>
                      <a:srgbClr val="F8FAFC"/>
                    </a:solidFill>
                  </a:tcPr>
                </a:tc>
                <a:tc>
                  <a:txBody>
                    <a:bodyPr/>
                    <a:lstStyle/>
                    <a:p>
                      <a:pPr algn="ctr">
                        <a:buNone/>
                      </a:pPr>
                      <a:r>
                        <a:rPr lang="en-US" sz="1100" dirty="0">
                          <a:solidFill>
                            <a:srgbClr val="111111"/>
                          </a:solidFill>
                          <a:latin typeface="Calibri"/>
                          <a:ea typeface="Calibri"/>
                          <a:cs typeface="Calibri"/>
                        </a:rPr>
                        <a:t>0.01820</a:t>
                      </a:r>
                    </a:p>
                  </a:txBody>
                  <a:tcPr>
                    <a:solidFill>
                      <a:srgbClr val="F8FAFC"/>
                    </a:solidFill>
                  </a:tcPr>
                </a:tc>
                <a:tc>
                  <a:txBody>
                    <a:bodyPr/>
                    <a:lstStyle/>
                    <a:p>
                      <a:pPr algn="ctr">
                        <a:buNone/>
                      </a:pPr>
                      <a:r>
                        <a:rPr lang="en-US" sz="1100" dirty="0">
                          <a:solidFill>
                            <a:srgbClr val="111111"/>
                          </a:solidFill>
                          <a:latin typeface="Calibri"/>
                          <a:ea typeface="Calibri"/>
                          <a:cs typeface="Calibri"/>
                        </a:rPr>
                        <a:t>8.60</a:t>
                      </a:r>
                    </a:p>
                  </a:txBody>
                  <a:tcPr>
                    <a:solidFill>
                      <a:srgbClr val="F8FAFC"/>
                    </a:solidFill>
                  </a:tcPr>
                </a:tc>
                <a:tc>
                  <a:txBody>
                    <a:bodyPr/>
                    <a:lstStyle/>
                    <a:p>
                      <a:pPr algn="ctr">
                        <a:buNone/>
                      </a:pPr>
                      <a:r>
                        <a:rPr lang="en-US" sz="1100" dirty="0">
                          <a:solidFill>
                            <a:srgbClr val="111111"/>
                          </a:solidFill>
                          <a:latin typeface="Calibri"/>
                          <a:ea typeface="Calibri"/>
                          <a:cs typeface="Calibri"/>
                        </a:rPr>
                        <a:t>1.40</a:t>
                      </a:r>
                    </a:p>
                  </a:txBody>
                  <a:tcPr>
                    <a:solidFill>
                      <a:srgbClr val="F8FAFC"/>
                    </a:solidFill>
                  </a:tcPr>
                </a:tc>
                <a:extLst>
                  <a:ext uri="{0D108BD9-81ED-4DB2-BD59-A6C34878D82A}">
                    <a16:rowId xmlns:a16="http://schemas.microsoft.com/office/drawing/2014/main" val="10002"/>
                  </a:ext>
                </a:extLst>
              </a:tr>
              <a:tr h="320000">
                <a:tc>
                  <a:txBody>
                    <a:bodyPr/>
                    <a:lstStyle/>
                    <a:p>
                      <a:pPr algn="l">
                        <a:buNone/>
                      </a:pPr>
                      <a:r>
                        <a:rPr lang="en-US" sz="1100" dirty="0">
                          <a:solidFill>
                            <a:srgbClr val="111111"/>
                          </a:solidFill>
                          <a:latin typeface="Calibri"/>
                          <a:ea typeface="Calibri"/>
                          <a:cs typeface="Calibri"/>
                        </a:rPr>
                        <a:t>w/o learnable upsampling (bilinear)</a:t>
                      </a:r>
                    </a:p>
                  </a:txBody>
                  <a:tcPr>
                    <a:noFill/>
                  </a:tcPr>
                </a:tc>
                <a:tc>
                  <a:txBody>
                    <a:bodyPr/>
                    <a:lstStyle/>
                    <a:p>
                      <a:pPr algn="ctr">
                        <a:buNone/>
                      </a:pPr>
                      <a:r>
                        <a:rPr lang="en-US" sz="1100" dirty="0">
                          <a:solidFill>
                            <a:srgbClr val="111111"/>
                          </a:solidFill>
                          <a:latin typeface="Calibri"/>
                          <a:ea typeface="Calibri"/>
                          <a:cs typeface="Calibri"/>
                        </a:rPr>
                        <a:t>31.70</a:t>
                      </a:r>
                    </a:p>
                  </a:txBody>
                  <a:tcPr>
                    <a:noFill/>
                  </a:tcPr>
                </a:tc>
                <a:tc>
                  <a:txBody>
                    <a:bodyPr/>
                    <a:lstStyle/>
                    <a:p>
                      <a:pPr algn="ctr">
                        <a:buNone/>
                      </a:pPr>
                      <a:r>
                        <a:rPr lang="en-US" sz="1100" dirty="0">
                          <a:solidFill>
                            <a:srgbClr val="111111"/>
                          </a:solidFill>
                          <a:latin typeface="Calibri"/>
                          <a:ea typeface="Calibri"/>
                          <a:cs typeface="Calibri"/>
                        </a:rPr>
                        <a:t>0.9210</a:t>
                      </a:r>
                    </a:p>
                  </a:txBody>
                  <a:tcPr>
                    <a:noFill/>
                  </a:tcPr>
                </a:tc>
                <a:tc>
                  <a:txBody>
                    <a:bodyPr/>
                    <a:lstStyle/>
                    <a:p>
                      <a:pPr algn="ctr">
                        <a:buNone/>
                      </a:pPr>
                      <a:r>
                        <a:rPr lang="en-US" sz="1100" dirty="0">
                          <a:solidFill>
                            <a:srgbClr val="111111"/>
                          </a:solidFill>
                          <a:latin typeface="Calibri"/>
                          <a:ea typeface="Calibri"/>
                          <a:cs typeface="Calibri"/>
                        </a:rPr>
                        <a:t>3.85</a:t>
                      </a:r>
                    </a:p>
                  </a:txBody>
                  <a:tcPr>
                    <a:noFill/>
                  </a:tcPr>
                </a:tc>
                <a:tc>
                  <a:txBody>
                    <a:bodyPr/>
                    <a:lstStyle/>
                    <a:p>
                      <a:pPr algn="ctr">
                        <a:buNone/>
                      </a:pPr>
                      <a:r>
                        <a:rPr lang="en-US" sz="1100" dirty="0">
                          <a:solidFill>
                            <a:srgbClr val="111111"/>
                          </a:solidFill>
                          <a:latin typeface="Calibri"/>
                          <a:ea typeface="Calibri"/>
                          <a:cs typeface="Calibri"/>
                        </a:rPr>
                        <a:t>0.02150</a:t>
                      </a:r>
                    </a:p>
                  </a:txBody>
                  <a:tcPr>
                    <a:noFill/>
                  </a:tcPr>
                </a:tc>
                <a:tc>
                  <a:txBody>
                    <a:bodyPr/>
                    <a:lstStyle/>
                    <a:p>
                      <a:pPr algn="ctr">
                        <a:buNone/>
                      </a:pPr>
                      <a:r>
                        <a:rPr lang="en-US" sz="1100" dirty="0">
                          <a:solidFill>
                            <a:srgbClr val="111111"/>
                          </a:solidFill>
                          <a:latin typeface="Calibri"/>
                          <a:ea typeface="Calibri"/>
                          <a:cs typeface="Calibri"/>
                        </a:rPr>
                        <a:t>8.10</a:t>
                      </a:r>
                    </a:p>
                  </a:txBody>
                  <a:tcPr>
                    <a:noFill/>
                  </a:tcPr>
                </a:tc>
                <a:tc>
                  <a:txBody>
                    <a:bodyPr/>
                    <a:lstStyle/>
                    <a:p>
                      <a:pPr algn="ctr">
                        <a:buNone/>
                      </a:pPr>
                      <a:r>
                        <a:rPr lang="en-US" sz="1100" dirty="0">
                          <a:solidFill>
                            <a:srgbClr val="111111"/>
                          </a:solidFill>
                          <a:latin typeface="Calibri"/>
                          <a:ea typeface="Calibri"/>
                          <a:cs typeface="Calibri"/>
                        </a:rPr>
                        <a:t>1.35</a:t>
                      </a:r>
                    </a:p>
                  </a:txBody>
                  <a:tcPr>
                    <a:noFill/>
                  </a:tcPr>
                </a:tc>
                <a:extLst>
                  <a:ext uri="{0D108BD9-81ED-4DB2-BD59-A6C34878D82A}">
                    <a16:rowId xmlns:a16="http://schemas.microsoft.com/office/drawing/2014/main" val="10003"/>
                  </a:ext>
                </a:extLst>
              </a:tr>
              <a:tr h="320000">
                <a:tc>
                  <a:txBody>
                    <a:bodyPr/>
                    <a:lstStyle/>
                    <a:p>
                      <a:pPr algn="l">
                        <a:buNone/>
                      </a:pPr>
                      <a:r>
                        <a:rPr lang="en-US" sz="1100" dirty="0">
                          <a:solidFill>
                            <a:srgbClr val="111111"/>
                          </a:solidFill>
                          <a:latin typeface="Calibri"/>
                          <a:ea typeface="Calibri"/>
                          <a:cs typeface="Calibri"/>
                        </a:rPr>
                        <a:t>w/o diffusion denoiser (single-shot)</a:t>
                      </a:r>
                    </a:p>
                  </a:txBody>
                  <a:tcPr>
                    <a:solidFill>
                      <a:srgbClr val="F8FAFC"/>
                    </a:solidFill>
                  </a:tcPr>
                </a:tc>
                <a:tc>
                  <a:txBody>
                    <a:bodyPr/>
                    <a:lstStyle/>
                    <a:p>
                      <a:pPr algn="ctr">
                        <a:buNone/>
                      </a:pPr>
                      <a:r>
                        <a:rPr lang="en-US" sz="1100" dirty="0">
                          <a:solidFill>
                            <a:srgbClr val="111111"/>
                          </a:solidFill>
                          <a:latin typeface="Calibri"/>
                          <a:ea typeface="Calibri"/>
                          <a:cs typeface="Calibri"/>
                        </a:rPr>
                        <a:t>32.60</a:t>
                      </a:r>
                    </a:p>
                  </a:txBody>
                  <a:tcPr>
                    <a:solidFill>
                      <a:srgbClr val="F8FAFC"/>
                    </a:solidFill>
                  </a:tcPr>
                </a:tc>
                <a:tc>
                  <a:txBody>
                    <a:bodyPr/>
                    <a:lstStyle/>
                    <a:p>
                      <a:pPr algn="ctr">
                        <a:buNone/>
                      </a:pPr>
                      <a:r>
                        <a:rPr lang="en-US" sz="1100" dirty="0">
                          <a:solidFill>
                            <a:srgbClr val="111111"/>
                          </a:solidFill>
                          <a:latin typeface="Calibri"/>
                          <a:ea typeface="Calibri"/>
                          <a:cs typeface="Calibri"/>
                        </a:rPr>
                        <a:t>0.9310</a:t>
                      </a:r>
                    </a:p>
                  </a:txBody>
                  <a:tcPr>
                    <a:solidFill>
                      <a:srgbClr val="F8FAFC"/>
                    </a:solidFill>
                  </a:tcPr>
                </a:tc>
                <a:tc>
                  <a:txBody>
                    <a:bodyPr/>
                    <a:lstStyle/>
                    <a:p>
                      <a:pPr algn="ctr">
                        <a:buNone/>
                      </a:pPr>
                      <a:r>
                        <a:rPr lang="en-US" sz="1100" dirty="0">
                          <a:solidFill>
                            <a:srgbClr val="111111"/>
                          </a:solidFill>
                          <a:latin typeface="Calibri"/>
                          <a:ea typeface="Calibri"/>
                          <a:cs typeface="Calibri"/>
                        </a:rPr>
                        <a:t>3.60</a:t>
                      </a:r>
                    </a:p>
                  </a:txBody>
                  <a:tcPr>
                    <a:solidFill>
                      <a:srgbClr val="F8FAFC"/>
                    </a:solidFill>
                  </a:tcPr>
                </a:tc>
                <a:tc>
                  <a:txBody>
                    <a:bodyPr/>
                    <a:lstStyle/>
                    <a:p>
                      <a:pPr algn="ctr">
                        <a:buNone/>
                      </a:pPr>
                      <a:r>
                        <a:rPr lang="en-US" sz="1100" dirty="0">
                          <a:solidFill>
                            <a:srgbClr val="111111"/>
                          </a:solidFill>
                          <a:latin typeface="Calibri"/>
                          <a:ea typeface="Calibri"/>
                          <a:cs typeface="Calibri"/>
                        </a:rPr>
                        <a:t>0.01980</a:t>
                      </a:r>
                    </a:p>
                  </a:txBody>
                  <a:tcPr>
                    <a:solidFill>
                      <a:srgbClr val="F8FAFC"/>
                    </a:solidFill>
                  </a:tcPr>
                </a:tc>
                <a:tc>
                  <a:txBody>
                    <a:bodyPr/>
                    <a:lstStyle/>
                    <a:p>
                      <a:pPr algn="ctr">
                        <a:buNone/>
                      </a:pPr>
                      <a:r>
                        <a:rPr lang="en-US" sz="1100" dirty="0">
                          <a:solidFill>
                            <a:srgbClr val="111111"/>
                          </a:solidFill>
                          <a:latin typeface="Calibri"/>
                          <a:ea typeface="Calibri"/>
                          <a:cs typeface="Calibri"/>
                        </a:rPr>
                        <a:t>8.40</a:t>
                      </a:r>
                    </a:p>
                  </a:txBody>
                  <a:tcPr>
                    <a:solidFill>
                      <a:srgbClr val="F8FAFC"/>
                    </a:solidFill>
                  </a:tcPr>
                </a:tc>
                <a:tc>
                  <a:txBody>
                    <a:bodyPr/>
                    <a:lstStyle/>
                    <a:p>
                      <a:pPr algn="ctr">
                        <a:buNone/>
                      </a:pPr>
                      <a:r>
                        <a:rPr lang="en-US" sz="1100" dirty="0">
                          <a:solidFill>
                            <a:srgbClr val="111111"/>
                          </a:solidFill>
                          <a:latin typeface="Calibri"/>
                          <a:ea typeface="Calibri"/>
                          <a:cs typeface="Calibri"/>
                        </a:rPr>
                        <a:t>1.30</a:t>
                      </a:r>
                    </a:p>
                  </a:txBody>
                  <a:tcPr>
                    <a:solidFill>
                      <a:srgbClr val="F8FAFC"/>
                    </a:solidFill>
                  </a:tcPr>
                </a:tc>
                <a:extLst>
                  <a:ext uri="{0D108BD9-81ED-4DB2-BD59-A6C34878D82A}">
                    <a16:rowId xmlns:a16="http://schemas.microsoft.com/office/drawing/2014/main" val="10004"/>
                  </a:ext>
                </a:extLst>
              </a:tr>
              <a:tr h="320000">
                <a:tc>
                  <a:txBody>
                    <a:bodyPr/>
                    <a:lstStyle/>
                    <a:p>
                      <a:pPr algn="l">
                        <a:buNone/>
                      </a:pPr>
                      <a:r>
                        <a:rPr lang="en-US" sz="1100" dirty="0">
                          <a:solidFill>
                            <a:srgbClr val="111111"/>
                          </a:solidFill>
                          <a:latin typeface="Calibri"/>
                          <a:ea typeface="Calibri"/>
                          <a:cs typeface="Calibri"/>
                        </a:rPr>
                        <a:t>w/o causal graph (no causal loss)</a:t>
                      </a:r>
                    </a:p>
                  </a:txBody>
                  <a:tcPr>
                    <a:noFill/>
                  </a:tcPr>
                </a:tc>
                <a:tc>
                  <a:txBody>
                    <a:bodyPr/>
                    <a:lstStyle/>
                    <a:p>
                      <a:pPr algn="ctr">
                        <a:buNone/>
                      </a:pPr>
                      <a:r>
                        <a:rPr lang="en-US" sz="1100" dirty="0">
                          <a:solidFill>
                            <a:srgbClr val="111111"/>
                          </a:solidFill>
                          <a:latin typeface="Calibri"/>
                          <a:ea typeface="Calibri"/>
                          <a:cs typeface="Calibri"/>
                        </a:rPr>
                        <a:t>33.70</a:t>
                      </a:r>
                    </a:p>
                  </a:txBody>
                  <a:tcPr>
                    <a:noFill/>
                  </a:tcPr>
                </a:tc>
                <a:tc>
                  <a:txBody>
                    <a:bodyPr/>
                    <a:lstStyle/>
                    <a:p>
                      <a:pPr algn="ctr">
                        <a:buNone/>
                      </a:pPr>
                      <a:r>
                        <a:rPr lang="en-US" sz="1100" dirty="0">
                          <a:solidFill>
                            <a:srgbClr val="111111"/>
                          </a:solidFill>
                          <a:latin typeface="Calibri"/>
                          <a:ea typeface="Calibri"/>
                          <a:cs typeface="Calibri"/>
                        </a:rPr>
                        <a:t>0.9450</a:t>
                      </a:r>
                    </a:p>
                  </a:txBody>
                  <a:tcPr>
                    <a:noFill/>
                  </a:tcPr>
                </a:tc>
                <a:tc>
                  <a:txBody>
                    <a:bodyPr/>
                    <a:lstStyle/>
                    <a:p>
                      <a:pPr algn="ctr">
                        <a:buNone/>
                      </a:pPr>
                      <a:r>
                        <a:rPr lang="en-US" sz="1100" dirty="0">
                          <a:solidFill>
                            <a:srgbClr val="111111"/>
                          </a:solidFill>
                          <a:latin typeface="Calibri"/>
                          <a:ea typeface="Calibri"/>
                          <a:cs typeface="Calibri"/>
                        </a:rPr>
                        <a:t>3.20</a:t>
                      </a:r>
                    </a:p>
                  </a:txBody>
                  <a:tcPr>
                    <a:noFill/>
                  </a:tcPr>
                </a:tc>
                <a:tc>
                  <a:txBody>
                    <a:bodyPr/>
                    <a:lstStyle/>
                    <a:p>
                      <a:pPr algn="ctr">
                        <a:buNone/>
                      </a:pPr>
                      <a:r>
                        <a:rPr lang="en-US" sz="1100" dirty="0">
                          <a:solidFill>
                            <a:srgbClr val="111111"/>
                          </a:solidFill>
                          <a:latin typeface="Calibri"/>
                          <a:ea typeface="Calibri"/>
                          <a:cs typeface="Calibri"/>
                        </a:rPr>
                        <a:t>0.01700</a:t>
                      </a:r>
                    </a:p>
                  </a:txBody>
                  <a:tcPr>
                    <a:noFill/>
                  </a:tcPr>
                </a:tc>
                <a:tc>
                  <a:txBody>
                    <a:bodyPr/>
                    <a:lstStyle/>
                    <a:p>
                      <a:pPr algn="ctr">
                        <a:buNone/>
                      </a:pPr>
                      <a:r>
                        <a:rPr lang="en-US" sz="1100" dirty="0">
                          <a:solidFill>
                            <a:srgbClr val="111111"/>
                          </a:solidFill>
                          <a:latin typeface="Calibri"/>
                          <a:ea typeface="Calibri"/>
                          <a:cs typeface="Calibri"/>
                        </a:rPr>
                        <a:t>3.80</a:t>
                      </a:r>
                    </a:p>
                  </a:txBody>
                  <a:tcPr>
                    <a:noFill/>
                  </a:tcPr>
                </a:tc>
                <a:tc>
                  <a:txBody>
                    <a:bodyPr/>
                    <a:lstStyle/>
                    <a:p>
                      <a:pPr algn="ctr">
                        <a:buNone/>
                      </a:pPr>
                      <a:r>
                        <a:rPr lang="en-US" sz="1100" dirty="0">
                          <a:solidFill>
                            <a:srgbClr val="111111"/>
                          </a:solidFill>
                          <a:latin typeface="Calibri"/>
                          <a:ea typeface="Calibri"/>
                          <a:cs typeface="Calibri"/>
                        </a:rPr>
                        <a:t>1.43</a:t>
                      </a:r>
                    </a:p>
                  </a:txBody>
                  <a:tcPr>
                    <a:noFill/>
                  </a:tcPr>
                </a:tc>
                <a:extLst>
                  <a:ext uri="{0D108BD9-81ED-4DB2-BD59-A6C34878D82A}">
                    <a16:rowId xmlns:a16="http://schemas.microsoft.com/office/drawing/2014/main" val="10005"/>
                  </a:ext>
                </a:extLst>
              </a:tr>
              <a:tr h="320000">
                <a:tc>
                  <a:txBody>
                    <a:bodyPr/>
                    <a:lstStyle/>
                    <a:p>
                      <a:pPr algn="l">
                        <a:buNone/>
                      </a:pPr>
                      <a:r>
                        <a:rPr lang="en-US" sz="1100" dirty="0">
                          <a:solidFill>
                            <a:srgbClr val="111111"/>
                          </a:solidFill>
                          <a:latin typeface="Calibri"/>
                          <a:ea typeface="Calibri"/>
                          <a:cs typeface="Calibri"/>
                        </a:rPr>
                        <a:t>w/o spectral unmixer (no physics loss)</a:t>
                      </a:r>
                    </a:p>
                  </a:txBody>
                  <a:tcPr>
                    <a:solidFill>
                      <a:srgbClr val="F8FAFC"/>
                    </a:solidFill>
                  </a:tcPr>
                </a:tc>
                <a:tc>
                  <a:txBody>
                    <a:bodyPr/>
                    <a:lstStyle/>
                    <a:p>
                      <a:pPr algn="ctr">
                        <a:buNone/>
                      </a:pPr>
                      <a:r>
                        <a:rPr lang="en-US" sz="1100" dirty="0">
                          <a:solidFill>
                            <a:srgbClr val="111111"/>
                          </a:solidFill>
                          <a:latin typeface="Calibri"/>
                          <a:ea typeface="Calibri"/>
                          <a:cs typeface="Calibri"/>
                        </a:rPr>
                        <a:t>33.85</a:t>
                      </a:r>
                    </a:p>
                  </a:txBody>
                  <a:tcPr>
                    <a:solidFill>
                      <a:srgbClr val="F8FAFC"/>
                    </a:solidFill>
                  </a:tcPr>
                </a:tc>
                <a:tc>
                  <a:txBody>
                    <a:bodyPr/>
                    <a:lstStyle/>
                    <a:p>
                      <a:pPr algn="ctr">
                        <a:buNone/>
                      </a:pPr>
                      <a:r>
                        <a:rPr lang="en-US" sz="1100" dirty="0">
                          <a:solidFill>
                            <a:srgbClr val="111111"/>
                          </a:solidFill>
                          <a:latin typeface="Calibri"/>
                          <a:ea typeface="Calibri"/>
                          <a:cs typeface="Calibri"/>
                        </a:rPr>
                        <a:t>0.9460</a:t>
                      </a:r>
                    </a:p>
                  </a:txBody>
                  <a:tcPr>
                    <a:solidFill>
                      <a:srgbClr val="F8FAFC"/>
                    </a:solidFill>
                  </a:tcPr>
                </a:tc>
                <a:tc>
                  <a:txBody>
                    <a:bodyPr/>
                    <a:lstStyle/>
                    <a:p>
                      <a:pPr algn="ctr">
                        <a:buNone/>
                      </a:pPr>
                      <a:r>
                        <a:rPr lang="en-US" sz="1100" dirty="0">
                          <a:solidFill>
                            <a:srgbClr val="111111"/>
                          </a:solidFill>
                          <a:latin typeface="Calibri"/>
                          <a:ea typeface="Calibri"/>
                          <a:cs typeface="Calibri"/>
                        </a:rPr>
                        <a:t>3.15</a:t>
                      </a:r>
                    </a:p>
                  </a:txBody>
                  <a:tcPr>
                    <a:solidFill>
                      <a:srgbClr val="F8FAFC"/>
                    </a:solidFill>
                  </a:tcPr>
                </a:tc>
                <a:tc>
                  <a:txBody>
                    <a:bodyPr/>
                    <a:lstStyle/>
                    <a:p>
                      <a:pPr algn="ctr">
                        <a:buNone/>
                      </a:pPr>
                      <a:r>
                        <a:rPr lang="en-US" sz="1100" dirty="0">
                          <a:solidFill>
                            <a:srgbClr val="111111"/>
                          </a:solidFill>
                          <a:latin typeface="Calibri"/>
                          <a:ea typeface="Calibri"/>
                          <a:cs typeface="Calibri"/>
                        </a:rPr>
                        <a:t>0.01670</a:t>
                      </a:r>
                    </a:p>
                  </a:txBody>
                  <a:tcPr>
                    <a:solidFill>
                      <a:srgbClr val="F8FAFC"/>
                    </a:solidFill>
                  </a:tcPr>
                </a:tc>
                <a:tc>
                  <a:txBody>
                    <a:bodyPr/>
                    <a:lstStyle/>
                    <a:p>
                      <a:pPr algn="ctr">
                        <a:buNone/>
                      </a:pPr>
                      <a:r>
                        <a:rPr lang="en-US" sz="1100" dirty="0">
                          <a:solidFill>
                            <a:srgbClr val="111111"/>
                          </a:solidFill>
                          <a:latin typeface="Calibri"/>
                          <a:ea typeface="Calibri"/>
                          <a:cs typeface="Calibri"/>
                        </a:rPr>
                        <a:t>9.05</a:t>
                      </a:r>
                    </a:p>
                  </a:txBody>
                  <a:tcPr>
                    <a:solidFill>
                      <a:srgbClr val="F8FAFC"/>
                    </a:solidFill>
                  </a:tcPr>
                </a:tc>
                <a:tc>
                  <a:txBody>
                    <a:bodyPr/>
                    <a:lstStyle/>
                    <a:p>
                      <a:pPr algn="ctr">
                        <a:buNone/>
                      </a:pPr>
                      <a:r>
                        <a:rPr lang="en-US" sz="1100" dirty="0">
                          <a:solidFill>
                            <a:srgbClr val="111111"/>
                          </a:solidFill>
                          <a:latin typeface="Calibri"/>
                          <a:ea typeface="Calibri"/>
                          <a:cs typeface="Calibri"/>
                        </a:rPr>
                        <a:t>1.41</a:t>
                      </a:r>
                    </a:p>
                  </a:txBody>
                  <a:tcPr>
                    <a:solidFill>
                      <a:srgbClr val="F8FAFC"/>
                    </a:solidFill>
                  </a:tcPr>
                </a:tc>
                <a:extLst>
                  <a:ext uri="{0D108BD9-81ED-4DB2-BD59-A6C34878D82A}">
                    <a16:rowId xmlns:a16="http://schemas.microsoft.com/office/drawing/2014/main" val="10006"/>
                  </a:ext>
                </a:extLst>
              </a:tr>
            </a:tbl>
          </a:graphicData>
        </a:graphic>
      </p:graphicFrame>
      <p:sp>
        <p:nvSpPr>
          <p:cNvPr id="123" name="Shape 123"/>
          <p:cNvSpPr/>
          <p:nvPr/>
        </p:nvSpPr>
        <p:spPr>
          <a:xfrm>
            <a:off x="411480" y="3336000"/>
            <a:ext cx="2650000" cy="1520000"/>
          </a:xfrm>
          <a:prstGeom prst="roundRect">
            <a:avLst>
              <a:gd name="adj" fmla="val 6667"/>
            </a:avLst>
          </a:prstGeom>
          <a:solidFill>
            <a:srgbClr val="FFFFFF"/>
          </a:solidFill>
          <a:ln w="19050">
            <a:solidFill>
              <a:srgbClr val="DC2626"/>
            </a:solidFill>
            <a:prstDash val="solid"/>
          </a:ln>
          <a:effectLst>
            <a:outerShdw blurRad="101600" dist="25400" dir="2700000" algn="bl" rotWithShape="0">
              <a:srgbClr val="000000">
                <a:alpha val="10000"/>
              </a:srgbClr>
            </a:outerShdw>
          </a:effectLst>
        </p:spPr>
      </p:sp>
      <p:sp>
        <p:nvSpPr>
          <p:cNvPr id="124" name="Text 124"/>
          <p:cNvSpPr/>
          <p:nvPr/>
        </p:nvSpPr>
        <p:spPr>
          <a:xfrm>
            <a:off x="411480" y="3386000"/>
            <a:ext cx="2650000" cy="1420000"/>
          </a:xfrm>
          <a:prstGeom prst="rect">
            <a:avLst/>
          </a:prstGeom>
          <a:noFill/>
          <a:ln/>
        </p:spPr>
        <p:txBody>
          <a:bodyPr wrap="square" lIns="137160" tIns="91440" rIns="137160" bIns="45720" rtlCol="0" anchor="t"/>
          <a:lstStyle/>
          <a:p>
            <a:pPr marL="0" indent="0">
              <a:buNone/>
            </a:pPr>
            <a:r>
              <a:rPr lang="en-US" sz="1100" b="1" dirty="0" err="1">
                <a:solidFill>
                  <a:srgbClr val="DC2626"/>
                </a:solidFill>
                <a:latin typeface="Cambria"/>
                <a:ea typeface="Cambria"/>
                <a:cs typeface="Cambria"/>
              </a:rPr>
              <a:t>Upsampling</a:t>
            </a:r>
            <a:r>
              <a:rPr lang="en-US" sz="1100" b="1" dirty="0">
                <a:solidFill>
                  <a:srgbClr val="DC2626"/>
                </a:solidFill>
                <a:latin typeface="Cambria"/>
                <a:ea typeface="Cambria"/>
                <a:cs typeface="Cambria"/>
              </a:rPr>
              <a:t> + Diffusion Drive Fidelity</a:t>
            </a:r>
          </a:p>
          <a:p>
            <a:pPr marL="0" indent="0">
              <a:buNone/>
            </a:pPr>
            <a:r>
              <a:rPr lang="en-US" sz="1200" dirty="0">
                <a:solidFill>
                  <a:srgbClr val="111111"/>
                </a:solidFill>
                <a:latin typeface="Calibri"/>
                <a:ea typeface="Calibri"/>
                <a:cs typeface="Calibri"/>
              </a:rPr>
              <a:t>Removing either causes the largest drop in PSNR, SSIM, SAM and RMSE — these two stages are the primary drivers of reconstruction quality.</a:t>
            </a:r>
          </a:p>
        </p:txBody>
      </p:sp>
      <p:sp>
        <p:nvSpPr>
          <p:cNvPr id="125" name="Shape 125"/>
          <p:cNvSpPr/>
          <p:nvPr/>
        </p:nvSpPr>
        <p:spPr>
          <a:xfrm>
            <a:off x="3247000" y="3336000"/>
            <a:ext cx="2650000" cy="1520000"/>
          </a:xfrm>
          <a:prstGeom prst="roundRect">
            <a:avLst>
              <a:gd name="adj" fmla="val 6667"/>
            </a:avLst>
          </a:prstGeom>
          <a:solidFill>
            <a:srgbClr val="FFFFFF"/>
          </a:solidFill>
          <a:ln w="19050">
            <a:solidFill>
              <a:srgbClr val="2563EB"/>
            </a:solidFill>
            <a:prstDash val="solid"/>
          </a:ln>
          <a:effectLst>
            <a:outerShdw blurRad="101600" dist="25400" dir="2700000" algn="bl" rotWithShape="0">
              <a:srgbClr val="000000">
                <a:alpha val="10000"/>
              </a:srgbClr>
            </a:outerShdw>
          </a:effectLst>
        </p:spPr>
      </p:sp>
      <p:sp>
        <p:nvSpPr>
          <p:cNvPr id="126" name="Text 126"/>
          <p:cNvSpPr/>
          <p:nvPr/>
        </p:nvSpPr>
        <p:spPr>
          <a:xfrm>
            <a:off x="3247000" y="3386000"/>
            <a:ext cx="2650000" cy="1420000"/>
          </a:xfrm>
          <a:prstGeom prst="rect">
            <a:avLst/>
          </a:prstGeom>
          <a:noFill/>
          <a:ln/>
        </p:spPr>
        <p:txBody>
          <a:bodyPr wrap="square" lIns="137160" tIns="91440" rIns="137160" bIns="45720" rtlCol="0" anchor="t"/>
          <a:lstStyle/>
          <a:p>
            <a:pPr marL="0" indent="0">
              <a:buNone/>
            </a:pPr>
            <a:r>
              <a:rPr lang="en-US" sz="1100" b="1" dirty="0">
                <a:solidFill>
                  <a:srgbClr val="2563EB"/>
                </a:solidFill>
                <a:latin typeface="Cambria"/>
                <a:ea typeface="Cambria"/>
                <a:cs typeface="Cambria"/>
              </a:rPr>
              <a:t>Causal Graph = Explainability, Not Accuracy</a:t>
            </a:r>
          </a:p>
          <a:p>
            <a:pPr marL="0" indent="0">
              <a:buNone/>
            </a:pPr>
            <a:r>
              <a:rPr lang="en-US" sz="1200" dirty="0">
                <a:solidFill>
                  <a:srgbClr val="111111"/>
                </a:solidFill>
                <a:latin typeface="Calibri"/>
                <a:ea typeface="Calibri"/>
                <a:cs typeface="Calibri"/>
              </a:rPr>
              <a:t>PSNR barely moves (33.70 dB) without it, but faithfulness collapses from 9.20 to 3.80 — its job is exposing why, not improving fidelity.</a:t>
            </a:r>
          </a:p>
        </p:txBody>
      </p:sp>
      <p:sp>
        <p:nvSpPr>
          <p:cNvPr id="127" name="Shape 127"/>
          <p:cNvSpPr/>
          <p:nvPr/>
        </p:nvSpPr>
        <p:spPr>
          <a:xfrm>
            <a:off x="6082520" y="3346885"/>
            <a:ext cx="2835057" cy="1498230"/>
          </a:xfrm>
          <a:prstGeom prst="roundRect">
            <a:avLst>
              <a:gd name="adj" fmla="val 6667"/>
            </a:avLst>
          </a:prstGeom>
          <a:solidFill>
            <a:srgbClr val="FFFFFF"/>
          </a:solidFill>
          <a:ln w="19050">
            <a:solidFill>
              <a:srgbClr val="16A34A"/>
            </a:solidFill>
            <a:prstDash val="solid"/>
          </a:ln>
          <a:effectLst>
            <a:outerShdw blurRad="101600" dist="25400" dir="2700000" algn="bl" rotWithShape="0">
              <a:srgbClr val="000000">
                <a:alpha val="10000"/>
              </a:srgbClr>
            </a:outerShdw>
          </a:effectLst>
        </p:spPr>
      </p:sp>
      <p:sp>
        <p:nvSpPr>
          <p:cNvPr id="128" name="Text 128"/>
          <p:cNvSpPr/>
          <p:nvPr/>
        </p:nvSpPr>
        <p:spPr>
          <a:xfrm>
            <a:off x="6082520" y="3364229"/>
            <a:ext cx="2965685" cy="1463542"/>
          </a:xfrm>
          <a:prstGeom prst="rect">
            <a:avLst/>
          </a:prstGeom>
          <a:noFill/>
          <a:ln/>
        </p:spPr>
        <p:txBody>
          <a:bodyPr wrap="square" lIns="137160" tIns="91440" rIns="137160" bIns="45720" rtlCol="0" anchor="t"/>
          <a:lstStyle/>
          <a:p>
            <a:pPr marL="0" indent="0">
              <a:buNone/>
            </a:pPr>
            <a:r>
              <a:rPr lang="en-US" sz="1100" b="1" dirty="0">
                <a:solidFill>
                  <a:srgbClr val="16A34A"/>
                </a:solidFill>
                <a:latin typeface="Cambria"/>
                <a:ea typeface="Cambria"/>
                <a:cs typeface="Cambria"/>
              </a:rPr>
              <a:t>Adaptive Rank + </a:t>
            </a:r>
            <a:r>
              <a:rPr lang="en-US" sz="1100" b="1" dirty="0" err="1">
                <a:solidFill>
                  <a:srgbClr val="16A34A"/>
                </a:solidFill>
                <a:latin typeface="Cambria"/>
                <a:ea typeface="Cambria"/>
                <a:cs typeface="Cambria"/>
              </a:rPr>
              <a:t>Unmixer</a:t>
            </a:r>
            <a:r>
              <a:rPr lang="en-US" sz="1100" b="1" dirty="0">
                <a:solidFill>
                  <a:srgbClr val="16A34A"/>
                </a:solidFill>
                <a:latin typeface="Cambria"/>
                <a:ea typeface="Cambria"/>
                <a:cs typeface="Cambria"/>
              </a:rPr>
              <a:t>: Steady, Smaller Gains</a:t>
            </a:r>
          </a:p>
          <a:p>
            <a:pPr marL="0" indent="0">
              <a:buNone/>
            </a:pPr>
            <a:r>
              <a:rPr lang="en-US" sz="1200" dirty="0">
                <a:solidFill>
                  <a:srgbClr val="111111"/>
                </a:solidFill>
                <a:latin typeface="Calibri"/>
                <a:ea typeface="Calibri"/>
                <a:cs typeface="Calibri"/>
              </a:rPr>
              <a:t>Adaptive rank gives a consistent reconstruction boost. The </a:t>
            </a:r>
            <a:r>
              <a:rPr lang="en-US" sz="1200" dirty="0" err="1">
                <a:solidFill>
                  <a:srgbClr val="111111"/>
                </a:solidFill>
                <a:latin typeface="Calibri"/>
                <a:ea typeface="Calibri"/>
                <a:cs typeface="Calibri"/>
              </a:rPr>
              <a:t>unmixer</a:t>
            </a:r>
            <a:r>
              <a:rPr lang="en-US" sz="1200" dirty="0">
                <a:solidFill>
                  <a:srgbClr val="111111"/>
                </a:solidFill>
                <a:latin typeface="Calibri"/>
                <a:ea typeface="Calibri"/>
                <a:cs typeface="Calibri"/>
              </a:rPr>
              <a:t> barely affects PSNR/SSIM but still nudges faithfulness down (9.05), hinting at a weak shared-representation effect.</a:t>
            </a: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1">
    <p:bg>
      <p:bgPr>
        <a:solidFill>
          <a:srgbClr val="1A2E4A"/>
        </a:solidFill>
        <a:effectLst/>
      </p:bgPr>
    </p:bg>
    <p:spTree>
      <p:nvGrpSpPr>
        <p:cNvPr id="1" name=""/>
        <p:cNvGrpSpPr/>
        <p:nvPr/>
      </p:nvGrpSpPr>
      <p:grpSpPr>
        <a:xfrm>
          <a:off x="0" y="0"/>
          <a:ext cx="0" cy="0"/>
          <a:chOff x="0" y="0"/>
          <a:chExt cx="0" cy="0"/>
        </a:xfrm>
      </p:grpSpPr>
      <p:sp>
        <p:nvSpPr>
          <p:cNvPr id="2" name="Shape 0"/>
          <p:cNvSpPr/>
          <p:nvPr/>
        </p:nvSpPr>
        <p:spPr>
          <a:xfrm>
            <a:off x="-5443" y="2193469"/>
            <a:ext cx="9160328" cy="706484"/>
          </a:xfrm>
          <a:prstGeom prst="rect">
            <a:avLst/>
          </a:prstGeom>
          <a:solidFill>
            <a:schemeClr val="bg1"/>
          </a:solidFill>
          <a:ln w="12700">
            <a:solidFill>
              <a:srgbClr val="1A2E4A"/>
            </a:solidFill>
            <a:prstDash val="solid"/>
          </a:ln>
        </p:spPr>
      </p:sp>
      <p:sp>
        <p:nvSpPr>
          <p:cNvPr id="3" name="Text 1"/>
          <p:cNvSpPr/>
          <p:nvPr/>
        </p:nvSpPr>
        <p:spPr>
          <a:xfrm>
            <a:off x="457200" y="2057400"/>
            <a:ext cx="8229600" cy="1005840"/>
          </a:xfrm>
          <a:prstGeom prst="rect">
            <a:avLst/>
          </a:prstGeom>
          <a:noFill/>
          <a:ln/>
        </p:spPr>
        <p:txBody>
          <a:bodyPr wrap="square" lIns="91440" tIns="45720" rIns="91440" bIns="45720" rtlCol="0" anchor="ctr"/>
          <a:lstStyle/>
          <a:p>
            <a:pPr marL="0" indent="0" algn="ctr">
              <a:buNone/>
            </a:pPr>
            <a:r>
              <a:rPr lang="en-US" sz="5400" b="1">
                <a:solidFill>
                  <a:schemeClr val="accent1">
                    <a:lumMod val="49000"/>
                  </a:schemeClr>
                </a:solidFill>
                <a:latin typeface="Cambria"/>
                <a:ea typeface="Cambria"/>
                <a:cs typeface="Cambria" pitchFamily="34" charset="-120"/>
              </a:rPr>
              <a:t>Thank You!</a:t>
            </a:r>
            <a:endParaRPr lang="en-US" sz="5400">
              <a:solidFill>
                <a:schemeClr val="accent1">
                  <a:lumMod val="49000"/>
                </a:schemeClr>
              </a:solidFill>
              <a:ea typeface="Calibri"/>
              <a:cs typeface="Calibri"/>
            </a:endParaRPr>
          </a:p>
        </p:txBody>
      </p:sp>
      <p:sp>
        <p:nvSpPr>
          <p:cNvPr id="5" name="Text 3"/>
          <p:cNvSpPr/>
          <p:nvPr/>
        </p:nvSpPr>
        <p:spPr>
          <a:xfrm>
            <a:off x="5834743" y="3670663"/>
            <a:ext cx="3657600" cy="914400"/>
          </a:xfrm>
          <a:prstGeom prst="rect">
            <a:avLst/>
          </a:prstGeom>
          <a:noFill/>
          <a:ln/>
        </p:spPr>
        <p:txBody>
          <a:bodyPr wrap="square" lIns="91440" tIns="45720" rIns="91440" bIns="45720" rtlCol="0" anchor="ctr"/>
          <a:lstStyle/>
          <a:p>
            <a:pPr marL="0" indent="0" algn="ctr">
              <a:buNone/>
            </a:pPr>
            <a:r>
              <a:rPr lang="en-US" sz="1800" b="1" dirty="0">
                <a:solidFill>
                  <a:schemeClr val="bg1"/>
                </a:solidFill>
                <a:latin typeface="Cambria"/>
                <a:ea typeface="Cambria"/>
                <a:cs typeface="Cambria" pitchFamily="34" charset="-120"/>
              </a:rPr>
              <a:t>P. Venkata Sriharika</a:t>
            </a:r>
            <a:r>
              <a:rPr lang="en-US" sz="1800" b="1" dirty="0">
                <a:solidFill>
                  <a:srgbClr val="1A2E4A"/>
                </a:solidFill>
                <a:latin typeface="Cambria"/>
                <a:ea typeface="Cambria"/>
                <a:cs typeface="Cambria" pitchFamily="34" charset="-120"/>
              </a:rPr>
              <a:t>
</a:t>
            </a:r>
            <a:r>
              <a:rPr lang="en-US" sz="1200" dirty="0">
                <a:solidFill>
                  <a:schemeClr val="accent5">
                    <a:lumMod val="40000"/>
                    <a:lumOff val="60000"/>
                  </a:schemeClr>
                </a:solidFill>
                <a:latin typeface="Cambria"/>
                <a:ea typeface="Cambria"/>
                <a:cs typeface="Cambria" pitchFamily="34" charset="-120"/>
              </a:rPr>
              <a:t>Research Intern @ IIIT </a:t>
            </a:r>
            <a:r>
              <a:rPr lang="en-US" sz="1200" dirty="0" err="1">
                <a:solidFill>
                  <a:schemeClr val="accent5">
                    <a:lumMod val="40000"/>
                    <a:lumOff val="60000"/>
                  </a:schemeClr>
                </a:solidFill>
                <a:latin typeface="Cambria"/>
                <a:ea typeface="Cambria"/>
                <a:cs typeface="Cambria" pitchFamily="34" charset="-120"/>
              </a:rPr>
              <a:t>Sricity</a:t>
            </a:r>
            <a:endParaRPr lang="en-US" sz="1800" dirty="0" err="1">
              <a:solidFill>
                <a:schemeClr val="accent5">
                  <a:lumMod val="40000"/>
                  <a:lumOff val="60000"/>
                </a:schemeClr>
              </a:solidFill>
              <a:latin typeface="Cambria"/>
              <a:ea typeface="Cambria"/>
            </a:endParaRP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16</Slides>
  <Notes>11</Notes>
  <HiddenSlides>0</HiddenSlides>
  <MMClips>0</MMClips>
  <ScaleCrop>false</ScaleCrop>
  <HeadingPairs>
    <vt:vector size="4" baseType="variant">
      <vt:variant>
        <vt:lpstr>Theme</vt:lpstr>
      </vt:variant>
      <vt:variant>
        <vt:i4>1</vt:i4>
      </vt:variant>
      <vt:variant>
        <vt:lpstr>Slide Titles</vt:lpstr>
      </vt:variant>
      <vt:variant>
        <vt:i4>16</vt:i4>
      </vt:variant>
    </vt:vector>
  </HeadingPairs>
  <TitlesOfParts>
    <vt:vector size="17" baseType="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KAN-DiffCausal</dc:title>
  <dc:subject>PptxGenJS Presentation</dc:subject>
  <dc:creator>P. Venkata Sriharika</dc:creator>
  <cp:lastModifiedBy>P. Venkata Sriharika</cp:lastModifiedBy>
  <cp:revision>679</cp:revision>
  <dcterms:created xsi:type="dcterms:W3CDTF">2026-06-29T05:09:30Z</dcterms:created>
  <dcterms:modified xsi:type="dcterms:W3CDTF">2026-07-05T16:06:23Z</dcterms:modified>
</cp:coreProperties>
</file>